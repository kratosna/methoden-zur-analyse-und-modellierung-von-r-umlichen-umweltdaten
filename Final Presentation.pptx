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51" r:id="rId2"/>
  </p:sldMasterIdLst>
  <p:notesMasterIdLst>
    <p:notesMasterId r:id="rId27"/>
  </p:notesMasterIdLst>
  <p:sldIdLst>
    <p:sldId id="256" r:id="rId3"/>
    <p:sldId id="257" r:id="rId4"/>
    <p:sldId id="258" r:id="rId5"/>
    <p:sldId id="259" r:id="rId6"/>
    <p:sldId id="260" r:id="rId7"/>
    <p:sldId id="261" r:id="rId8"/>
    <p:sldId id="262" r:id="rId9"/>
    <p:sldId id="263" r:id="rId10"/>
    <p:sldId id="264" r:id="rId11"/>
    <p:sldId id="265" r:id="rId12"/>
    <p:sldId id="266" r:id="rId13"/>
    <p:sldId id="267" r:id="rId14"/>
    <p:sldId id="268" r:id="rId15"/>
    <p:sldId id="269" r:id="rId16"/>
    <p:sldId id="270" r:id="rId17"/>
    <p:sldId id="271" r:id="rId18"/>
    <p:sldId id="272" r:id="rId19"/>
    <p:sldId id="273" r:id="rId20"/>
    <p:sldId id="274" r:id="rId21"/>
    <p:sldId id="275" r:id="rId22"/>
    <p:sldId id="276" r:id="rId23"/>
    <p:sldId id="277" r:id="rId24"/>
    <p:sldId id="278" r:id="rId25"/>
    <p:sldId id="279" r:id="rId26"/>
  </p:sldIdLst>
  <p:sldSz cx="12192000" cy="6858000"/>
  <p:notesSz cx="7559675" cy="10691813"/>
  <p:defaultTextStyle>
    <a:defPPr>
      <a:defRPr lang="en-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Phần Mặc định" id="{4BAE382E-F75E-472B-AA87-91EDF6857DCC}">
          <p14:sldIdLst>
            <p14:sldId id="256"/>
            <p14:sldId id="257"/>
            <p14:sldId id="258"/>
            <p14:sldId id="259"/>
            <p14:sldId id="260"/>
            <p14:sldId id="261"/>
            <p14:sldId id="262"/>
            <p14:sldId id="263"/>
            <p14:sldId id="264"/>
            <p14:sldId id="265"/>
            <p14:sldId id="266"/>
            <p14:sldId id="267"/>
            <p14:sldId id="268"/>
            <p14:sldId id="269"/>
            <p14:sldId id="270"/>
            <p14:sldId id="271"/>
            <p14:sldId id="272"/>
            <p14:sldId id="273"/>
            <p14:sldId id="274"/>
            <p14:sldId id="275"/>
            <p14:sldId id="276"/>
            <p14:sldId id="277"/>
            <p14:sldId id="278"/>
            <p14:sldId id="279"/>
          </p14:sldIdLst>
        </p14:section>
        <p14:section name="Mục Chưa có tên" id="{30B08DE3-47E1-492D-9ACC-A49DB9BA8D6B}">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68381" autoAdjust="0"/>
  </p:normalViewPr>
  <p:slideViewPr>
    <p:cSldViewPr snapToGrid="0">
      <p:cViewPr varScale="1">
        <p:scale>
          <a:sx n="75" d="100"/>
          <a:sy n="75" d="100"/>
        </p:scale>
        <p:origin x="1914" y="7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 Type="http://schemas.openxmlformats.org/officeDocument/2006/relationships/slide" Target="slides/slide1.xml"/><Relationship Id="rId21" Type="http://schemas.openxmlformats.org/officeDocument/2006/relationships/slide" Target="slides/slide19.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presProps" Target="presProps.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tableStyles" Target="tableStyle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notesMaster" Target="notesMasters/notesMaster1.xml"/><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8" name="PlaceHolder 1"/>
          <p:cNvSpPr>
            <a:spLocks noGrp="1" noRot="1" noChangeAspect="1"/>
          </p:cNvSpPr>
          <p:nvPr>
            <p:ph type="sldImg"/>
          </p:nvPr>
        </p:nvSpPr>
        <p:spPr>
          <a:xfrm>
            <a:off x="216000" y="812520"/>
            <a:ext cx="7127280" cy="4008960"/>
          </a:xfrm>
          <a:prstGeom prst="rect">
            <a:avLst/>
          </a:prstGeom>
          <a:noFill/>
          <a:ln w="0">
            <a:noFill/>
          </a:ln>
        </p:spPr>
        <p:txBody>
          <a:bodyPr lIns="0" tIns="0" rIns="0" bIns="0" anchor="ctr">
            <a:noAutofit/>
          </a:bodyPr>
          <a:lstStyle/>
          <a:p>
            <a:r>
              <a:rPr lang="de-DE" sz="1800" b="0" u="none" strike="noStrike">
                <a:solidFill>
                  <a:schemeClr val="dk1"/>
                </a:solidFill>
                <a:effectLst/>
                <a:uFillTx/>
                <a:latin typeface="Calibri"/>
              </a:rPr>
              <a:t>Folie mittels Klicken verschieben</a:t>
            </a:r>
          </a:p>
        </p:txBody>
      </p:sp>
      <p:sp>
        <p:nvSpPr>
          <p:cNvPr id="9" name="PlaceHolder 2"/>
          <p:cNvSpPr>
            <a:spLocks noGrp="1"/>
          </p:cNvSpPr>
          <p:nvPr>
            <p:ph type="body"/>
          </p:nvPr>
        </p:nvSpPr>
        <p:spPr>
          <a:xfrm>
            <a:off x="756000" y="5078520"/>
            <a:ext cx="6047640" cy="4811040"/>
          </a:xfrm>
          <a:prstGeom prst="rect">
            <a:avLst/>
          </a:prstGeom>
          <a:noFill/>
          <a:ln w="0">
            <a:noFill/>
          </a:ln>
        </p:spPr>
        <p:txBody>
          <a:bodyPr lIns="0" tIns="0" rIns="0" bIns="0" anchor="t">
            <a:noAutofit/>
          </a:bodyPr>
          <a:lstStyle/>
          <a:p>
            <a:pPr indent="0" algn="l">
              <a:buNone/>
            </a:pPr>
            <a:r>
              <a:rPr lang="de-DE" sz="2000" b="0" u="none" strike="noStrike">
                <a:solidFill>
                  <a:srgbClr val="000000"/>
                </a:solidFill>
                <a:effectLst/>
                <a:uFillTx/>
                <a:latin typeface="Arial"/>
              </a:rPr>
              <a:t>Format der Notizen mittels Klicken bearbeiten</a:t>
            </a:r>
          </a:p>
        </p:txBody>
      </p:sp>
      <p:sp>
        <p:nvSpPr>
          <p:cNvPr id="10" name="PlaceHolder 3"/>
          <p:cNvSpPr>
            <a:spLocks noGrp="1"/>
          </p:cNvSpPr>
          <p:nvPr>
            <p:ph type="hdr"/>
          </p:nvPr>
        </p:nvSpPr>
        <p:spPr>
          <a:xfrm>
            <a:off x="0" y="0"/>
            <a:ext cx="3280680" cy="534240"/>
          </a:xfrm>
          <a:prstGeom prst="rect">
            <a:avLst/>
          </a:prstGeom>
          <a:noFill/>
          <a:ln w="0">
            <a:noFill/>
          </a:ln>
        </p:spPr>
        <p:txBody>
          <a:bodyPr lIns="0" tIns="0" rIns="0" bIns="0" anchor="t">
            <a:noAutofit/>
          </a:bodyPr>
          <a:lstStyle/>
          <a:p>
            <a:pPr indent="0" algn="l">
              <a:buNone/>
            </a:pPr>
            <a:r>
              <a:rPr lang="de-DE" sz="1400" b="0" u="none" strike="noStrike">
                <a:solidFill>
                  <a:srgbClr val="000000"/>
                </a:solidFill>
                <a:effectLst/>
                <a:uFillTx/>
                <a:latin typeface="Times New Roman"/>
              </a:rPr>
              <a:t> </a:t>
            </a:r>
          </a:p>
        </p:txBody>
      </p:sp>
      <p:sp>
        <p:nvSpPr>
          <p:cNvPr id="11" name="PlaceHolder 4"/>
          <p:cNvSpPr>
            <a:spLocks noGrp="1"/>
          </p:cNvSpPr>
          <p:nvPr>
            <p:ph type="dt" idx="1"/>
          </p:nvPr>
        </p:nvSpPr>
        <p:spPr>
          <a:xfrm>
            <a:off x="4278960" y="0"/>
            <a:ext cx="3280680" cy="534240"/>
          </a:xfrm>
          <a:prstGeom prst="rect">
            <a:avLst/>
          </a:prstGeom>
          <a:noFill/>
          <a:ln w="0">
            <a:noFill/>
          </a:ln>
        </p:spPr>
        <p:txBody>
          <a:bodyPr lIns="0" tIns="0" rIns="0" bIns="0" anchor="t">
            <a:noAutofit/>
          </a:bodyPr>
          <a:lstStyle>
            <a:lvl1pPr indent="0" algn="r">
              <a:buNone/>
              <a:defRPr lang="de-DE" sz="1400" b="0" u="none" strike="noStrike">
                <a:solidFill>
                  <a:srgbClr val="000000"/>
                </a:solidFill>
                <a:effectLst/>
                <a:uFillTx/>
                <a:latin typeface="Times New Roman"/>
              </a:defRPr>
            </a:lvl1pPr>
          </a:lstStyle>
          <a:p>
            <a:pPr indent="0" algn="r">
              <a:buNone/>
            </a:pPr>
            <a:r>
              <a:rPr lang="de-DE" sz="1400" b="0" u="none" strike="noStrike">
                <a:solidFill>
                  <a:srgbClr val="000000"/>
                </a:solidFill>
                <a:effectLst/>
                <a:uFillTx/>
                <a:latin typeface="Times New Roman"/>
              </a:rPr>
              <a:t> </a:t>
            </a:r>
          </a:p>
        </p:txBody>
      </p:sp>
      <p:sp>
        <p:nvSpPr>
          <p:cNvPr id="12" name="PlaceHolder 5"/>
          <p:cNvSpPr>
            <a:spLocks noGrp="1"/>
          </p:cNvSpPr>
          <p:nvPr>
            <p:ph type="ftr" idx="2"/>
          </p:nvPr>
        </p:nvSpPr>
        <p:spPr>
          <a:xfrm>
            <a:off x="0" y="10157400"/>
            <a:ext cx="3280680" cy="534240"/>
          </a:xfrm>
          <a:prstGeom prst="rect">
            <a:avLst/>
          </a:prstGeom>
          <a:noFill/>
          <a:ln w="0">
            <a:noFill/>
          </a:ln>
        </p:spPr>
        <p:txBody>
          <a:bodyPr lIns="0" tIns="0" rIns="0" bIns="0" anchor="b">
            <a:noAutofit/>
          </a:bodyPr>
          <a:lstStyle>
            <a:lvl1pPr indent="0" algn="l">
              <a:buNone/>
              <a:defRPr lang="de-DE" sz="1400" b="0" u="none" strike="noStrike">
                <a:solidFill>
                  <a:srgbClr val="000000"/>
                </a:solidFill>
                <a:effectLst/>
                <a:uFillTx/>
                <a:latin typeface="Times New Roman"/>
              </a:defRPr>
            </a:lvl1pPr>
          </a:lstStyle>
          <a:p>
            <a:pPr indent="0" algn="l">
              <a:buNone/>
            </a:pPr>
            <a:r>
              <a:rPr lang="de-DE" sz="1400" b="0" u="none" strike="noStrike">
                <a:solidFill>
                  <a:srgbClr val="000000"/>
                </a:solidFill>
                <a:effectLst/>
                <a:uFillTx/>
                <a:latin typeface="Times New Roman"/>
              </a:rPr>
              <a:t> </a:t>
            </a:r>
          </a:p>
        </p:txBody>
      </p:sp>
      <p:sp>
        <p:nvSpPr>
          <p:cNvPr id="13" name="PlaceHolder 6"/>
          <p:cNvSpPr>
            <a:spLocks noGrp="1"/>
          </p:cNvSpPr>
          <p:nvPr>
            <p:ph type="sldNum" idx="3"/>
          </p:nvPr>
        </p:nvSpPr>
        <p:spPr>
          <a:xfrm>
            <a:off x="4278960" y="10157400"/>
            <a:ext cx="3280680" cy="534240"/>
          </a:xfrm>
          <a:prstGeom prst="rect">
            <a:avLst/>
          </a:prstGeom>
          <a:noFill/>
          <a:ln w="0">
            <a:noFill/>
          </a:ln>
        </p:spPr>
        <p:txBody>
          <a:bodyPr lIns="0" tIns="0" rIns="0" bIns="0" anchor="b">
            <a:noAutofit/>
          </a:bodyPr>
          <a:lstStyle>
            <a:lvl1pPr indent="0" algn="r">
              <a:buNone/>
              <a:defRPr lang="de-DE" sz="1400" b="0" u="none" strike="noStrike">
                <a:solidFill>
                  <a:srgbClr val="000000"/>
                </a:solidFill>
                <a:effectLst/>
                <a:uFillTx/>
                <a:latin typeface="Times New Roman"/>
              </a:defRPr>
            </a:lvl1pPr>
          </a:lstStyle>
          <a:p>
            <a:pPr indent="0" algn="r">
              <a:buNone/>
            </a:pPr>
            <a:fld id="{E87B0659-435C-4427-AADE-9408F9403AED}" type="slidenum">
              <a:rPr lang="de-DE" sz="1400" b="0" u="none" strike="noStrike">
                <a:solidFill>
                  <a:srgbClr val="000000"/>
                </a:solidFill>
                <a:effectLst/>
                <a:uFillTx/>
                <a:latin typeface="Times New Roman"/>
              </a:rPr>
              <a:t>‹Nr.›</a:t>
            </a:fld>
            <a:endParaRPr lang="de-DE" sz="1400" b="0" u="none" strike="noStrike">
              <a:solidFill>
                <a:srgbClr val="000000"/>
              </a:solidFill>
              <a:effectLst/>
              <a:uFillTx/>
              <a:latin typeface="Times New Roman"/>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4" name="PlaceHolder 1"/>
          <p:cNvSpPr>
            <a:spLocks noGrp="1" noRot="1" noChangeAspect="1"/>
          </p:cNvSpPr>
          <p:nvPr>
            <p:ph type="sldImg"/>
          </p:nvPr>
        </p:nvSpPr>
        <p:spPr>
          <a:xfrm>
            <a:off x="0" y="0"/>
            <a:ext cx="0" cy="0"/>
          </a:xfrm>
          <a:prstGeom prst="rect">
            <a:avLst/>
          </a:prstGeom>
          <a:ln w="0">
            <a:noFill/>
          </a:ln>
        </p:spPr>
      </p:sp>
      <p:sp>
        <p:nvSpPr>
          <p:cNvPr id="255" name="PlaceHolder 2"/>
          <p:cNvSpPr>
            <a:spLocks noGrp="1"/>
          </p:cNvSpPr>
          <p:nvPr>
            <p:ph type="body"/>
          </p:nvPr>
        </p:nvSpPr>
        <p:spPr>
          <a:xfrm>
            <a:off x="0" y="0"/>
            <a:ext cx="360" cy="360"/>
          </a:xfrm>
          <a:prstGeom prst="rect">
            <a:avLst/>
          </a:prstGeom>
          <a:noFill/>
          <a:ln w="0">
            <a:noFill/>
          </a:ln>
        </p:spPr>
        <p:txBody>
          <a:bodyPr lIns="0" tIns="-44640" rIns="0" bIns="-44640" anchor="t">
            <a:noAutofit/>
          </a:bodyPr>
          <a:lstStyle/>
          <a:p>
            <a:pPr indent="0" algn="l">
              <a:buNone/>
            </a:pPr>
            <a:r>
              <a:rPr lang="de-DE" sz="1800" dirty="0" err="1"/>
              <a:t>Our</a:t>
            </a:r>
            <a:r>
              <a:rPr lang="de-DE" sz="1800" dirty="0"/>
              <a:t> </a:t>
            </a:r>
            <a:r>
              <a:rPr lang="de-DE" sz="1800" dirty="0" err="1"/>
              <a:t>project</a:t>
            </a:r>
            <a:r>
              <a:rPr lang="de-DE" sz="1800" dirty="0"/>
              <a:t> was to find </a:t>
            </a:r>
            <a:r>
              <a:rPr lang="de-DE" sz="1800" dirty="0" err="1"/>
              <a:t>suitable</a:t>
            </a:r>
            <a:r>
              <a:rPr lang="de-DE" sz="1800" dirty="0"/>
              <a:t> </a:t>
            </a:r>
            <a:r>
              <a:rPr lang="de-DE" sz="1800" dirty="0" err="1"/>
              <a:t>areas</a:t>
            </a:r>
            <a:r>
              <a:rPr lang="de-DE" sz="1800" dirty="0"/>
              <a:t> for wind </a:t>
            </a:r>
            <a:r>
              <a:rPr lang="de-DE" sz="1800" dirty="0" err="1"/>
              <a:t>turbines</a:t>
            </a:r>
            <a:r>
              <a:rPr lang="de-DE" sz="1800" dirty="0"/>
              <a:t> west of </a:t>
            </a:r>
            <a:r>
              <a:rPr lang="de-DE" sz="1800" dirty="0" err="1"/>
              <a:t>Hanover</a:t>
            </a:r>
            <a:r>
              <a:rPr lang="de-DE" sz="1800" dirty="0"/>
              <a:t>. </a:t>
            </a:r>
            <a:r>
              <a:rPr lang="de-DE" sz="1800" dirty="0" err="1"/>
              <a:t>We</a:t>
            </a:r>
            <a:r>
              <a:rPr lang="de-DE" sz="1800" dirty="0"/>
              <a:t> </a:t>
            </a:r>
            <a:r>
              <a:rPr lang="de-DE" sz="1800" dirty="0" err="1"/>
              <a:t>split</a:t>
            </a:r>
            <a:r>
              <a:rPr lang="de-DE" sz="1800" dirty="0"/>
              <a:t> it </a:t>
            </a:r>
            <a:r>
              <a:rPr lang="de-DE" sz="1800" dirty="0" err="1"/>
              <a:t>into</a:t>
            </a:r>
            <a:r>
              <a:rPr lang="de-DE" sz="1800" dirty="0"/>
              <a:t> </a:t>
            </a:r>
            <a:r>
              <a:rPr lang="de-DE" sz="1800" dirty="0" err="1"/>
              <a:t>three</a:t>
            </a:r>
            <a:r>
              <a:rPr lang="de-DE" sz="1800" dirty="0"/>
              <a:t> </a:t>
            </a:r>
            <a:r>
              <a:rPr lang="de-DE" sz="1800" dirty="0" err="1"/>
              <a:t>stages</a:t>
            </a:r>
            <a:r>
              <a:rPr lang="de-DE" sz="1800" dirty="0"/>
              <a:t>, and </a:t>
            </a:r>
            <a:r>
              <a:rPr lang="de-DE" sz="1800" dirty="0" err="1"/>
              <a:t>mine</a:t>
            </a:r>
            <a:r>
              <a:rPr lang="de-DE" sz="1800" dirty="0"/>
              <a:t> was the </a:t>
            </a:r>
            <a:r>
              <a:rPr lang="de-DE" sz="1800" dirty="0" err="1"/>
              <a:t>first</a:t>
            </a:r>
            <a:r>
              <a:rPr lang="de-DE" sz="1800" dirty="0"/>
              <a:t> — </a:t>
            </a:r>
            <a:r>
              <a:rPr lang="de-DE" sz="1800" dirty="0" err="1"/>
              <a:t>preparing</a:t>
            </a:r>
            <a:r>
              <a:rPr lang="de-DE" sz="1800" dirty="0"/>
              <a:t> all the </a:t>
            </a:r>
            <a:r>
              <a:rPr lang="de-DE" sz="1800" dirty="0" err="1"/>
              <a:t>data</a:t>
            </a:r>
            <a:r>
              <a:rPr lang="de-DE" sz="1800" dirty="0"/>
              <a:t> the </a:t>
            </a:r>
            <a:r>
              <a:rPr lang="de-DE" sz="1800" dirty="0" err="1"/>
              <a:t>analysis</a:t>
            </a:r>
            <a:r>
              <a:rPr lang="de-DE" sz="1800" dirty="0"/>
              <a:t> </a:t>
            </a:r>
            <a:r>
              <a:rPr lang="de-DE" sz="1800" dirty="0" err="1"/>
              <a:t>runs</a:t>
            </a:r>
            <a:r>
              <a:rPr lang="de-DE" sz="1800" dirty="0"/>
              <a:t> on. So </a:t>
            </a:r>
            <a:r>
              <a:rPr lang="de-DE" sz="1800" dirty="0" err="1"/>
              <a:t>I'll</a:t>
            </a:r>
            <a:r>
              <a:rPr lang="de-DE" sz="1800" dirty="0"/>
              <a:t> </a:t>
            </a:r>
            <a:r>
              <a:rPr lang="de-DE" sz="1800" dirty="0" err="1"/>
              <a:t>cover</a:t>
            </a:r>
            <a:r>
              <a:rPr lang="de-DE" sz="1800" dirty="0"/>
              <a:t> the </a:t>
            </a:r>
            <a:r>
              <a:rPr lang="de-DE" sz="1800" dirty="0" err="1"/>
              <a:t>setup</a:t>
            </a:r>
            <a:r>
              <a:rPr lang="de-DE" sz="1800" dirty="0"/>
              <a:t>, the </a:t>
            </a:r>
            <a:r>
              <a:rPr lang="de-DE" sz="1800" dirty="0" err="1"/>
              <a:t>georeferencing</a:t>
            </a:r>
            <a:r>
              <a:rPr lang="de-DE" sz="1800" dirty="0"/>
              <a:t>, </a:t>
            </a:r>
            <a:r>
              <a:rPr lang="de-DE" sz="1800" dirty="0" err="1"/>
              <a:t>digitizing</a:t>
            </a:r>
            <a:r>
              <a:rPr lang="de-DE" sz="1800" dirty="0"/>
              <a:t> the </a:t>
            </a:r>
            <a:r>
              <a:rPr lang="de-DE" sz="1800" dirty="0" err="1"/>
              <a:t>river</a:t>
            </a:r>
            <a:r>
              <a:rPr lang="de-DE" sz="1800" dirty="0"/>
              <a:t> </a:t>
            </a:r>
            <a:r>
              <a:rPr lang="de-DE" sz="1800" dirty="0" err="1"/>
              <a:t>oxbows</a:t>
            </a:r>
            <a:r>
              <a:rPr lang="de-DE" sz="1800" dirty="0"/>
              <a:t>, and the </a:t>
            </a:r>
            <a:r>
              <a:rPr lang="de-DE" sz="1800" dirty="0" err="1"/>
              <a:t>first</a:t>
            </a:r>
            <a:r>
              <a:rPr lang="de-DE" sz="1800" dirty="0"/>
              <a:t> </a:t>
            </a:r>
            <a:r>
              <a:rPr lang="de-DE" sz="1800" dirty="0" err="1"/>
              <a:t>map</a:t>
            </a:r>
            <a:r>
              <a:rPr lang="de-DE" sz="1800" dirty="0"/>
              <a:t>, and </a:t>
            </a:r>
            <a:r>
              <a:rPr lang="de-DE" sz="1800" dirty="0" err="1"/>
              <a:t>then</a:t>
            </a:r>
            <a:r>
              <a:rPr lang="de-DE" sz="1800" dirty="0"/>
              <a:t> </a:t>
            </a:r>
            <a:r>
              <a:rPr lang="de-DE" sz="1800" dirty="0" err="1"/>
              <a:t>hand</a:t>
            </a:r>
            <a:r>
              <a:rPr lang="de-DE" sz="1800" dirty="0"/>
              <a:t> </a:t>
            </a:r>
            <a:r>
              <a:rPr lang="de-DE" sz="1800" dirty="0" err="1"/>
              <a:t>over</a:t>
            </a:r>
            <a:r>
              <a:rPr lang="de-DE" sz="1800" dirty="0"/>
              <a:t> to Khalid and Tai le for the </a:t>
            </a:r>
            <a:r>
              <a:rPr lang="de-DE" sz="1800" dirty="0" err="1"/>
              <a:t>buffers</a:t>
            </a:r>
            <a:r>
              <a:rPr lang="de-DE" sz="1800" dirty="0"/>
              <a:t> and the final </a:t>
            </a:r>
            <a:r>
              <a:rPr lang="de-DE" sz="1800" dirty="0" err="1"/>
              <a:t>result</a:t>
            </a:r>
            <a:r>
              <a:rPr lang="de-DE" sz="1800" dirty="0"/>
              <a:t>.</a:t>
            </a:r>
            <a:endParaRPr lang="de-DE" sz="1800" b="0" u="none" strike="noStrike" dirty="0">
              <a:solidFill>
                <a:srgbClr val="000000"/>
              </a:solidFill>
              <a:effectLst/>
              <a:uFillTx/>
              <a:latin typeface="Arial"/>
            </a:endParaRPr>
          </a:p>
        </p:txBody>
      </p:sp>
      <p:sp>
        <p:nvSpPr>
          <p:cNvPr id="256" name="PlaceHolder 3"/>
          <p:cNvSpPr>
            <a:spLocks noGrp="1"/>
          </p:cNvSpPr>
          <p:nvPr>
            <p:ph type="sldNum" idx="4"/>
          </p:nvPr>
        </p:nvSpPr>
        <p:spPr>
          <a:xfrm>
            <a:off x="0" y="0"/>
            <a:ext cx="360" cy="360"/>
          </a:xfrm>
          <a:prstGeom prst="rect">
            <a:avLst/>
          </a:prstGeom>
          <a:noFill/>
          <a:ln w="0">
            <a:noFill/>
          </a:ln>
        </p:spPr>
        <p:txBody>
          <a:bodyPr lIns="0" tIns="-44640" rIns="0" bIns="-44640" anchor="t">
            <a:noAutofit/>
          </a:bodyPr>
          <a:lstStyle>
            <a:lvl1pPr indent="0" algn="l" defTabSz="914400">
              <a:lnSpc>
                <a:spcPct val="100000"/>
              </a:lnSpc>
              <a:buNone/>
              <a:tabLst>
                <a:tab pos="0" algn="l"/>
              </a:tabLst>
              <a:defRPr lang="en-US" sz="1800" b="0" u="none" strike="noStrike">
                <a:solidFill>
                  <a:schemeClr val="dk1"/>
                </a:solidFill>
                <a:effectLst/>
                <a:uFillTx/>
                <a:latin typeface="+mn-lt"/>
                <a:ea typeface="+mn-ea"/>
              </a:defRPr>
            </a:lvl1pPr>
          </a:lstStyle>
          <a:p>
            <a:pPr indent="0" algn="l" defTabSz="914400">
              <a:lnSpc>
                <a:spcPct val="100000"/>
              </a:lnSpc>
              <a:buNone/>
              <a:tabLst>
                <a:tab pos="0" algn="l"/>
              </a:tabLst>
            </a:pPr>
            <a:fld id="{B93274A9-76AE-4FFD-88C0-B7C10473420C}" type="slidenum">
              <a:rPr lang="en-US" sz="1800" b="0" u="none" strike="noStrike">
                <a:solidFill>
                  <a:schemeClr val="dk1"/>
                </a:solidFill>
                <a:effectLst/>
                <a:uFillTx/>
                <a:latin typeface="+mn-lt"/>
                <a:ea typeface="+mn-ea"/>
              </a:rPr>
              <a:t>1</a:t>
            </a:fld>
            <a:endParaRPr lang="de-DE" sz="1800" b="0" u="none" strike="noStrike">
              <a:solidFill>
                <a:srgbClr val="000000"/>
              </a:solidFill>
              <a:effectLst/>
              <a:uFillTx/>
              <a:latin typeface="Times New Roman"/>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7" name="PlaceHolder 1"/>
          <p:cNvSpPr>
            <a:spLocks noGrp="1" noRot="1" noChangeAspect="1"/>
          </p:cNvSpPr>
          <p:nvPr>
            <p:ph type="sldImg"/>
          </p:nvPr>
        </p:nvSpPr>
        <p:spPr>
          <a:xfrm>
            <a:off x="0" y="0"/>
            <a:ext cx="0" cy="0"/>
          </a:xfrm>
          <a:prstGeom prst="rect">
            <a:avLst/>
          </a:prstGeom>
          <a:ln w="0">
            <a:noFill/>
          </a:ln>
        </p:spPr>
      </p:sp>
      <p:sp>
        <p:nvSpPr>
          <p:cNvPr id="258" name="PlaceHolder 2"/>
          <p:cNvSpPr>
            <a:spLocks noGrp="1"/>
          </p:cNvSpPr>
          <p:nvPr>
            <p:ph type="body"/>
          </p:nvPr>
        </p:nvSpPr>
        <p:spPr>
          <a:xfrm>
            <a:off x="0" y="0"/>
            <a:ext cx="360" cy="360"/>
          </a:xfrm>
          <a:prstGeom prst="rect">
            <a:avLst/>
          </a:prstGeom>
          <a:noFill/>
          <a:ln w="0">
            <a:noFill/>
          </a:ln>
        </p:spPr>
        <p:txBody>
          <a:bodyPr lIns="0" tIns="-44640" rIns="0" bIns="-44640" anchor="t">
            <a:noAutofit/>
          </a:bodyPr>
          <a:lstStyle/>
          <a:p>
            <a:pPr indent="0" algn="l">
              <a:buNone/>
            </a:pPr>
            <a:r>
              <a:rPr lang="de-DE" sz="1800" b="0" u="none" strike="noStrike" dirty="0">
                <a:solidFill>
                  <a:srgbClr val="000000"/>
                </a:solidFill>
                <a:effectLst/>
                <a:uFillTx/>
                <a:latin typeface="Arial"/>
              </a:rPr>
              <a:t>The Task was,</a:t>
            </a:r>
            <a:r>
              <a:rPr lang="de-DE" sz="1800" dirty="0"/>
              <a:t> in an area of </a:t>
            </a:r>
            <a:r>
              <a:rPr lang="de-DE" sz="1800" dirty="0" err="1"/>
              <a:t>about</a:t>
            </a:r>
            <a:r>
              <a:rPr lang="de-DE" sz="1800" dirty="0"/>
              <a:t> 200 </a:t>
            </a:r>
            <a:r>
              <a:rPr lang="de-DE" sz="1800" dirty="0" err="1"/>
              <a:t>square</a:t>
            </a:r>
            <a:r>
              <a:rPr lang="de-DE" sz="1800" dirty="0"/>
              <a:t> </a:t>
            </a:r>
            <a:r>
              <a:rPr lang="de-DE" sz="1800" dirty="0" err="1"/>
              <a:t>kilometres</a:t>
            </a:r>
            <a:r>
              <a:rPr lang="de-DE" sz="1800" dirty="0"/>
              <a:t> west of </a:t>
            </a:r>
            <a:r>
              <a:rPr lang="de-DE" sz="1800" dirty="0" err="1"/>
              <a:t>Hanover</a:t>
            </a:r>
            <a:r>
              <a:rPr lang="de-DE" sz="1800" dirty="0"/>
              <a:t>, </a:t>
            </a:r>
            <a:r>
              <a:rPr lang="de-DE" sz="1800" dirty="0" err="1"/>
              <a:t>we</a:t>
            </a:r>
            <a:r>
              <a:rPr lang="de-DE" sz="1800" dirty="0"/>
              <a:t> </a:t>
            </a:r>
            <a:r>
              <a:rPr lang="de-DE" sz="1800" dirty="0" err="1"/>
              <a:t>needed</a:t>
            </a:r>
            <a:r>
              <a:rPr lang="de-DE" sz="1800" dirty="0"/>
              <a:t> to find </a:t>
            </a:r>
            <a:r>
              <a:rPr lang="de-DE" sz="1800" dirty="0" err="1"/>
              <a:t>land</a:t>
            </a:r>
            <a:r>
              <a:rPr lang="de-DE" sz="1800" dirty="0"/>
              <a:t> </a:t>
            </a:r>
            <a:r>
              <a:rPr lang="de-DE" sz="1800" dirty="0" err="1"/>
              <a:t>suitable</a:t>
            </a:r>
            <a:r>
              <a:rPr lang="de-DE" sz="1800" dirty="0"/>
              <a:t> for wind </a:t>
            </a:r>
            <a:r>
              <a:rPr lang="de-DE" sz="1800" dirty="0" err="1"/>
              <a:t>turbines</a:t>
            </a:r>
            <a:r>
              <a:rPr lang="de-DE" sz="1800" dirty="0"/>
              <a:t>. </a:t>
            </a:r>
          </a:p>
          <a:p>
            <a:pPr indent="0" algn="l">
              <a:buNone/>
            </a:pPr>
            <a:endParaRPr lang="de-DE" sz="1800" dirty="0"/>
          </a:p>
          <a:p>
            <a:pPr indent="0" algn="l">
              <a:buNone/>
            </a:pPr>
            <a:r>
              <a:rPr lang="de-DE" sz="1800" dirty="0"/>
              <a:t>To do </a:t>
            </a:r>
            <a:r>
              <a:rPr lang="de-DE" sz="1800" dirty="0" err="1"/>
              <a:t>that</a:t>
            </a:r>
            <a:r>
              <a:rPr lang="de-DE" sz="1800" dirty="0"/>
              <a:t> </a:t>
            </a:r>
            <a:r>
              <a:rPr lang="de-DE" sz="1800" dirty="0" err="1"/>
              <a:t>we</a:t>
            </a:r>
            <a:r>
              <a:rPr lang="de-DE" sz="1800" dirty="0"/>
              <a:t> </a:t>
            </a:r>
            <a:r>
              <a:rPr lang="de-DE" sz="1800" dirty="0" err="1"/>
              <a:t>work</a:t>
            </a:r>
            <a:r>
              <a:rPr lang="de-DE" sz="1800" dirty="0"/>
              <a:t> </a:t>
            </a:r>
            <a:r>
              <a:rPr lang="de-DE" sz="1800" dirty="0" err="1"/>
              <a:t>from</a:t>
            </a:r>
            <a:r>
              <a:rPr lang="de-DE" sz="1800" dirty="0"/>
              <a:t> a Digital Landscape Model, so </a:t>
            </a:r>
            <a:r>
              <a:rPr lang="de-DE" sz="1800" dirty="0" err="1"/>
              <a:t>basically</a:t>
            </a:r>
            <a:r>
              <a:rPr lang="de-DE" sz="1800" dirty="0"/>
              <a:t> all the </a:t>
            </a:r>
            <a:r>
              <a:rPr lang="de-DE" sz="1800" dirty="0" err="1"/>
              <a:t>geographic</a:t>
            </a:r>
            <a:r>
              <a:rPr lang="de-DE" sz="1800" dirty="0"/>
              <a:t> </a:t>
            </a:r>
            <a:r>
              <a:rPr lang="de-DE" sz="1800" dirty="0" err="1"/>
              <a:t>layers</a:t>
            </a:r>
            <a:r>
              <a:rPr lang="de-DE" sz="1800" dirty="0"/>
              <a:t> of the area: </a:t>
            </a:r>
            <a:r>
              <a:rPr lang="de-DE" sz="1800" dirty="0" err="1"/>
              <a:t>roads</a:t>
            </a:r>
            <a:r>
              <a:rPr lang="de-DE" sz="1800" dirty="0"/>
              <a:t>, </a:t>
            </a:r>
            <a:r>
              <a:rPr lang="de-DE" sz="1800" dirty="0" err="1"/>
              <a:t>railways</a:t>
            </a:r>
            <a:r>
              <a:rPr lang="de-DE" sz="1800" dirty="0"/>
              <a:t>, </a:t>
            </a:r>
            <a:r>
              <a:rPr lang="de-DE" sz="1800" dirty="0" err="1"/>
              <a:t>water</a:t>
            </a:r>
            <a:r>
              <a:rPr lang="de-DE" sz="1800" dirty="0"/>
              <a:t>, </a:t>
            </a:r>
            <a:r>
              <a:rPr lang="de-DE" sz="1800" dirty="0" err="1"/>
              <a:t>settlements</a:t>
            </a:r>
            <a:r>
              <a:rPr lang="de-DE" sz="1800" dirty="0"/>
              <a:t>, </a:t>
            </a:r>
            <a:r>
              <a:rPr lang="de-DE" sz="1800" dirty="0" err="1"/>
              <a:t>land</a:t>
            </a:r>
            <a:r>
              <a:rPr lang="de-DE" sz="1800" dirty="0"/>
              <a:t> </a:t>
            </a:r>
            <a:r>
              <a:rPr lang="de-DE" sz="1800" dirty="0" err="1"/>
              <a:t>use</a:t>
            </a:r>
            <a:r>
              <a:rPr lang="de-DE" sz="1800" dirty="0"/>
              <a:t>. </a:t>
            </a:r>
          </a:p>
          <a:p>
            <a:pPr indent="0" algn="l">
              <a:buNone/>
            </a:pPr>
            <a:endParaRPr lang="de-DE" sz="1800" dirty="0"/>
          </a:p>
          <a:p>
            <a:pPr indent="0" algn="l">
              <a:buNone/>
            </a:pPr>
            <a:r>
              <a:rPr lang="de-DE" sz="1800" dirty="0"/>
              <a:t>My </a:t>
            </a:r>
            <a:r>
              <a:rPr lang="de-DE" sz="1800" dirty="0" err="1"/>
              <a:t>stage</a:t>
            </a:r>
            <a:r>
              <a:rPr lang="de-DE" sz="1800" dirty="0"/>
              <a:t> was </a:t>
            </a:r>
            <a:r>
              <a:rPr lang="de-DE" sz="1800" dirty="0" err="1"/>
              <a:t>these</a:t>
            </a:r>
            <a:r>
              <a:rPr lang="de-DE" sz="1800" dirty="0"/>
              <a:t> </a:t>
            </a:r>
            <a:r>
              <a:rPr lang="de-DE" sz="1800" dirty="0" err="1"/>
              <a:t>four</a:t>
            </a:r>
            <a:r>
              <a:rPr lang="de-DE" sz="1800" dirty="0"/>
              <a:t> </a:t>
            </a:r>
            <a:r>
              <a:rPr lang="de-DE" sz="1800" dirty="0" err="1"/>
              <a:t>steps</a:t>
            </a:r>
            <a:r>
              <a:rPr lang="de-DE" sz="1800" dirty="0"/>
              <a:t>: I </a:t>
            </a:r>
            <a:r>
              <a:rPr lang="de-DE" sz="1800" dirty="0" err="1"/>
              <a:t>set</a:t>
            </a:r>
            <a:r>
              <a:rPr lang="de-DE" sz="1800" dirty="0"/>
              <a:t> </a:t>
            </a:r>
            <a:r>
              <a:rPr lang="de-DE" sz="1800" dirty="0" err="1"/>
              <a:t>up</a:t>
            </a:r>
            <a:r>
              <a:rPr lang="de-DE" sz="1800" dirty="0"/>
              <a:t> the </a:t>
            </a:r>
            <a:r>
              <a:rPr lang="de-DE" sz="1800" dirty="0" err="1"/>
              <a:t>project</a:t>
            </a:r>
            <a:r>
              <a:rPr lang="de-DE" sz="1800" dirty="0"/>
              <a:t> and </a:t>
            </a:r>
            <a:r>
              <a:rPr lang="de-DE" sz="1800" dirty="0" err="1"/>
              <a:t>coordinate</a:t>
            </a:r>
            <a:r>
              <a:rPr lang="de-DE" sz="1800" dirty="0"/>
              <a:t> </a:t>
            </a:r>
            <a:r>
              <a:rPr lang="de-DE" sz="1800" dirty="0" err="1"/>
              <a:t>system</a:t>
            </a:r>
            <a:r>
              <a:rPr lang="de-DE" sz="1800" dirty="0"/>
              <a:t>, </a:t>
            </a:r>
            <a:r>
              <a:rPr lang="de-DE" sz="1800" dirty="0" err="1"/>
              <a:t>georeference</a:t>
            </a:r>
            <a:r>
              <a:rPr lang="de-DE" sz="1800" dirty="0"/>
              <a:t> the </a:t>
            </a:r>
            <a:r>
              <a:rPr lang="de-DE" sz="1800" dirty="0" err="1"/>
              <a:t>aerial</a:t>
            </a:r>
            <a:r>
              <a:rPr lang="de-DE" sz="1800" dirty="0"/>
              <a:t> </a:t>
            </a:r>
            <a:r>
              <a:rPr lang="de-DE" sz="1800" dirty="0" err="1"/>
              <a:t>photo</a:t>
            </a:r>
            <a:r>
              <a:rPr lang="de-DE" sz="1800" dirty="0"/>
              <a:t>, </a:t>
            </a:r>
            <a:r>
              <a:rPr lang="de-DE" sz="1800" dirty="0" err="1"/>
              <a:t>digitize</a:t>
            </a:r>
            <a:r>
              <a:rPr lang="de-DE" sz="1800" dirty="0"/>
              <a:t> the </a:t>
            </a:r>
            <a:r>
              <a:rPr lang="de-DE" sz="1800" dirty="0" err="1"/>
              <a:t>old</a:t>
            </a:r>
            <a:r>
              <a:rPr lang="de-DE" sz="1800" dirty="0"/>
              <a:t> </a:t>
            </a:r>
            <a:r>
              <a:rPr lang="de-DE" sz="1800" dirty="0" err="1"/>
              <a:t>arms</a:t>
            </a:r>
            <a:r>
              <a:rPr lang="de-DE" sz="1800" dirty="0"/>
              <a:t> of the Leine </a:t>
            </a:r>
            <a:r>
              <a:rPr lang="de-DE" sz="1800" dirty="0" err="1"/>
              <a:t>river</a:t>
            </a:r>
            <a:r>
              <a:rPr lang="de-DE" sz="1800" dirty="0"/>
              <a:t>, and </a:t>
            </a:r>
            <a:r>
              <a:rPr lang="de-DE" sz="1800" dirty="0" err="1"/>
              <a:t>produce</a:t>
            </a:r>
            <a:r>
              <a:rPr lang="de-DE" sz="1800" dirty="0"/>
              <a:t> the </a:t>
            </a:r>
            <a:r>
              <a:rPr lang="de-DE" sz="1800" dirty="0" err="1"/>
              <a:t>first</a:t>
            </a:r>
            <a:r>
              <a:rPr lang="de-DE" sz="1800" dirty="0"/>
              <a:t> </a:t>
            </a:r>
            <a:r>
              <a:rPr lang="de-DE" sz="1800" dirty="0" err="1"/>
              <a:t>map</a:t>
            </a:r>
            <a:r>
              <a:rPr lang="de-DE" sz="1800" dirty="0"/>
              <a:t>.</a:t>
            </a:r>
            <a:endParaRPr lang="de-DE" sz="1800" b="0" u="none" strike="noStrike" dirty="0">
              <a:solidFill>
                <a:srgbClr val="000000"/>
              </a:solidFill>
              <a:effectLst/>
              <a:uFillTx/>
              <a:latin typeface="Arial"/>
            </a:endParaRPr>
          </a:p>
        </p:txBody>
      </p:sp>
      <p:sp>
        <p:nvSpPr>
          <p:cNvPr id="259" name="PlaceHolder 3"/>
          <p:cNvSpPr>
            <a:spLocks noGrp="1"/>
          </p:cNvSpPr>
          <p:nvPr>
            <p:ph type="sldNum" idx="5"/>
          </p:nvPr>
        </p:nvSpPr>
        <p:spPr>
          <a:xfrm>
            <a:off x="0" y="0"/>
            <a:ext cx="360" cy="360"/>
          </a:xfrm>
          <a:prstGeom prst="rect">
            <a:avLst/>
          </a:prstGeom>
          <a:noFill/>
          <a:ln w="0">
            <a:noFill/>
          </a:ln>
        </p:spPr>
        <p:txBody>
          <a:bodyPr lIns="0" tIns="-44640" rIns="0" bIns="-44640" anchor="t">
            <a:noAutofit/>
          </a:bodyPr>
          <a:lstStyle>
            <a:lvl1pPr indent="0" algn="l" defTabSz="914400">
              <a:lnSpc>
                <a:spcPct val="100000"/>
              </a:lnSpc>
              <a:buNone/>
              <a:tabLst>
                <a:tab pos="0" algn="l"/>
              </a:tabLst>
              <a:defRPr lang="en-US" sz="1800" b="0" u="none" strike="noStrike">
                <a:solidFill>
                  <a:schemeClr val="dk1"/>
                </a:solidFill>
                <a:effectLst/>
                <a:uFillTx/>
                <a:latin typeface="+mn-lt"/>
                <a:ea typeface="+mn-ea"/>
              </a:defRPr>
            </a:lvl1pPr>
          </a:lstStyle>
          <a:p>
            <a:pPr indent="0" algn="l" defTabSz="914400">
              <a:lnSpc>
                <a:spcPct val="100000"/>
              </a:lnSpc>
              <a:buNone/>
              <a:tabLst>
                <a:tab pos="0" algn="l"/>
              </a:tabLst>
            </a:pPr>
            <a:fld id="{11718ED4-D53E-40C6-B405-8A3BA58E9A8B}" type="slidenum">
              <a:rPr lang="en-US" sz="1800" b="0" u="none" strike="noStrike">
                <a:solidFill>
                  <a:schemeClr val="dk1"/>
                </a:solidFill>
                <a:effectLst/>
                <a:uFillTx/>
                <a:latin typeface="+mn-lt"/>
                <a:ea typeface="+mn-ea"/>
              </a:rPr>
              <a:t>2</a:t>
            </a:fld>
            <a:endParaRPr lang="de-DE" sz="1800" b="0" u="none" strike="noStrike">
              <a:solidFill>
                <a:srgbClr val="000000"/>
              </a:solidFill>
              <a:effectLst/>
              <a:uFillTx/>
              <a:latin typeface="Times New Roman"/>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0" name="PlaceHolder 1"/>
          <p:cNvSpPr>
            <a:spLocks noGrp="1" noRot="1" noChangeAspect="1"/>
          </p:cNvSpPr>
          <p:nvPr>
            <p:ph type="sldImg"/>
          </p:nvPr>
        </p:nvSpPr>
        <p:spPr>
          <a:xfrm>
            <a:off x="0" y="0"/>
            <a:ext cx="0" cy="0"/>
          </a:xfrm>
          <a:prstGeom prst="rect">
            <a:avLst/>
          </a:prstGeom>
          <a:ln w="0">
            <a:noFill/>
          </a:ln>
        </p:spPr>
      </p:sp>
      <p:sp>
        <p:nvSpPr>
          <p:cNvPr id="261" name="PlaceHolder 2"/>
          <p:cNvSpPr>
            <a:spLocks noGrp="1"/>
          </p:cNvSpPr>
          <p:nvPr>
            <p:ph type="body"/>
          </p:nvPr>
        </p:nvSpPr>
        <p:spPr>
          <a:xfrm>
            <a:off x="0" y="0"/>
            <a:ext cx="360" cy="360"/>
          </a:xfrm>
          <a:prstGeom prst="rect">
            <a:avLst/>
          </a:prstGeom>
          <a:noFill/>
          <a:ln w="0">
            <a:noFill/>
          </a:ln>
        </p:spPr>
        <p:txBody>
          <a:bodyPr lIns="0" tIns="-44640" rIns="0" bIns="-44640" anchor="t">
            <a:noAutofit/>
          </a:bodyPr>
          <a:lstStyle/>
          <a:p>
            <a:pPr indent="0" algn="l">
              <a:buNone/>
            </a:pPr>
            <a:r>
              <a:rPr lang="de-DE" sz="1800" dirty="0"/>
              <a:t>I </a:t>
            </a:r>
            <a:r>
              <a:rPr lang="de-DE" sz="1800" dirty="0" err="1"/>
              <a:t>started</a:t>
            </a:r>
            <a:r>
              <a:rPr lang="de-DE" sz="1800" dirty="0"/>
              <a:t> by </a:t>
            </a:r>
            <a:r>
              <a:rPr lang="de-DE" sz="1800" dirty="0" err="1"/>
              <a:t>creating</a:t>
            </a:r>
            <a:r>
              <a:rPr lang="de-DE" sz="1800" dirty="0"/>
              <a:t> a </a:t>
            </a:r>
            <a:r>
              <a:rPr lang="de-DE" sz="1800" dirty="0" err="1"/>
              <a:t>new</a:t>
            </a:r>
            <a:r>
              <a:rPr lang="de-DE" sz="1800" dirty="0"/>
              <a:t> QGIS </a:t>
            </a:r>
            <a:r>
              <a:rPr lang="de-DE" sz="1800" dirty="0" err="1"/>
              <a:t>project</a:t>
            </a:r>
            <a:r>
              <a:rPr lang="de-DE" sz="1800" dirty="0"/>
              <a:t> and </a:t>
            </a:r>
            <a:r>
              <a:rPr lang="de-DE" sz="1800" dirty="0" err="1"/>
              <a:t>loading</a:t>
            </a:r>
            <a:r>
              <a:rPr lang="de-DE" sz="1800" dirty="0"/>
              <a:t> the </a:t>
            </a:r>
            <a:r>
              <a:rPr lang="de-DE" sz="1800" dirty="0" err="1"/>
              <a:t>seven</a:t>
            </a:r>
            <a:r>
              <a:rPr lang="de-DE" sz="1800" dirty="0"/>
              <a:t> </a:t>
            </a:r>
            <a:r>
              <a:rPr lang="de-DE" sz="1800" dirty="0" err="1"/>
              <a:t>supplied</a:t>
            </a:r>
            <a:r>
              <a:rPr lang="de-DE" sz="1800" dirty="0"/>
              <a:t> </a:t>
            </a:r>
            <a:r>
              <a:rPr lang="de-DE" sz="1800" dirty="0" err="1"/>
              <a:t>layers</a:t>
            </a:r>
            <a:r>
              <a:rPr lang="de-DE" sz="1800" dirty="0"/>
              <a:t>. The </a:t>
            </a:r>
            <a:r>
              <a:rPr lang="de-DE" sz="1800" dirty="0" err="1"/>
              <a:t>key</a:t>
            </a:r>
            <a:r>
              <a:rPr lang="de-DE" sz="1800" dirty="0"/>
              <a:t> </a:t>
            </a:r>
            <a:r>
              <a:rPr lang="de-DE" sz="1800" dirty="0" err="1"/>
              <a:t>thing</a:t>
            </a:r>
            <a:r>
              <a:rPr lang="de-DE" sz="1800" dirty="0"/>
              <a:t> at </a:t>
            </a:r>
            <a:r>
              <a:rPr lang="de-DE" sz="1800" dirty="0" err="1"/>
              <a:t>this</a:t>
            </a:r>
            <a:r>
              <a:rPr lang="de-DE" sz="1800" dirty="0"/>
              <a:t> </a:t>
            </a:r>
            <a:r>
              <a:rPr lang="de-DE" sz="1800" dirty="0" err="1"/>
              <a:t>stage</a:t>
            </a:r>
            <a:r>
              <a:rPr lang="de-DE" sz="1800" dirty="0"/>
              <a:t> was the </a:t>
            </a:r>
            <a:r>
              <a:rPr lang="de-DE" sz="1800" dirty="0" err="1"/>
              <a:t>coordinate</a:t>
            </a:r>
            <a:r>
              <a:rPr lang="de-DE" sz="1800" dirty="0"/>
              <a:t> </a:t>
            </a:r>
            <a:r>
              <a:rPr lang="de-DE" sz="1800" dirty="0" err="1"/>
              <a:t>system</a:t>
            </a:r>
            <a:r>
              <a:rPr lang="de-DE" sz="1800" dirty="0"/>
              <a:t>. All the </a:t>
            </a:r>
            <a:r>
              <a:rPr lang="de-DE" sz="1800" dirty="0" err="1"/>
              <a:t>data's</a:t>
            </a:r>
            <a:r>
              <a:rPr lang="de-DE" sz="1800" dirty="0"/>
              <a:t> </a:t>
            </a:r>
            <a:r>
              <a:rPr lang="de-DE" sz="1800" dirty="0" err="1"/>
              <a:t>already</a:t>
            </a:r>
            <a:r>
              <a:rPr lang="de-DE" sz="1800" dirty="0"/>
              <a:t> in EPSG </a:t>
            </a:r>
            <a:r>
              <a:rPr lang="de-DE" sz="1800" dirty="0" err="1"/>
              <a:t>three-one-four-six-seven</a:t>
            </a:r>
            <a:r>
              <a:rPr lang="de-DE" sz="1800" dirty="0"/>
              <a:t>, a </a:t>
            </a:r>
            <a:r>
              <a:rPr lang="de-DE" sz="1800" dirty="0" err="1"/>
              <a:t>projected</a:t>
            </a:r>
            <a:r>
              <a:rPr lang="de-DE" sz="1800" dirty="0"/>
              <a:t> </a:t>
            </a:r>
            <a:r>
              <a:rPr lang="de-DE" sz="1800" dirty="0" err="1"/>
              <a:t>system</a:t>
            </a:r>
            <a:r>
              <a:rPr lang="de-DE" sz="1800" dirty="0"/>
              <a:t> in </a:t>
            </a:r>
            <a:r>
              <a:rPr lang="de-DE" sz="1800" dirty="0" err="1"/>
              <a:t>metres</a:t>
            </a:r>
            <a:r>
              <a:rPr lang="de-DE" sz="1800" dirty="0"/>
              <a:t>. </a:t>
            </a:r>
            <a:r>
              <a:rPr lang="de-DE" sz="1800" dirty="0" err="1"/>
              <a:t>That's</a:t>
            </a:r>
            <a:r>
              <a:rPr lang="de-DE" sz="1800" dirty="0"/>
              <a:t> </a:t>
            </a:r>
            <a:r>
              <a:rPr lang="de-DE" sz="1800" dirty="0" err="1"/>
              <a:t>what</a:t>
            </a:r>
            <a:r>
              <a:rPr lang="de-DE" sz="1800" dirty="0"/>
              <a:t> </a:t>
            </a:r>
            <a:r>
              <a:rPr lang="de-DE" sz="1800" dirty="0" err="1"/>
              <a:t>we</a:t>
            </a:r>
            <a:r>
              <a:rPr lang="de-DE" sz="1800" dirty="0"/>
              <a:t> </a:t>
            </a:r>
            <a:r>
              <a:rPr lang="de-DE" sz="1800" dirty="0" err="1"/>
              <a:t>need</a:t>
            </a:r>
            <a:r>
              <a:rPr lang="de-DE" sz="1800" dirty="0"/>
              <a:t>, </a:t>
            </a:r>
            <a:r>
              <a:rPr lang="de-DE" sz="1800" dirty="0" err="1"/>
              <a:t>because</a:t>
            </a:r>
            <a:r>
              <a:rPr lang="de-DE" sz="1800" dirty="0"/>
              <a:t> </a:t>
            </a:r>
            <a:r>
              <a:rPr lang="de-DE" sz="1800" dirty="0" err="1"/>
              <a:t>our</a:t>
            </a:r>
            <a:r>
              <a:rPr lang="de-DE" sz="1800" dirty="0"/>
              <a:t> </a:t>
            </a:r>
            <a:r>
              <a:rPr lang="de-DE" sz="1800" dirty="0" err="1"/>
              <a:t>rules</a:t>
            </a:r>
            <a:r>
              <a:rPr lang="de-DE" sz="1800" dirty="0"/>
              <a:t> </a:t>
            </a:r>
            <a:r>
              <a:rPr lang="de-DE" sz="1800" dirty="0" err="1"/>
              <a:t>are</a:t>
            </a:r>
            <a:r>
              <a:rPr lang="de-DE" sz="1800" dirty="0"/>
              <a:t> all </a:t>
            </a:r>
            <a:r>
              <a:rPr lang="de-DE" sz="1800" dirty="0" err="1"/>
              <a:t>distances</a:t>
            </a:r>
            <a:r>
              <a:rPr lang="de-DE" sz="1800" dirty="0"/>
              <a:t> and </a:t>
            </a:r>
            <a:r>
              <a:rPr lang="de-DE" sz="1800" dirty="0" err="1"/>
              <a:t>areas</a:t>
            </a:r>
            <a:r>
              <a:rPr lang="de-DE" sz="1800" dirty="0"/>
              <a:t>. So </a:t>
            </a:r>
            <a:r>
              <a:rPr lang="de-DE" sz="1800" dirty="0" err="1"/>
              <a:t>here</a:t>
            </a:r>
            <a:r>
              <a:rPr lang="de-DE" sz="1800" dirty="0"/>
              <a:t> I just </a:t>
            </a:r>
            <a:r>
              <a:rPr lang="de-DE" sz="1800" dirty="0" err="1"/>
              <a:t>confirmed</a:t>
            </a:r>
            <a:r>
              <a:rPr lang="de-DE" sz="1800" dirty="0"/>
              <a:t> the </a:t>
            </a:r>
            <a:r>
              <a:rPr lang="de-DE" sz="1800" dirty="0" err="1"/>
              <a:t>coordinate</a:t>
            </a:r>
            <a:r>
              <a:rPr lang="de-DE" sz="1800" dirty="0"/>
              <a:t> </a:t>
            </a:r>
            <a:r>
              <a:rPr lang="de-DE" sz="1800" dirty="0" err="1"/>
              <a:t>system</a:t>
            </a:r>
            <a:r>
              <a:rPr lang="de-DE" sz="1800" dirty="0"/>
              <a:t> was </a:t>
            </a:r>
            <a:r>
              <a:rPr lang="de-DE" sz="1800" dirty="0" err="1"/>
              <a:t>right</a:t>
            </a:r>
            <a:r>
              <a:rPr lang="de-DE" sz="1800" dirty="0"/>
              <a:t>.</a:t>
            </a:r>
            <a:endParaRPr lang="de-DE" sz="1800" b="0" u="none" strike="noStrike" dirty="0">
              <a:solidFill>
                <a:srgbClr val="000000"/>
              </a:solidFill>
              <a:effectLst/>
              <a:uFillTx/>
              <a:latin typeface="Arial"/>
            </a:endParaRPr>
          </a:p>
        </p:txBody>
      </p:sp>
      <p:sp>
        <p:nvSpPr>
          <p:cNvPr id="262" name="PlaceHolder 3"/>
          <p:cNvSpPr>
            <a:spLocks noGrp="1"/>
          </p:cNvSpPr>
          <p:nvPr>
            <p:ph type="sldNum" idx="6"/>
          </p:nvPr>
        </p:nvSpPr>
        <p:spPr>
          <a:xfrm>
            <a:off x="0" y="0"/>
            <a:ext cx="360" cy="360"/>
          </a:xfrm>
          <a:prstGeom prst="rect">
            <a:avLst/>
          </a:prstGeom>
          <a:noFill/>
          <a:ln w="0">
            <a:noFill/>
          </a:ln>
        </p:spPr>
        <p:txBody>
          <a:bodyPr lIns="0" tIns="-44640" rIns="0" bIns="-44640" anchor="t">
            <a:noAutofit/>
          </a:bodyPr>
          <a:lstStyle>
            <a:lvl1pPr indent="0" algn="l" defTabSz="914400">
              <a:lnSpc>
                <a:spcPct val="100000"/>
              </a:lnSpc>
              <a:buNone/>
              <a:tabLst>
                <a:tab pos="0" algn="l"/>
              </a:tabLst>
              <a:defRPr lang="en-US" sz="1800" b="0" u="none" strike="noStrike">
                <a:solidFill>
                  <a:schemeClr val="dk1"/>
                </a:solidFill>
                <a:effectLst/>
                <a:uFillTx/>
                <a:latin typeface="+mn-lt"/>
                <a:ea typeface="+mn-ea"/>
              </a:defRPr>
            </a:lvl1pPr>
          </a:lstStyle>
          <a:p>
            <a:pPr indent="0" algn="l" defTabSz="914400">
              <a:lnSpc>
                <a:spcPct val="100000"/>
              </a:lnSpc>
              <a:buNone/>
              <a:tabLst>
                <a:tab pos="0" algn="l"/>
              </a:tabLst>
            </a:pPr>
            <a:fld id="{0403400A-3027-44BE-8602-7DB110972B33}" type="slidenum">
              <a:rPr lang="en-US" sz="1800" b="0" u="none" strike="noStrike">
                <a:solidFill>
                  <a:schemeClr val="dk1"/>
                </a:solidFill>
                <a:effectLst/>
                <a:uFillTx/>
                <a:latin typeface="+mn-lt"/>
                <a:ea typeface="+mn-ea"/>
              </a:rPr>
              <a:t>3</a:t>
            </a:fld>
            <a:endParaRPr lang="de-DE" sz="1800" b="0" u="none" strike="noStrike">
              <a:solidFill>
                <a:srgbClr val="000000"/>
              </a:solidFill>
              <a:effectLst/>
              <a:uFillTx/>
              <a:latin typeface="Times New Roman"/>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3" name="PlaceHolder 1"/>
          <p:cNvSpPr>
            <a:spLocks noGrp="1" noRot="1" noChangeAspect="1"/>
          </p:cNvSpPr>
          <p:nvPr>
            <p:ph type="sldImg"/>
          </p:nvPr>
        </p:nvSpPr>
        <p:spPr>
          <a:xfrm>
            <a:off x="0" y="0"/>
            <a:ext cx="0" cy="0"/>
          </a:xfrm>
          <a:prstGeom prst="rect">
            <a:avLst/>
          </a:prstGeom>
          <a:ln w="0">
            <a:noFill/>
          </a:ln>
        </p:spPr>
      </p:sp>
      <p:sp>
        <p:nvSpPr>
          <p:cNvPr id="264" name="PlaceHolder 2"/>
          <p:cNvSpPr>
            <a:spLocks noGrp="1"/>
          </p:cNvSpPr>
          <p:nvPr>
            <p:ph type="body"/>
          </p:nvPr>
        </p:nvSpPr>
        <p:spPr>
          <a:xfrm>
            <a:off x="0" y="0"/>
            <a:ext cx="360" cy="360"/>
          </a:xfrm>
          <a:prstGeom prst="rect">
            <a:avLst/>
          </a:prstGeom>
          <a:noFill/>
          <a:ln w="0">
            <a:noFill/>
          </a:ln>
        </p:spPr>
        <p:txBody>
          <a:bodyPr lIns="0" tIns="-44640" rIns="0" bIns="-44640" anchor="t">
            <a:noAutofit/>
          </a:bodyPr>
          <a:lstStyle/>
          <a:p>
            <a:pPr indent="0" algn="l">
              <a:buNone/>
            </a:pPr>
            <a:r>
              <a:rPr lang="de-DE" sz="1800" dirty="0"/>
              <a:t>Next I </a:t>
            </a:r>
            <a:r>
              <a:rPr lang="de-DE" sz="1800" dirty="0" err="1"/>
              <a:t>went</a:t>
            </a:r>
            <a:r>
              <a:rPr lang="de-DE" sz="1800" dirty="0"/>
              <a:t> </a:t>
            </a:r>
            <a:r>
              <a:rPr lang="de-DE" sz="1800" dirty="0" err="1"/>
              <a:t>through</a:t>
            </a:r>
            <a:r>
              <a:rPr lang="de-DE" sz="1800" dirty="0"/>
              <a:t> </a:t>
            </a:r>
            <a:r>
              <a:rPr lang="de-DE" sz="1800" dirty="0" err="1"/>
              <a:t>each</a:t>
            </a:r>
            <a:r>
              <a:rPr lang="de-DE" sz="1800" dirty="0"/>
              <a:t> </a:t>
            </a:r>
            <a:r>
              <a:rPr lang="de-DE" sz="1800" dirty="0" err="1"/>
              <a:t>layer's</a:t>
            </a:r>
            <a:r>
              <a:rPr lang="de-DE" sz="1800" dirty="0"/>
              <a:t> </a:t>
            </a:r>
            <a:r>
              <a:rPr lang="de-DE" sz="1800" dirty="0" err="1"/>
              <a:t>attribute</a:t>
            </a:r>
            <a:r>
              <a:rPr lang="de-DE" sz="1800" dirty="0"/>
              <a:t> </a:t>
            </a:r>
            <a:r>
              <a:rPr lang="de-DE" sz="1800" dirty="0" err="1"/>
              <a:t>table</a:t>
            </a:r>
            <a:r>
              <a:rPr lang="de-DE" sz="1800" dirty="0"/>
              <a:t> to find the </a:t>
            </a:r>
            <a:r>
              <a:rPr lang="de-DE" sz="1800" dirty="0" err="1"/>
              <a:t>fields</a:t>
            </a:r>
            <a:r>
              <a:rPr lang="de-DE" sz="1800" dirty="0"/>
              <a:t> the </a:t>
            </a:r>
            <a:r>
              <a:rPr lang="de-DE" sz="1800" dirty="0" err="1"/>
              <a:t>later</a:t>
            </a:r>
            <a:r>
              <a:rPr lang="de-DE" sz="1800" dirty="0"/>
              <a:t> </a:t>
            </a:r>
            <a:r>
              <a:rPr lang="de-DE" sz="1800" dirty="0" err="1"/>
              <a:t>analysis</a:t>
            </a:r>
            <a:r>
              <a:rPr lang="de-DE" sz="1800" dirty="0"/>
              <a:t> </a:t>
            </a:r>
            <a:r>
              <a:rPr lang="de-DE" sz="1800" dirty="0" err="1"/>
              <a:t>needs</a:t>
            </a:r>
            <a:r>
              <a:rPr lang="de-DE" sz="1800" dirty="0"/>
              <a:t>. </a:t>
            </a:r>
          </a:p>
          <a:p>
            <a:pPr indent="0" algn="l">
              <a:buNone/>
            </a:pPr>
            <a:endParaRPr lang="de-DE" sz="1800" b="0" u="none" strike="noStrike" dirty="0">
              <a:solidFill>
                <a:srgbClr val="000000"/>
              </a:solidFill>
              <a:effectLst/>
              <a:uFillTx/>
              <a:latin typeface="Arial"/>
            </a:endParaRPr>
          </a:p>
          <a:p>
            <a:pPr indent="0" algn="l">
              <a:buNone/>
            </a:pPr>
            <a:r>
              <a:rPr lang="de-DE" sz="1800" dirty="0" err="1"/>
              <a:t>Each</a:t>
            </a:r>
            <a:r>
              <a:rPr lang="de-DE" sz="1800" dirty="0"/>
              <a:t> </a:t>
            </a:r>
            <a:r>
              <a:rPr lang="de-DE" sz="1800" dirty="0" err="1"/>
              <a:t>layer</a:t>
            </a:r>
            <a:r>
              <a:rPr lang="de-DE" sz="1800" dirty="0"/>
              <a:t> </a:t>
            </a:r>
            <a:r>
              <a:rPr lang="de-DE" sz="1800" dirty="0" err="1"/>
              <a:t>stores</a:t>
            </a:r>
            <a:r>
              <a:rPr lang="de-DE" sz="1800" dirty="0"/>
              <a:t> </a:t>
            </a:r>
            <a:r>
              <a:rPr lang="de-DE" sz="1800" dirty="0" err="1"/>
              <a:t>its</a:t>
            </a:r>
            <a:r>
              <a:rPr lang="de-DE" sz="1800" dirty="0"/>
              <a:t> </a:t>
            </a:r>
            <a:r>
              <a:rPr lang="de-DE" sz="1800" dirty="0" err="1"/>
              <a:t>class</a:t>
            </a:r>
            <a:r>
              <a:rPr lang="de-DE" sz="1800" dirty="0"/>
              <a:t> in a </a:t>
            </a:r>
            <a:r>
              <a:rPr lang="de-DE" sz="1800" dirty="0" err="1"/>
              <a:t>field</a:t>
            </a:r>
            <a:r>
              <a:rPr lang="de-DE" sz="1800" dirty="0"/>
              <a:t> </a:t>
            </a:r>
            <a:r>
              <a:rPr lang="de-DE" sz="1800" dirty="0" err="1"/>
              <a:t>called</a:t>
            </a:r>
            <a:r>
              <a:rPr lang="de-DE" sz="1800" dirty="0"/>
              <a:t> </a:t>
            </a:r>
            <a:r>
              <a:rPr lang="de-DE" sz="1200" kern="1200" dirty="0">
                <a:solidFill>
                  <a:schemeClr val="tx1"/>
                </a:solidFill>
                <a:latin typeface="+mn-lt"/>
                <a:ea typeface="+mn-ea"/>
                <a:cs typeface="+mn-cs"/>
              </a:rPr>
              <a:t>typ</a:t>
            </a:r>
            <a:r>
              <a:rPr lang="de-DE" sz="1800" kern="1200" dirty="0">
                <a:solidFill>
                  <a:schemeClr val="tx1"/>
                </a:solidFill>
                <a:latin typeface="+mn-lt"/>
                <a:ea typeface="+mn-ea"/>
                <a:cs typeface="+mn-cs"/>
              </a:rPr>
              <a:t>, </a:t>
            </a:r>
            <a:r>
              <a:rPr lang="de-DE" sz="1800" dirty="0" err="1"/>
              <a:t>roads</a:t>
            </a:r>
            <a:r>
              <a:rPr lang="de-DE" sz="1800" dirty="0"/>
              <a:t>, </a:t>
            </a:r>
            <a:r>
              <a:rPr lang="de-DE" sz="1800" dirty="0" err="1"/>
              <a:t>land</a:t>
            </a:r>
            <a:r>
              <a:rPr lang="de-DE" sz="1800" dirty="0"/>
              <a:t> </a:t>
            </a:r>
            <a:r>
              <a:rPr lang="de-DE" sz="1800" dirty="0" err="1"/>
              <a:t>use</a:t>
            </a:r>
            <a:r>
              <a:rPr lang="de-DE" sz="1800" dirty="0"/>
              <a:t>, </a:t>
            </a:r>
            <a:r>
              <a:rPr lang="de-DE" sz="1800" dirty="0" err="1"/>
              <a:t>water</a:t>
            </a:r>
            <a:r>
              <a:rPr lang="de-DE" sz="1800" dirty="0"/>
              <a:t>, and </a:t>
            </a:r>
            <a:r>
              <a:rPr lang="de-DE" sz="1800" dirty="0" err="1"/>
              <a:t>railways</a:t>
            </a:r>
            <a:r>
              <a:rPr lang="de-DE" sz="1800" dirty="0"/>
              <a:t> all </a:t>
            </a:r>
            <a:r>
              <a:rPr lang="de-DE" sz="1800" dirty="0" err="1"/>
              <a:t>work</a:t>
            </a:r>
            <a:r>
              <a:rPr lang="de-DE" sz="1800" dirty="0"/>
              <a:t> the same </a:t>
            </a:r>
            <a:r>
              <a:rPr lang="de-DE" sz="1800" dirty="0" err="1"/>
              <a:t>way</a:t>
            </a:r>
            <a:r>
              <a:rPr lang="de-DE" sz="1800" dirty="0"/>
              <a:t>.</a:t>
            </a:r>
            <a:endParaRPr lang="de-DE" sz="1800" b="0" u="none" strike="noStrike" dirty="0">
              <a:solidFill>
                <a:srgbClr val="000000"/>
              </a:solidFill>
              <a:effectLst/>
              <a:uFillTx/>
              <a:latin typeface="Arial"/>
            </a:endParaRPr>
          </a:p>
        </p:txBody>
      </p:sp>
      <p:sp>
        <p:nvSpPr>
          <p:cNvPr id="265" name="PlaceHolder 3"/>
          <p:cNvSpPr>
            <a:spLocks noGrp="1"/>
          </p:cNvSpPr>
          <p:nvPr>
            <p:ph type="sldNum" idx="7"/>
          </p:nvPr>
        </p:nvSpPr>
        <p:spPr>
          <a:xfrm>
            <a:off x="0" y="0"/>
            <a:ext cx="360" cy="360"/>
          </a:xfrm>
          <a:prstGeom prst="rect">
            <a:avLst/>
          </a:prstGeom>
          <a:noFill/>
          <a:ln w="0">
            <a:noFill/>
          </a:ln>
        </p:spPr>
        <p:txBody>
          <a:bodyPr lIns="0" tIns="-44640" rIns="0" bIns="-44640" anchor="t">
            <a:noAutofit/>
          </a:bodyPr>
          <a:lstStyle>
            <a:lvl1pPr indent="0" algn="l" defTabSz="914400">
              <a:lnSpc>
                <a:spcPct val="100000"/>
              </a:lnSpc>
              <a:buNone/>
              <a:tabLst>
                <a:tab pos="0" algn="l"/>
              </a:tabLst>
              <a:defRPr lang="en-US" sz="1800" b="0" u="none" strike="noStrike">
                <a:solidFill>
                  <a:schemeClr val="dk1"/>
                </a:solidFill>
                <a:effectLst/>
                <a:uFillTx/>
                <a:latin typeface="+mn-lt"/>
                <a:ea typeface="+mn-ea"/>
              </a:defRPr>
            </a:lvl1pPr>
          </a:lstStyle>
          <a:p>
            <a:pPr indent="0" algn="l" defTabSz="914400">
              <a:lnSpc>
                <a:spcPct val="100000"/>
              </a:lnSpc>
              <a:buNone/>
              <a:tabLst>
                <a:tab pos="0" algn="l"/>
              </a:tabLst>
            </a:pPr>
            <a:fld id="{4DA8ACED-8F3E-41C4-B6CF-4859AFF34ED8}" type="slidenum">
              <a:rPr lang="en-US" sz="1800" b="0" u="none" strike="noStrike">
                <a:solidFill>
                  <a:schemeClr val="dk1"/>
                </a:solidFill>
                <a:effectLst/>
                <a:uFillTx/>
                <a:latin typeface="+mn-lt"/>
                <a:ea typeface="+mn-ea"/>
              </a:rPr>
              <a:t>4</a:t>
            </a:fld>
            <a:endParaRPr lang="de-DE" sz="1800" b="0" u="none" strike="noStrike">
              <a:solidFill>
                <a:srgbClr val="000000"/>
              </a:solidFill>
              <a:effectLst/>
              <a:uFillTx/>
              <a:latin typeface="Times New Roman"/>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 name="PlaceHolder 1"/>
          <p:cNvSpPr>
            <a:spLocks noGrp="1" noRot="1" noChangeAspect="1"/>
          </p:cNvSpPr>
          <p:nvPr>
            <p:ph type="sldImg"/>
          </p:nvPr>
        </p:nvSpPr>
        <p:spPr>
          <a:xfrm>
            <a:off x="0" y="0"/>
            <a:ext cx="0" cy="0"/>
          </a:xfrm>
          <a:prstGeom prst="rect">
            <a:avLst/>
          </a:prstGeom>
          <a:ln w="0">
            <a:noFill/>
          </a:ln>
        </p:spPr>
      </p:sp>
      <p:sp>
        <p:nvSpPr>
          <p:cNvPr id="267" name="PlaceHolder 2"/>
          <p:cNvSpPr>
            <a:spLocks noGrp="1"/>
          </p:cNvSpPr>
          <p:nvPr>
            <p:ph type="body"/>
          </p:nvPr>
        </p:nvSpPr>
        <p:spPr>
          <a:xfrm>
            <a:off x="0" y="0"/>
            <a:ext cx="360" cy="360"/>
          </a:xfrm>
          <a:prstGeom prst="rect">
            <a:avLst/>
          </a:prstGeom>
          <a:noFill/>
          <a:ln w="0">
            <a:noFill/>
          </a:ln>
        </p:spPr>
        <p:txBody>
          <a:bodyPr lIns="0" tIns="-44640" rIns="0" bIns="-44640" anchor="t">
            <a:noAutofit/>
          </a:bodyPr>
          <a:lstStyle/>
          <a:p>
            <a:r>
              <a:rPr lang="en-US" sz="1800" dirty="0"/>
              <a:t>This step is georeferencing. We were given an aerial photograph of part of the area, but as a plain image it has no location. Georeferencing gives it real-world coordinates so it lines up with the other data. I pick features I can see in both the photo and the map, road junctions, water edges, and tell QGIS that this point in the image is this point on the map. I placed ten control points and used an affine transformation into our coordinate system. One of the ten was clearly a mis-click, with a much larger error than the rest, so I disabled it and recalculated from the other nine. That brought the mean error down from about 12 pixels to 5, which is roughly 20 to 25 </a:t>
            </a:r>
            <a:r>
              <a:rPr lang="en-US" sz="1800" dirty="0" err="1"/>
              <a:t>metres</a:t>
            </a:r>
            <a:r>
              <a:rPr lang="en-US" sz="1800" dirty="0"/>
              <a:t> on the ground.</a:t>
            </a:r>
          </a:p>
        </p:txBody>
      </p:sp>
      <p:sp>
        <p:nvSpPr>
          <p:cNvPr id="268" name="PlaceHolder 3"/>
          <p:cNvSpPr>
            <a:spLocks noGrp="1"/>
          </p:cNvSpPr>
          <p:nvPr>
            <p:ph type="sldNum" idx="8"/>
          </p:nvPr>
        </p:nvSpPr>
        <p:spPr>
          <a:xfrm>
            <a:off x="0" y="0"/>
            <a:ext cx="360" cy="360"/>
          </a:xfrm>
          <a:prstGeom prst="rect">
            <a:avLst/>
          </a:prstGeom>
          <a:noFill/>
          <a:ln w="0">
            <a:noFill/>
          </a:ln>
        </p:spPr>
        <p:txBody>
          <a:bodyPr lIns="0" tIns="-44640" rIns="0" bIns="-44640" anchor="t">
            <a:noAutofit/>
          </a:bodyPr>
          <a:lstStyle>
            <a:lvl1pPr indent="0" algn="l" defTabSz="914400">
              <a:lnSpc>
                <a:spcPct val="100000"/>
              </a:lnSpc>
              <a:buNone/>
              <a:tabLst>
                <a:tab pos="0" algn="l"/>
              </a:tabLst>
              <a:defRPr lang="en-US" sz="1800" b="0" u="none" strike="noStrike">
                <a:solidFill>
                  <a:schemeClr val="dk1"/>
                </a:solidFill>
                <a:effectLst/>
                <a:uFillTx/>
                <a:latin typeface="+mn-lt"/>
                <a:ea typeface="+mn-ea"/>
              </a:defRPr>
            </a:lvl1pPr>
          </a:lstStyle>
          <a:p>
            <a:pPr indent="0" algn="l" defTabSz="914400">
              <a:lnSpc>
                <a:spcPct val="100000"/>
              </a:lnSpc>
              <a:buNone/>
              <a:tabLst>
                <a:tab pos="0" algn="l"/>
              </a:tabLst>
            </a:pPr>
            <a:fld id="{E977355F-B401-4AB0-82DC-CBC48917C4BE}" type="slidenum">
              <a:rPr lang="en-US" sz="1800" b="0" u="none" strike="noStrike">
                <a:solidFill>
                  <a:schemeClr val="dk1"/>
                </a:solidFill>
                <a:effectLst/>
                <a:uFillTx/>
                <a:latin typeface="+mn-lt"/>
                <a:ea typeface="+mn-ea"/>
              </a:rPr>
              <a:t>5</a:t>
            </a:fld>
            <a:endParaRPr lang="de-DE" sz="1800" b="0" u="none" strike="noStrike">
              <a:solidFill>
                <a:srgbClr val="000000"/>
              </a:solidFill>
              <a:effectLst/>
              <a:uFillTx/>
              <a:latin typeface="Times New Roman"/>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9" name="PlaceHolder 1"/>
          <p:cNvSpPr>
            <a:spLocks noGrp="1" noRot="1" noChangeAspect="1"/>
          </p:cNvSpPr>
          <p:nvPr>
            <p:ph type="sldImg"/>
          </p:nvPr>
        </p:nvSpPr>
        <p:spPr>
          <a:xfrm>
            <a:off x="0" y="0"/>
            <a:ext cx="0" cy="0"/>
          </a:xfrm>
          <a:prstGeom prst="rect">
            <a:avLst/>
          </a:prstGeom>
          <a:ln w="0">
            <a:noFill/>
          </a:ln>
        </p:spPr>
      </p:sp>
      <p:sp>
        <p:nvSpPr>
          <p:cNvPr id="270" name="PlaceHolder 2"/>
          <p:cNvSpPr>
            <a:spLocks noGrp="1"/>
          </p:cNvSpPr>
          <p:nvPr>
            <p:ph type="body"/>
          </p:nvPr>
        </p:nvSpPr>
        <p:spPr>
          <a:xfrm>
            <a:off x="0" y="0"/>
            <a:ext cx="360" cy="360"/>
          </a:xfrm>
          <a:prstGeom prst="rect">
            <a:avLst/>
          </a:prstGeom>
          <a:noFill/>
          <a:ln w="0">
            <a:noFill/>
          </a:ln>
        </p:spPr>
        <p:txBody>
          <a:bodyPr lIns="0" tIns="-44640" rIns="0" bIns="-44640" anchor="t">
            <a:noAutofit/>
          </a:bodyPr>
          <a:lstStyle/>
          <a:p>
            <a:pPr indent="0" algn="l">
              <a:buNone/>
            </a:pPr>
            <a:r>
              <a:rPr lang="de-DE" sz="1800" dirty="0" err="1"/>
              <a:t>Now</a:t>
            </a:r>
            <a:r>
              <a:rPr lang="de-DE" sz="1800" dirty="0"/>
              <a:t> the </a:t>
            </a:r>
            <a:r>
              <a:rPr lang="de-DE" sz="1800" dirty="0" err="1"/>
              <a:t>digitizing</a:t>
            </a:r>
            <a:r>
              <a:rPr lang="de-DE" sz="1800" dirty="0"/>
              <a:t>. In the </a:t>
            </a:r>
            <a:r>
              <a:rPr lang="de-DE" sz="1800" dirty="0" err="1"/>
              <a:t>aerial</a:t>
            </a:r>
            <a:r>
              <a:rPr lang="de-DE" sz="1800" dirty="0"/>
              <a:t> </a:t>
            </a:r>
            <a:r>
              <a:rPr lang="de-DE" sz="1800" dirty="0" err="1"/>
              <a:t>photo</a:t>
            </a:r>
            <a:r>
              <a:rPr lang="de-DE" sz="1800" dirty="0"/>
              <a:t>, on the </a:t>
            </a:r>
            <a:r>
              <a:rPr lang="de-DE" sz="1800" dirty="0" err="1"/>
              <a:t>left</a:t>
            </a:r>
            <a:r>
              <a:rPr lang="de-DE" sz="1800" dirty="0"/>
              <a:t>, </a:t>
            </a:r>
            <a:r>
              <a:rPr lang="de-DE" sz="1800" dirty="0" err="1"/>
              <a:t>you</a:t>
            </a:r>
            <a:r>
              <a:rPr lang="de-DE" sz="1800" dirty="0"/>
              <a:t> </a:t>
            </a:r>
            <a:r>
              <a:rPr lang="de-DE" sz="1800" dirty="0" err="1"/>
              <a:t>can</a:t>
            </a:r>
            <a:r>
              <a:rPr lang="de-DE" sz="1800" dirty="0"/>
              <a:t> </a:t>
            </a:r>
            <a:r>
              <a:rPr lang="de-DE" sz="1800" dirty="0" err="1"/>
              <a:t>see</a:t>
            </a:r>
            <a:r>
              <a:rPr lang="de-DE" sz="1800" dirty="0"/>
              <a:t> </a:t>
            </a:r>
            <a:r>
              <a:rPr lang="de-DE" sz="1800" dirty="0" err="1"/>
              <a:t>these</a:t>
            </a:r>
            <a:r>
              <a:rPr lang="de-DE" sz="1800" dirty="0"/>
              <a:t> </a:t>
            </a:r>
            <a:r>
              <a:rPr lang="de-DE" sz="1800" dirty="0" err="1"/>
              <a:t>dark</a:t>
            </a:r>
            <a:r>
              <a:rPr lang="de-DE" sz="1800" dirty="0"/>
              <a:t> </a:t>
            </a:r>
            <a:r>
              <a:rPr lang="de-DE" sz="1800" dirty="0" err="1"/>
              <a:t>curved</a:t>
            </a:r>
            <a:r>
              <a:rPr lang="de-DE" sz="1800" dirty="0"/>
              <a:t> </a:t>
            </a:r>
            <a:r>
              <a:rPr lang="de-DE" sz="1800" dirty="0" err="1"/>
              <a:t>shapes</a:t>
            </a:r>
            <a:r>
              <a:rPr lang="de-DE" sz="1800" dirty="0"/>
              <a:t> — </a:t>
            </a:r>
            <a:r>
              <a:rPr lang="de-DE" sz="1800" dirty="0" err="1"/>
              <a:t>old</a:t>
            </a:r>
            <a:r>
              <a:rPr lang="de-DE" sz="1800" dirty="0"/>
              <a:t> </a:t>
            </a:r>
            <a:r>
              <a:rPr lang="de-DE" sz="1800" dirty="0" err="1"/>
              <a:t>cut</a:t>
            </a:r>
            <a:r>
              <a:rPr lang="de-DE" sz="1800" dirty="0"/>
              <a:t>-off </a:t>
            </a:r>
            <a:r>
              <a:rPr lang="de-DE" sz="1800" dirty="0" err="1"/>
              <a:t>meander</a:t>
            </a:r>
            <a:r>
              <a:rPr lang="de-DE" sz="1800" dirty="0"/>
              <a:t> </a:t>
            </a:r>
            <a:r>
              <a:rPr lang="de-DE" sz="1800" dirty="0" err="1"/>
              <a:t>loops</a:t>
            </a:r>
            <a:r>
              <a:rPr lang="de-DE" sz="1800" dirty="0"/>
              <a:t> of the Leine, </a:t>
            </a:r>
            <a:r>
              <a:rPr lang="de-DE" sz="1800" dirty="0" err="1"/>
              <a:t>called</a:t>
            </a:r>
            <a:r>
              <a:rPr lang="de-DE" sz="1800" dirty="0"/>
              <a:t> </a:t>
            </a:r>
            <a:r>
              <a:rPr lang="de-DE" sz="1800" dirty="0" err="1"/>
              <a:t>oxbows</a:t>
            </a:r>
            <a:r>
              <a:rPr lang="de-DE" sz="1800" dirty="0"/>
              <a:t>. </a:t>
            </a:r>
            <a:r>
              <a:rPr lang="de-DE" sz="1800" dirty="0" err="1"/>
              <a:t>They're</a:t>
            </a:r>
            <a:r>
              <a:rPr lang="de-DE" sz="1800" dirty="0"/>
              <a:t> </a:t>
            </a:r>
            <a:r>
              <a:rPr lang="de-DE" sz="1800" dirty="0" err="1"/>
              <a:t>treated</a:t>
            </a:r>
            <a:r>
              <a:rPr lang="de-DE" sz="1800" dirty="0"/>
              <a:t> as </a:t>
            </a:r>
            <a:r>
              <a:rPr lang="de-DE" sz="1800" dirty="0" err="1"/>
              <a:t>protected</a:t>
            </a:r>
            <a:r>
              <a:rPr lang="de-DE" sz="1800" dirty="0"/>
              <a:t> </a:t>
            </a:r>
            <a:r>
              <a:rPr lang="de-DE" sz="1800" dirty="0" err="1"/>
              <a:t>biotopes</a:t>
            </a:r>
            <a:r>
              <a:rPr lang="de-DE" sz="1800" dirty="0"/>
              <a:t> in </a:t>
            </a:r>
            <a:r>
              <a:rPr lang="de-DE" sz="1800" dirty="0" err="1"/>
              <a:t>our</a:t>
            </a:r>
            <a:r>
              <a:rPr lang="de-DE" sz="1800" dirty="0"/>
              <a:t> </a:t>
            </a:r>
            <a:r>
              <a:rPr lang="de-DE" sz="1800" dirty="0" err="1"/>
              <a:t>analysis</a:t>
            </a:r>
            <a:r>
              <a:rPr lang="de-DE" sz="1800" dirty="0"/>
              <a:t> so I created 7 </a:t>
            </a:r>
            <a:r>
              <a:rPr lang="de-DE" sz="1800" dirty="0" err="1"/>
              <a:t>layers</a:t>
            </a:r>
            <a:r>
              <a:rPr lang="de-DE" sz="1800" dirty="0"/>
              <a:t>. On the </a:t>
            </a:r>
            <a:r>
              <a:rPr lang="de-DE" sz="1800" dirty="0" err="1"/>
              <a:t>right</a:t>
            </a:r>
            <a:r>
              <a:rPr lang="de-DE" sz="1800" dirty="0"/>
              <a:t> </a:t>
            </a:r>
            <a:r>
              <a:rPr lang="de-DE" sz="1800" dirty="0" err="1"/>
              <a:t>is</a:t>
            </a:r>
            <a:r>
              <a:rPr lang="de-DE" sz="1800" dirty="0"/>
              <a:t> the </a:t>
            </a:r>
            <a:r>
              <a:rPr lang="de-DE" sz="1800" dirty="0" err="1"/>
              <a:t>result</a:t>
            </a:r>
            <a:r>
              <a:rPr lang="de-DE" sz="1800" dirty="0"/>
              <a:t>: I </a:t>
            </a:r>
            <a:r>
              <a:rPr lang="de-DE" sz="1800" dirty="0" err="1"/>
              <a:t>traced</a:t>
            </a:r>
            <a:r>
              <a:rPr lang="de-DE" sz="1800" dirty="0"/>
              <a:t> </a:t>
            </a:r>
            <a:r>
              <a:rPr lang="de-DE" sz="1800" dirty="0" err="1"/>
              <a:t>each</a:t>
            </a:r>
            <a:r>
              <a:rPr lang="de-DE" sz="1800" dirty="0"/>
              <a:t> loop by </a:t>
            </a:r>
            <a:r>
              <a:rPr lang="de-DE" sz="1800" dirty="0" err="1"/>
              <a:t>hand</a:t>
            </a:r>
            <a:r>
              <a:rPr lang="de-DE" sz="1800" dirty="0"/>
              <a:t> </a:t>
            </a:r>
            <a:r>
              <a:rPr lang="de-DE" sz="1800" dirty="0" err="1"/>
              <a:t>into</a:t>
            </a:r>
            <a:r>
              <a:rPr lang="de-DE" sz="1800" dirty="0"/>
              <a:t> a </a:t>
            </a:r>
            <a:r>
              <a:rPr lang="de-DE" sz="1800" dirty="0" err="1"/>
              <a:t>new</a:t>
            </a:r>
            <a:r>
              <a:rPr lang="de-DE" sz="1800" dirty="0"/>
              <a:t> </a:t>
            </a:r>
            <a:r>
              <a:rPr lang="de-DE" sz="1800" dirty="0" err="1"/>
              <a:t>polygon</a:t>
            </a:r>
            <a:r>
              <a:rPr lang="de-DE" sz="1800" dirty="0"/>
              <a:t> </a:t>
            </a:r>
            <a:r>
              <a:rPr lang="de-DE" sz="1800" dirty="0" err="1"/>
              <a:t>layer</a:t>
            </a:r>
            <a:r>
              <a:rPr lang="de-DE" sz="1800" dirty="0"/>
              <a:t> — </a:t>
            </a:r>
            <a:r>
              <a:rPr lang="de-DE" sz="1800" dirty="0" err="1"/>
              <a:t>seven</a:t>
            </a:r>
            <a:r>
              <a:rPr lang="de-DE" sz="1800" dirty="0"/>
              <a:t> </a:t>
            </a:r>
            <a:r>
              <a:rPr lang="de-DE" sz="1800" dirty="0" err="1"/>
              <a:t>polygons</a:t>
            </a:r>
            <a:r>
              <a:rPr lang="de-DE" sz="1800" dirty="0"/>
              <a:t>, </a:t>
            </a:r>
            <a:r>
              <a:rPr lang="de-DE" sz="1800" dirty="0" err="1"/>
              <a:t>saved</a:t>
            </a:r>
            <a:r>
              <a:rPr lang="de-DE" sz="1800" dirty="0"/>
              <a:t> as a </a:t>
            </a:r>
            <a:r>
              <a:rPr lang="de-DE" sz="1800" dirty="0" err="1"/>
              <a:t>GeoPackage</a:t>
            </a:r>
            <a:r>
              <a:rPr lang="de-DE" sz="1800" dirty="0"/>
              <a:t>. I </a:t>
            </a:r>
            <a:r>
              <a:rPr lang="de-DE" sz="1800" dirty="0" err="1"/>
              <a:t>didn't</a:t>
            </a:r>
            <a:r>
              <a:rPr lang="de-DE" sz="1800" dirty="0"/>
              <a:t> </a:t>
            </a:r>
            <a:r>
              <a:rPr lang="de-DE" sz="1800" dirty="0" err="1"/>
              <a:t>chase</a:t>
            </a:r>
            <a:r>
              <a:rPr lang="de-DE" sz="1800" dirty="0"/>
              <a:t> pixel-</a:t>
            </a:r>
            <a:r>
              <a:rPr lang="de-DE" sz="1800" dirty="0" err="1"/>
              <a:t>perfect</a:t>
            </a:r>
            <a:r>
              <a:rPr lang="de-DE" sz="1800" dirty="0"/>
              <a:t> </a:t>
            </a:r>
            <a:r>
              <a:rPr lang="de-DE" sz="1800" dirty="0" err="1"/>
              <a:t>edges</a:t>
            </a:r>
            <a:r>
              <a:rPr lang="de-DE" sz="1800" dirty="0"/>
              <a:t>, </a:t>
            </a:r>
            <a:r>
              <a:rPr lang="de-DE" sz="1800" dirty="0" err="1"/>
              <a:t>because</a:t>
            </a:r>
            <a:r>
              <a:rPr lang="de-DE" sz="1800" dirty="0"/>
              <a:t> </a:t>
            </a:r>
            <a:r>
              <a:rPr lang="de-DE" sz="1800" dirty="0" err="1"/>
              <a:t>these</a:t>
            </a:r>
            <a:r>
              <a:rPr lang="de-DE" sz="1800" dirty="0"/>
              <a:t> </a:t>
            </a:r>
            <a:r>
              <a:rPr lang="de-DE" sz="1800" dirty="0" err="1"/>
              <a:t>get</a:t>
            </a:r>
            <a:r>
              <a:rPr lang="de-DE" sz="1800" dirty="0"/>
              <a:t> a 200-metre </a:t>
            </a:r>
            <a:r>
              <a:rPr lang="de-DE" sz="1800" dirty="0" err="1"/>
              <a:t>protection</a:t>
            </a:r>
            <a:r>
              <a:rPr lang="de-DE" sz="1800" dirty="0"/>
              <a:t> </a:t>
            </a:r>
            <a:r>
              <a:rPr lang="de-DE" sz="1800" dirty="0" err="1"/>
              <a:t>buffer</a:t>
            </a:r>
            <a:r>
              <a:rPr lang="de-DE" sz="1800" dirty="0"/>
              <a:t> </a:t>
            </a:r>
            <a:r>
              <a:rPr lang="de-DE" sz="1800" dirty="0" err="1"/>
              <a:t>later</a:t>
            </a:r>
            <a:r>
              <a:rPr lang="de-DE" sz="1800" dirty="0"/>
              <a:t> </a:t>
            </a:r>
            <a:r>
              <a:rPr lang="de-DE" sz="1800" dirty="0" err="1"/>
              <a:t>anyway</a:t>
            </a:r>
            <a:r>
              <a:rPr lang="de-DE" sz="1800" dirty="0"/>
              <a:t>; </a:t>
            </a:r>
            <a:r>
              <a:rPr lang="de-DE" sz="1800" dirty="0" err="1"/>
              <a:t>what</a:t>
            </a:r>
            <a:r>
              <a:rPr lang="de-DE" sz="1800" dirty="0"/>
              <a:t> </a:t>
            </a:r>
            <a:r>
              <a:rPr lang="de-DE" sz="1800" dirty="0" err="1"/>
              <a:t>mattered</a:t>
            </a:r>
            <a:r>
              <a:rPr lang="de-DE" sz="1800" dirty="0"/>
              <a:t> was </a:t>
            </a:r>
            <a:r>
              <a:rPr lang="de-DE" sz="1800" dirty="0" err="1"/>
              <a:t>capturing</a:t>
            </a:r>
            <a:r>
              <a:rPr lang="de-DE" sz="1800" dirty="0"/>
              <a:t> the </a:t>
            </a:r>
            <a:r>
              <a:rPr lang="de-DE" sz="1800" dirty="0" err="1"/>
              <a:t>right</a:t>
            </a:r>
            <a:r>
              <a:rPr lang="de-DE" sz="1800" dirty="0"/>
              <a:t> </a:t>
            </a:r>
            <a:r>
              <a:rPr lang="de-DE" sz="1800" dirty="0" err="1"/>
              <a:t>water</a:t>
            </a:r>
            <a:r>
              <a:rPr lang="de-DE" sz="1800" dirty="0"/>
              <a:t> </a:t>
            </a:r>
            <a:r>
              <a:rPr lang="de-DE" sz="1800" dirty="0" err="1"/>
              <a:t>bodies</a:t>
            </a:r>
            <a:r>
              <a:rPr lang="de-DE" sz="1800" dirty="0"/>
              <a:t>.</a:t>
            </a:r>
            <a:endParaRPr lang="de-DE" sz="1800" b="0" u="none" strike="noStrike" dirty="0">
              <a:solidFill>
                <a:srgbClr val="000000"/>
              </a:solidFill>
              <a:effectLst/>
              <a:uFillTx/>
              <a:latin typeface="Arial"/>
            </a:endParaRPr>
          </a:p>
        </p:txBody>
      </p:sp>
      <p:sp>
        <p:nvSpPr>
          <p:cNvPr id="271" name="PlaceHolder 3"/>
          <p:cNvSpPr>
            <a:spLocks noGrp="1"/>
          </p:cNvSpPr>
          <p:nvPr>
            <p:ph type="sldNum" idx="9"/>
          </p:nvPr>
        </p:nvSpPr>
        <p:spPr>
          <a:xfrm>
            <a:off x="0" y="0"/>
            <a:ext cx="360" cy="360"/>
          </a:xfrm>
          <a:prstGeom prst="rect">
            <a:avLst/>
          </a:prstGeom>
          <a:noFill/>
          <a:ln w="0">
            <a:noFill/>
          </a:ln>
        </p:spPr>
        <p:txBody>
          <a:bodyPr lIns="0" tIns="-44640" rIns="0" bIns="-44640" anchor="t">
            <a:noAutofit/>
          </a:bodyPr>
          <a:lstStyle>
            <a:lvl1pPr indent="0" algn="l" defTabSz="914400">
              <a:lnSpc>
                <a:spcPct val="100000"/>
              </a:lnSpc>
              <a:buNone/>
              <a:tabLst>
                <a:tab pos="0" algn="l"/>
              </a:tabLst>
              <a:defRPr lang="en-US" sz="1800" b="0" u="none" strike="noStrike">
                <a:solidFill>
                  <a:schemeClr val="dk1"/>
                </a:solidFill>
                <a:effectLst/>
                <a:uFillTx/>
                <a:latin typeface="+mn-lt"/>
                <a:ea typeface="+mn-ea"/>
              </a:defRPr>
            </a:lvl1pPr>
          </a:lstStyle>
          <a:p>
            <a:pPr indent="0" algn="l" defTabSz="914400">
              <a:lnSpc>
                <a:spcPct val="100000"/>
              </a:lnSpc>
              <a:buNone/>
              <a:tabLst>
                <a:tab pos="0" algn="l"/>
              </a:tabLst>
            </a:pPr>
            <a:fld id="{B61D0AB0-DA77-4861-A2B5-15AF8F1FC8CB}" type="slidenum">
              <a:rPr lang="en-US" sz="1800" b="0" u="none" strike="noStrike">
                <a:solidFill>
                  <a:schemeClr val="dk1"/>
                </a:solidFill>
                <a:effectLst/>
                <a:uFillTx/>
                <a:latin typeface="+mn-lt"/>
                <a:ea typeface="+mn-ea"/>
              </a:rPr>
              <a:t>6</a:t>
            </a:fld>
            <a:endParaRPr lang="de-DE" sz="1800" b="0" u="none" strike="noStrike">
              <a:solidFill>
                <a:srgbClr val="000000"/>
              </a:solidFill>
              <a:effectLst/>
              <a:uFillTx/>
              <a:latin typeface="Times New Roman"/>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2" name="PlaceHolder 1"/>
          <p:cNvSpPr>
            <a:spLocks noGrp="1" noRot="1" noChangeAspect="1"/>
          </p:cNvSpPr>
          <p:nvPr>
            <p:ph type="sldImg"/>
          </p:nvPr>
        </p:nvSpPr>
        <p:spPr>
          <a:xfrm>
            <a:off x="0" y="0"/>
            <a:ext cx="0" cy="0"/>
          </a:xfrm>
          <a:prstGeom prst="rect">
            <a:avLst/>
          </a:prstGeom>
          <a:ln w="0">
            <a:noFill/>
          </a:ln>
        </p:spPr>
      </p:sp>
      <p:sp>
        <p:nvSpPr>
          <p:cNvPr id="273" name="PlaceHolder 2"/>
          <p:cNvSpPr>
            <a:spLocks noGrp="1"/>
          </p:cNvSpPr>
          <p:nvPr>
            <p:ph type="body"/>
          </p:nvPr>
        </p:nvSpPr>
        <p:spPr>
          <a:xfrm>
            <a:off x="0" y="0"/>
            <a:ext cx="360" cy="360"/>
          </a:xfrm>
          <a:prstGeom prst="rect">
            <a:avLst/>
          </a:prstGeom>
          <a:noFill/>
          <a:ln w="0">
            <a:noFill/>
          </a:ln>
        </p:spPr>
        <p:txBody>
          <a:bodyPr lIns="0" tIns="-44640" rIns="0" bIns="-44640" anchor="t">
            <a:noAutofit/>
          </a:bodyPr>
          <a:lstStyle/>
          <a:p>
            <a:pPr indent="0" algn="l">
              <a:buNone/>
            </a:pPr>
            <a:r>
              <a:rPr lang="de-DE" sz="1800" dirty="0"/>
              <a:t>The last step in </a:t>
            </a:r>
            <a:r>
              <a:rPr lang="de-DE" sz="1800" dirty="0" err="1"/>
              <a:t>my</a:t>
            </a:r>
            <a:r>
              <a:rPr lang="de-DE" sz="1800" dirty="0"/>
              <a:t> </a:t>
            </a:r>
            <a:r>
              <a:rPr lang="de-DE" sz="1800" dirty="0" err="1"/>
              <a:t>part</a:t>
            </a:r>
            <a:r>
              <a:rPr lang="de-DE" sz="1800" dirty="0"/>
              <a:t> was the </a:t>
            </a:r>
            <a:r>
              <a:rPr lang="de-DE" sz="1800" dirty="0" err="1"/>
              <a:t>first</a:t>
            </a:r>
            <a:r>
              <a:rPr lang="de-DE" sz="1800" dirty="0"/>
              <a:t> </a:t>
            </a:r>
            <a:r>
              <a:rPr lang="de-DE" sz="1800" dirty="0" err="1"/>
              <a:t>map</a:t>
            </a:r>
            <a:r>
              <a:rPr lang="de-DE" sz="1800" dirty="0"/>
              <a:t> — the Digital Landscape Model. In the </a:t>
            </a:r>
            <a:r>
              <a:rPr lang="de-DE" sz="1800" dirty="0" err="1"/>
              <a:t>print</a:t>
            </a:r>
            <a:r>
              <a:rPr lang="de-DE" sz="1800" dirty="0"/>
              <a:t> </a:t>
            </a:r>
            <a:r>
              <a:rPr lang="de-DE" sz="1800" dirty="0" err="1"/>
              <a:t>layout</a:t>
            </a:r>
            <a:r>
              <a:rPr lang="de-DE" sz="1800" dirty="0"/>
              <a:t> I </a:t>
            </a:r>
            <a:r>
              <a:rPr lang="de-DE" sz="1800" dirty="0" err="1"/>
              <a:t>brought</a:t>
            </a:r>
            <a:r>
              <a:rPr lang="de-DE" sz="1800" dirty="0"/>
              <a:t> </a:t>
            </a:r>
            <a:r>
              <a:rPr lang="de-DE" sz="1800" dirty="0" err="1"/>
              <a:t>everything</a:t>
            </a:r>
            <a:r>
              <a:rPr lang="de-DE" sz="1800" dirty="0"/>
              <a:t> </a:t>
            </a:r>
            <a:r>
              <a:rPr lang="de-DE" sz="1800" dirty="0" err="1"/>
              <a:t>together</a:t>
            </a:r>
            <a:r>
              <a:rPr lang="de-DE" sz="1800" dirty="0"/>
              <a:t>: all the </a:t>
            </a:r>
            <a:r>
              <a:rPr lang="de-DE" sz="1800" dirty="0" err="1"/>
              <a:t>data</a:t>
            </a:r>
            <a:r>
              <a:rPr lang="de-DE" sz="1800" dirty="0"/>
              <a:t> </a:t>
            </a:r>
            <a:r>
              <a:rPr lang="de-DE" sz="1800" dirty="0" err="1"/>
              <a:t>layers</a:t>
            </a:r>
            <a:r>
              <a:rPr lang="de-DE" sz="1800" dirty="0"/>
              <a:t>, the </a:t>
            </a:r>
            <a:r>
              <a:rPr lang="de-DE" sz="1800" dirty="0" err="1"/>
              <a:t>georeferenced</a:t>
            </a:r>
            <a:r>
              <a:rPr lang="de-DE" sz="1800" dirty="0"/>
              <a:t> </a:t>
            </a:r>
            <a:r>
              <a:rPr lang="de-DE" sz="1800" dirty="0" err="1"/>
              <a:t>aerial</a:t>
            </a:r>
            <a:r>
              <a:rPr lang="de-DE" sz="1800" dirty="0"/>
              <a:t> </a:t>
            </a:r>
            <a:r>
              <a:rPr lang="de-DE" sz="1800" dirty="0" err="1"/>
              <a:t>photo</a:t>
            </a:r>
            <a:r>
              <a:rPr lang="de-DE" sz="1800" dirty="0"/>
              <a:t>, and the </a:t>
            </a:r>
            <a:r>
              <a:rPr lang="de-DE" sz="1800" dirty="0" err="1"/>
              <a:t>oxbows</a:t>
            </a:r>
            <a:r>
              <a:rPr lang="de-DE" sz="1800" dirty="0"/>
              <a:t> </a:t>
            </a:r>
            <a:r>
              <a:rPr lang="de-DE" sz="1800" dirty="0" err="1"/>
              <a:t>I'd</a:t>
            </a:r>
            <a:r>
              <a:rPr lang="de-DE" sz="1800" dirty="0"/>
              <a:t> just </a:t>
            </a:r>
            <a:r>
              <a:rPr lang="de-DE" sz="1800" dirty="0" err="1"/>
              <a:t>digitized</a:t>
            </a:r>
            <a:r>
              <a:rPr lang="de-DE" sz="1800" dirty="0"/>
              <a:t>. I </a:t>
            </a:r>
            <a:r>
              <a:rPr lang="de-DE" sz="1800" dirty="0" err="1"/>
              <a:t>styled</a:t>
            </a:r>
            <a:r>
              <a:rPr lang="de-DE" sz="1800" dirty="0"/>
              <a:t> the </a:t>
            </a:r>
            <a:r>
              <a:rPr lang="de-DE" sz="1800" dirty="0" err="1"/>
              <a:t>roads</a:t>
            </a:r>
            <a:r>
              <a:rPr lang="de-DE" sz="1800" dirty="0"/>
              <a:t> by </a:t>
            </a:r>
            <a:r>
              <a:rPr lang="de-DE" sz="1800" dirty="0" err="1"/>
              <a:t>class</a:t>
            </a:r>
            <a:r>
              <a:rPr lang="de-DE" sz="1800" dirty="0"/>
              <a:t> so the </a:t>
            </a:r>
            <a:r>
              <a:rPr lang="de-DE" sz="1800" dirty="0" err="1"/>
              <a:t>hierarchy</a:t>
            </a:r>
            <a:r>
              <a:rPr lang="de-DE" sz="1800" dirty="0"/>
              <a:t> </a:t>
            </a:r>
            <a:r>
              <a:rPr lang="de-DE" sz="1800" dirty="0" err="1"/>
              <a:t>is</a:t>
            </a:r>
            <a:r>
              <a:rPr lang="de-DE" sz="1800" dirty="0"/>
              <a:t> </a:t>
            </a:r>
            <a:r>
              <a:rPr lang="de-DE" sz="1800" dirty="0" err="1"/>
              <a:t>readable</a:t>
            </a:r>
            <a:r>
              <a:rPr lang="de-DE" sz="1800" dirty="0"/>
              <a:t>, </a:t>
            </a:r>
            <a:r>
              <a:rPr lang="de-DE" sz="1800" dirty="0" err="1"/>
              <a:t>added</a:t>
            </a:r>
            <a:r>
              <a:rPr lang="de-DE" sz="1800" dirty="0"/>
              <a:t> a title, legend, </a:t>
            </a:r>
            <a:r>
              <a:rPr lang="de-DE" sz="1800" dirty="0" err="1"/>
              <a:t>scale</a:t>
            </a:r>
            <a:r>
              <a:rPr lang="de-DE" sz="1800" dirty="0"/>
              <a:t> bar and </a:t>
            </a:r>
            <a:r>
              <a:rPr lang="de-DE" sz="1800" dirty="0" err="1"/>
              <a:t>north</a:t>
            </a:r>
            <a:r>
              <a:rPr lang="de-DE" sz="1800" dirty="0"/>
              <a:t> </a:t>
            </a:r>
            <a:r>
              <a:rPr lang="de-DE" sz="1800" dirty="0" err="1"/>
              <a:t>arrow</a:t>
            </a:r>
            <a:r>
              <a:rPr lang="de-DE" sz="1800" dirty="0"/>
              <a:t>, and </a:t>
            </a:r>
            <a:r>
              <a:rPr lang="de-DE" sz="1800" dirty="0" err="1"/>
              <a:t>exported</a:t>
            </a:r>
            <a:r>
              <a:rPr lang="de-DE" sz="1800" dirty="0"/>
              <a:t> it as a PDF. This </a:t>
            </a:r>
            <a:r>
              <a:rPr lang="de-DE" sz="1800" dirty="0" err="1"/>
              <a:t>is</a:t>
            </a:r>
            <a:r>
              <a:rPr lang="de-DE" sz="1800" dirty="0"/>
              <a:t> the </a:t>
            </a:r>
            <a:r>
              <a:rPr lang="de-DE" sz="1800" dirty="0" err="1"/>
              <a:t>map</a:t>
            </a:r>
            <a:r>
              <a:rPr lang="de-DE" sz="1800" dirty="0"/>
              <a:t> on screen.</a:t>
            </a:r>
            <a:endParaRPr lang="de-DE" sz="1800" b="0" u="none" strike="noStrike" dirty="0">
              <a:solidFill>
                <a:srgbClr val="000000"/>
              </a:solidFill>
              <a:effectLst/>
              <a:uFillTx/>
              <a:latin typeface="Arial"/>
            </a:endParaRPr>
          </a:p>
        </p:txBody>
      </p:sp>
      <p:sp>
        <p:nvSpPr>
          <p:cNvPr id="274" name="PlaceHolder 3"/>
          <p:cNvSpPr>
            <a:spLocks noGrp="1"/>
          </p:cNvSpPr>
          <p:nvPr>
            <p:ph type="sldNum" idx="10"/>
          </p:nvPr>
        </p:nvSpPr>
        <p:spPr>
          <a:xfrm>
            <a:off x="0" y="0"/>
            <a:ext cx="360" cy="360"/>
          </a:xfrm>
          <a:prstGeom prst="rect">
            <a:avLst/>
          </a:prstGeom>
          <a:noFill/>
          <a:ln w="0">
            <a:noFill/>
          </a:ln>
        </p:spPr>
        <p:txBody>
          <a:bodyPr lIns="0" tIns="-44640" rIns="0" bIns="-44640" anchor="t">
            <a:noAutofit/>
          </a:bodyPr>
          <a:lstStyle>
            <a:lvl1pPr indent="0" algn="l" defTabSz="914400">
              <a:lnSpc>
                <a:spcPct val="100000"/>
              </a:lnSpc>
              <a:buNone/>
              <a:tabLst>
                <a:tab pos="0" algn="l"/>
              </a:tabLst>
              <a:defRPr lang="en-US" sz="1800" b="0" u="none" strike="noStrike">
                <a:solidFill>
                  <a:schemeClr val="dk1"/>
                </a:solidFill>
                <a:effectLst/>
                <a:uFillTx/>
                <a:latin typeface="+mn-lt"/>
                <a:ea typeface="+mn-ea"/>
              </a:defRPr>
            </a:lvl1pPr>
          </a:lstStyle>
          <a:p>
            <a:pPr indent="0" algn="l" defTabSz="914400">
              <a:lnSpc>
                <a:spcPct val="100000"/>
              </a:lnSpc>
              <a:buNone/>
              <a:tabLst>
                <a:tab pos="0" algn="l"/>
              </a:tabLst>
            </a:pPr>
            <a:fld id="{83F40BC5-546F-4CCF-A851-C1DED0EF93E0}" type="slidenum">
              <a:rPr lang="en-US" sz="1800" b="0" u="none" strike="noStrike">
                <a:solidFill>
                  <a:schemeClr val="dk1"/>
                </a:solidFill>
                <a:effectLst/>
                <a:uFillTx/>
                <a:latin typeface="+mn-lt"/>
                <a:ea typeface="+mn-ea"/>
              </a:rPr>
              <a:t>7</a:t>
            </a:fld>
            <a:endParaRPr lang="de-DE" sz="1800" b="0" u="none" strike="noStrike">
              <a:solidFill>
                <a:srgbClr val="000000"/>
              </a:solidFill>
              <a:effectLst/>
              <a:uFillTx/>
              <a:latin typeface="Times New Roman"/>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5" name="PlaceHolder 1"/>
          <p:cNvSpPr>
            <a:spLocks noGrp="1" noRot="1" noChangeAspect="1"/>
          </p:cNvSpPr>
          <p:nvPr>
            <p:ph type="sldImg"/>
          </p:nvPr>
        </p:nvSpPr>
        <p:spPr>
          <a:xfrm>
            <a:off x="0" y="0"/>
            <a:ext cx="0" cy="0"/>
          </a:xfrm>
          <a:prstGeom prst="rect">
            <a:avLst/>
          </a:prstGeom>
          <a:ln w="0">
            <a:noFill/>
          </a:ln>
        </p:spPr>
      </p:sp>
      <p:sp>
        <p:nvSpPr>
          <p:cNvPr id="276" name="PlaceHolder 2"/>
          <p:cNvSpPr>
            <a:spLocks noGrp="1"/>
          </p:cNvSpPr>
          <p:nvPr>
            <p:ph type="body"/>
          </p:nvPr>
        </p:nvSpPr>
        <p:spPr>
          <a:xfrm>
            <a:off x="0" y="0"/>
            <a:ext cx="360" cy="360"/>
          </a:xfrm>
          <a:prstGeom prst="rect">
            <a:avLst/>
          </a:prstGeom>
          <a:noFill/>
          <a:ln w="0">
            <a:noFill/>
          </a:ln>
        </p:spPr>
        <p:txBody>
          <a:bodyPr lIns="0" tIns="-44640" rIns="0" bIns="-44640" anchor="t">
            <a:noAutofit/>
          </a:bodyPr>
          <a:lstStyle/>
          <a:p>
            <a:pPr indent="0" algn="l">
              <a:buNone/>
            </a:pPr>
            <a:r>
              <a:rPr lang="de-DE" sz="1800" dirty="0"/>
              <a:t>To </a:t>
            </a:r>
            <a:r>
              <a:rPr lang="de-DE" sz="1800" dirty="0" err="1"/>
              <a:t>sum</a:t>
            </a:r>
            <a:r>
              <a:rPr lang="de-DE" sz="1800" dirty="0"/>
              <a:t> </a:t>
            </a:r>
            <a:r>
              <a:rPr lang="de-DE" sz="1800" dirty="0" err="1"/>
              <a:t>up</a:t>
            </a:r>
            <a:r>
              <a:rPr lang="de-DE" sz="1800" dirty="0"/>
              <a:t> </a:t>
            </a:r>
            <a:r>
              <a:rPr lang="de-DE" sz="1800" dirty="0" err="1"/>
              <a:t>my</a:t>
            </a:r>
            <a:r>
              <a:rPr lang="de-DE" sz="1800" dirty="0"/>
              <a:t> </a:t>
            </a:r>
            <a:r>
              <a:rPr lang="de-DE" sz="1800" dirty="0" err="1"/>
              <a:t>stage</a:t>
            </a:r>
            <a:r>
              <a:rPr lang="de-DE" sz="1800" dirty="0"/>
              <a:t>: </a:t>
            </a:r>
            <a:r>
              <a:rPr lang="de-DE" sz="1800" dirty="0" err="1"/>
              <a:t>seven</a:t>
            </a:r>
            <a:r>
              <a:rPr lang="de-DE" sz="1800" dirty="0"/>
              <a:t> </a:t>
            </a:r>
            <a:r>
              <a:rPr lang="de-DE" sz="1800" dirty="0" err="1"/>
              <a:t>layers</a:t>
            </a:r>
            <a:r>
              <a:rPr lang="de-DE" sz="1800" dirty="0"/>
              <a:t> </a:t>
            </a:r>
            <a:r>
              <a:rPr lang="de-DE" sz="1800" dirty="0" err="1"/>
              <a:t>prepared</a:t>
            </a:r>
            <a:r>
              <a:rPr lang="de-DE" sz="1800" dirty="0"/>
              <a:t> and </a:t>
            </a:r>
            <a:r>
              <a:rPr lang="de-DE" sz="1800" dirty="0" err="1"/>
              <a:t>verified</a:t>
            </a:r>
            <a:r>
              <a:rPr lang="de-DE" sz="1800" dirty="0"/>
              <a:t> in the </a:t>
            </a:r>
            <a:r>
              <a:rPr lang="de-DE" sz="1800" dirty="0" err="1"/>
              <a:t>correct</a:t>
            </a:r>
            <a:r>
              <a:rPr lang="de-DE" sz="1800" dirty="0"/>
              <a:t> </a:t>
            </a:r>
            <a:r>
              <a:rPr lang="de-DE" sz="1800" dirty="0" err="1"/>
              <a:t>coordinate</a:t>
            </a:r>
            <a:r>
              <a:rPr lang="de-DE" sz="1800" dirty="0"/>
              <a:t> </a:t>
            </a:r>
            <a:r>
              <a:rPr lang="de-DE" sz="1800" dirty="0" err="1"/>
              <a:t>system</a:t>
            </a:r>
            <a:r>
              <a:rPr lang="de-DE" sz="1800" dirty="0"/>
              <a:t>, the </a:t>
            </a:r>
            <a:r>
              <a:rPr lang="de-DE" sz="1800" dirty="0" err="1"/>
              <a:t>aerial</a:t>
            </a:r>
            <a:r>
              <a:rPr lang="de-DE" sz="1800" dirty="0"/>
              <a:t> </a:t>
            </a:r>
            <a:r>
              <a:rPr lang="de-DE" sz="1800" dirty="0" err="1"/>
              <a:t>photo</a:t>
            </a:r>
            <a:r>
              <a:rPr lang="de-DE" sz="1800" dirty="0"/>
              <a:t> </a:t>
            </a:r>
            <a:r>
              <a:rPr lang="de-DE" sz="1800" dirty="0" err="1"/>
              <a:t>georeferenced</a:t>
            </a:r>
            <a:r>
              <a:rPr lang="de-DE" sz="1800" dirty="0"/>
              <a:t> to </a:t>
            </a:r>
            <a:r>
              <a:rPr lang="de-DE" sz="1800" dirty="0" err="1"/>
              <a:t>about</a:t>
            </a:r>
            <a:r>
              <a:rPr lang="de-DE" sz="1800" dirty="0"/>
              <a:t> 5 </a:t>
            </a:r>
            <a:r>
              <a:rPr lang="de-DE" sz="1800" dirty="0" err="1"/>
              <a:t>pixels</a:t>
            </a:r>
            <a:r>
              <a:rPr lang="de-DE" sz="1800" dirty="0"/>
              <a:t>, </a:t>
            </a:r>
            <a:r>
              <a:rPr lang="de-DE" sz="1800" dirty="0" err="1"/>
              <a:t>seven</a:t>
            </a:r>
            <a:r>
              <a:rPr lang="de-DE" sz="1800" dirty="0"/>
              <a:t> </a:t>
            </a:r>
            <a:r>
              <a:rPr lang="de-DE" sz="1800" dirty="0" err="1"/>
              <a:t>oxbow</a:t>
            </a:r>
            <a:r>
              <a:rPr lang="de-DE" sz="1800" dirty="0"/>
              <a:t> </a:t>
            </a:r>
            <a:r>
              <a:rPr lang="de-DE" sz="1800" dirty="0" err="1"/>
              <a:t>polygons</a:t>
            </a:r>
            <a:r>
              <a:rPr lang="de-DE" sz="1800" dirty="0"/>
              <a:t> </a:t>
            </a:r>
            <a:r>
              <a:rPr lang="de-DE" sz="1800" dirty="0" err="1"/>
              <a:t>digitized</a:t>
            </a:r>
            <a:r>
              <a:rPr lang="de-DE" sz="1800" dirty="0"/>
              <a:t>, and the </a:t>
            </a:r>
            <a:r>
              <a:rPr lang="de-DE" sz="1800" dirty="0" err="1"/>
              <a:t>first</a:t>
            </a:r>
            <a:r>
              <a:rPr lang="de-DE" sz="1800" dirty="0"/>
              <a:t> </a:t>
            </a:r>
            <a:r>
              <a:rPr lang="de-DE" sz="1800" dirty="0" err="1"/>
              <a:t>map</a:t>
            </a:r>
            <a:r>
              <a:rPr lang="de-DE" sz="1800" dirty="0"/>
              <a:t> </a:t>
            </a:r>
            <a:r>
              <a:rPr lang="de-DE" sz="1800" dirty="0" err="1"/>
              <a:t>produced</a:t>
            </a:r>
            <a:r>
              <a:rPr lang="de-DE" sz="1800"/>
              <a:t>. </a:t>
            </a:r>
            <a:endParaRPr lang="de-DE" sz="1800" b="0" u="none" strike="noStrike" dirty="0">
              <a:solidFill>
                <a:srgbClr val="000000"/>
              </a:solidFill>
              <a:effectLst/>
              <a:uFillTx/>
              <a:latin typeface="Arial"/>
            </a:endParaRPr>
          </a:p>
        </p:txBody>
      </p:sp>
      <p:sp>
        <p:nvSpPr>
          <p:cNvPr id="277" name="PlaceHolder 3"/>
          <p:cNvSpPr>
            <a:spLocks noGrp="1"/>
          </p:cNvSpPr>
          <p:nvPr>
            <p:ph type="sldNum" idx="11"/>
          </p:nvPr>
        </p:nvSpPr>
        <p:spPr>
          <a:xfrm>
            <a:off x="0" y="0"/>
            <a:ext cx="360" cy="360"/>
          </a:xfrm>
          <a:prstGeom prst="rect">
            <a:avLst/>
          </a:prstGeom>
          <a:noFill/>
          <a:ln w="0">
            <a:noFill/>
          </a:ln>
        </p:spPr>
        <p:txBody>
          <a:bodyPr lIns="0" tIns="-44640" rIns="0" bIns="-44640" anchor="t">
            <a:noAutofit/>
          </a:bodyPr>
          <a:lstStyle>
            <a:lvl1pPr indent="0" algn="l" defTabSz="914400">
              <a:lnSpc>
                <a:spcPct val="100000"/>
              </a:lnSpc>
              <a:buNone/>
              <a:tabLst>
                <a:tab pos="0" algn="l"/>
              </a:tabLst>
              <a:defRPr lang="en-US" sz="1800" b="0" u="none" strike="noStrike">
                <a:solidFill>
                  <a:schemeClr val="dk1"/>
                </a:solidFill>
                <a:effectLst/>
                <a:uFillTx/>
                <a:latin typeface="+mn-lt"/>
                <a:ea typeface="+mn-ea"/>
              </a:defRPr>
            </a:lvl1pPr>
          </a:lstStyle>
          <a:p>
            <a:pPr indent="0" algn="l" defTabSz="914400">
              <a:lnSpc>
                <a:spcPct val="100000"/>
              </a:lnSpc>
              <a:buNone/>
              <a:tabLst>
                <a:tab pos="0" algn="l"/>
              </a:tabLst>
            </a:pPr>
            <a:fld id="{10D145AE-6CA0-49E1-BAAC-67BA51929F69}" type="slidenum">
              <a:rPr lang="en-US" sz="1800" b="0" u="none" strike="noStrike">
                <a:solidFill>
                  <a:schemeClr val="dk1"/>
                </a:solidFill>
                <a:effectLst/>
                <a:uFillTx/>
                <a:latin typeface="+mn-lt"/>
                <a:ea typeface="+mn-ea"/>
              </a:rPr>
              <a:t>8</a:t>
            </a:fld>
            <a:endParaRPr lang="de-DE" sz="1800" b="0" u="none" strike="noStrike">
              <a:solidFill>
                <a:srgbClr val="000000"/>
              </a:solidFill>
              <a:effectLst/>
              <a:uFillTx/>
              <a:latin typeface="Times New Roman"/>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8" name="PlaceHolder 1"/>
          <p:cNvSpPr>
            <a:spLocks noGrp="1" noRot="1" noChangeAspect="1"/>
          </p:cNvSpPr>
          <p:nvPr>
            <p:ph type="sldImg"/>
          </p:nvPr>
        </p:nvSpPr>
        <p:spPr>
          <a:xfrm>
            <a:off x="685800" y="1143000"/>
            <a:ext cx="5485680" cy="3085560"/>
          </a:xfrm>
          <a:prstGeom prst="rect">
            <a:avLst/>
          </a:prstGeom>
          <a:ln w="0">
            <a:noFill/>
          </a:ln>
        </p:spPr>
      </p:sp>
      <p:sp>
        <p:nvSpPr>
          <p:cNvPr id="279" name="PlaceHolder 2"/>
          <p:cNvSpPr>
            <a:spLocks noGrp="1"/>
          </p:cNvSpPr>
          <p:nvPr>
            <p:ph type="body"/>
          </p:nvPr>
        </p:nvSpPr>
        <p:spPr>
          <a:xfrm>
            <a:off x="685800" y="4400640"/>
            <a:ext cx="5485680" cy="3599640"/>
          </a:xfrm>
          <a:prstGeom prst="rect">
            <a:avLst/>
          </a:prstGeom>
          <a:noFill/>
          <a:ln w="0">
            <a:noFill/>
          </a:ln>
        </p:spPr>
        <p:txBody>
          <a:bodyPr lIns="91440" tIns="45720" rIns="91440" bIns="45720" anchor="t">
            <a:noAutofit/>
          </a:bodyPr>
          <a:lstStyle/>
          <a:p>
            <a:pPr indent="0" algn="l">
              <a:buNone/>
            </a:pPr>
            <a:endParaRPr lang="de-DE" sz="1800" b="0" u="none" strike="noStrike">
              <a:solidFill>
                <a:srgbClr val="000000"/>
              </a:solidFill>
              <a:effectLst/>
              <a:uFillTx/>
              <a:latin typeface="Arial"/>
            </a:endParaRPr>
          </a:p>
        </p:txBody>
      </p:sp>
      <p:sp>
        <p:nvSpPr>
          <p:cNvPr id="280" name="PlaceHolder 3"/>
          <p:cNvSpPr>
            <a:spLocks noGrp="1"/>
          </p:cNvSpPr>
          <p:nvPr>
            <p:ph type="sldNum" idx="12"/>
          </p:nvPr>
        </p:nvSpPr>
        <p:spPr>
          <a:xfrm>
            <a:off x="3884760" y="8685360"/>
            <a:ext cx="2971080" cy="45792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33344D0B-F649-4A68-952E-37C6CDFC42D6}" type="slidenum">
              <a:rPr lang="en-US" sz="1200" b="0" u="none" strike="noStrike">
                <a:solidFill>
                  <a:schemeClr val="dk1"/>
                </a:solidFill>
                <a:effectLst/>
                <a:uFillTx/>
                <a:latin typeface="+mn-lt"/>
                <a:ea typeface="+mn-ea"/>
              </a:rPr>
              <a:t>9</a:t>
            </a:fld>
            <a:endParaRPr lang="de-DE" sz="1200" b="0" u="none" strike="noStrike">
              <a:solidFill>
                <a:srgbClr val="000000"/>
              </a:solidFill>
              <a:effectLst/>
              <a:uFillTx/>
              <a:latin typeface="Times New Roman"/>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1" name="PlaceHolder 1"/>
          <p:cNvSpPr>
            <a:spLocks noGrp="1" noRot="1" noChangeAspect="1"/>
          </p:cNvSpPr>
          <p:nvPr>
            <p:ph type="sldImg"/>
          </p:nvPr>
        </p:nvSpPr>
        <p:spPr>
          <a:xfrm>
            <a:off x="685800" y="1143000"/>
            <a:ext cx="5485680" cy="3085560"/>
          </a:xfrm>
          <a:prstGeom prst="rect">
            <a:avLst/>
          </a:prstGeom>
          <a:ln w="0">
            <a:noFill/>
          </a:ln>
        </p:spPr>
      </p:sp>
      <p:sp>
        <p:nvSpPr>
          <p:cNvPr id="282" name="PlaceHolder 2"/>
          <p:cNvSpPr>
            <a:spLocks noGrp="1"/>
          </p:cNvSpPr>
          <p:nvPr>
            <p:ph type="body"/>
          </p:nvPr>
        </p:nvSpPr>
        <p:spPr>
          <a:xfrm>
            <a:off x="685800" y="4400640"/>
            <a:ext cx="5485680" cy="3599640"/>
          </a:xfrm>
          <a:prstGeom prst="rect">
            <a:avLst/>
          </a:prstGeom>
          <a:noFill/>
          <a:ln w="0">
            <a:noFill/>
          </a:ln>
        </p:spPr>
        <p:txBody>
          <a:bodyPr lIns="91440" tIns="45720" rIns="91440" bIns="45720" anchor="t">
            <a:noAutofit/>
          </a:bodyPr>
          <a:lstStyle/>
          <a:p>
            <a:pPr indent="0" algn="l">
              <a:buNone/>
            </a:pPr>
            <a:endParaRPr lang="de-DE" sz="1800" b="0" u="none" strike="noStrike">
              <a:solidFill>
                <a:srgbClr val="000000"/>
              </a:solidFill>
              <a:effectLst/>
              <a:uFillTx/>
              <a:latin typeface="Arial"/>
            </a:endParaRPr>
          </a:p>
        </p:txBody>
      </p:sp>
      <p:sp>
        <p:nvSpPr>
          <p:cNvPr id="283" name="PlaceHolder 3"/>
          <p:cNvSpPr>
            <a:spLocks noGrp="1"/>
          </p:cNvSpPr>
          <p:nvPr>
            <p:ph type="sldNum" idx="13"/>
          </p:nvPr>
        </p:nvSpPr>
        <p:spPr>
          <a:xfrm>
            <a:off x="3884760" y="8685360"/>
            <a:ext cx="2971080" cy="45792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DDB0E2DF-3820-4BC8-B3CC-F336F970B4FE}" type="slidenum">
              <a:rPr lang="en-US" sz="1200" b="0" u="none" strike="noStrike">
                <a:solidFill>
                  <a:schemeClr val="dk1"/>
                </a:solidFill>
                <a:effectLst/>
                <a:uFillTx/>
                <a:latin typeface="+mn-lt"/>
                <a:ea typeface="+mn-ea"/>
              </a:rPr>
              <a:t>10</a:t>
            </a:fld>
            <a:endParaRPr lang="de-DE" sz="1200" b="0" u="none" strike="noStrike">
              <a:solidFill>
                <a:srgbClr val="000000"/>
              </a:solidFill>
              <a:effectLst/>
              <a:uFillTx/>
              <a:latin typeface="Times New Roman"/>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4" name="PlaceHolder 1"/>
          <p:cNvSpPr>
            <a:spLocks noGrp="1" noRot="1" noChangeAspect="1"/>
          </p:cNvSpPr>
          <p:nvPr>
            <p:ph type="sldImg"/>
          </p:nvPr>
        </p:nvSpPr>
        <p:spPr>
          <a:xfrm>
            <a:off x="685800" y="1143000"/>
            <a:ext cx="5485680" cy="3085560"/>
          </a:xfrm>
          <a:prstGeom prst="rect">
            <a:avLst/>
          </a:prstGeom>
          <a:ln w="0">
            <a:noFill/>
          </a:ln>
        </p:spPr>
      </p:sp>
      <p:sp>
        <p:nvSpPr>
          <p:cNvPr id="285" name="PlaceHolder 2"/>
          <p:cNvSpPr>
            <a:spLocks noGrp="1"/>
          </p:cNvSpPr>
          <p:nvPr>
            <p:ph type="body"/>
          </p:nvPr>
        </p:nvSpPr>
        <p:spPr>
          <a:xfrm>
            <a:off x="685800" y="4400640"/>
            <a:ext cx="5485680" cy="3599640"/>
          </a:xfrm>
          <a:prstGeom prst="rect">
            <a:avLst/>
          </a:prstGeom>
          <a:noFill/>
          <a:ln w="0">
            <a:noFill/>
          </a:ln>
        </p:spPr>
        <p:txBody>
          <a:bodyPr lIns="91440" tIns="45720" rIns="91440" bIns="45720" anchor="t">
            <a:noAutofit/>
          </a:bodyPr>
          <a:lstStyle/>
          <a:p>
            <a:pPr indent="0" algn="l">
              <a:buNone/>
            </a:pPr>
            <a:endParaRPr lang="de-DE" sz="1800" b="0" u="none" strike="noStrike">
              <a:solidFill>
                <a:srgbClr val="000000"/>
              </a:solidFill>
              <a:effectLst/>
              <a:uFillTx/>
              <a:latin typeface="Arial"/>
            </a:endParaRPr>
          </a:p>
        </p:txBody>
      </p:sp>
      <p:sp>
        <p:nvSpPr>
          <p:cNvPr id="286" name="PlaceHolder 3"/>
          <p:cNvSpPr>
            <a:spLocks noGrp="1"/>
          </p:cNvSpPr>
          <p:nvPr>
            <p:ph type="sldNum" idx="14"/>
          </p:nvPr>
        </p:nvSpPr>
        <p:spPr>
          <a:xfrm>
            <a:off x="3884760" y="8685360"/>
            <a:ext cx="2971080" cy="45792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EC0C72DE-2782-4C5F-997A-AE3641C3F691}" type="slidenum">
              <a:rPr lang="en-US" sz="1200" b="0" u="none" strike="noStrike">
                <a:solidFill>
                  <a:schemeClr val="dk1"/>
                </a:solidFill>
                <a:effectLst/>
                <a:uFillTx/>
                <a:latin typeface="+mn-lt"/>
                <a:ea typeface="+mn-ea"/>
              </a:rPr>
              <a:t>11</a:t>
            </a:fld>
            <a:endParaRPr lang="de-DE" sz="1200" b="0" u="none" strike="noStrike">
              <a:solidFill>
                <a:srgbClr val="000000"/>
              </a:solidFill>
              <a:effectLst/>
              <a:uFillTx/>
              <a:latin typeface="Times New Roman"/>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7" name="PlaceHolder 1"/>
          <p:cNvSpPr>
            <a:spLocks noGrp="1" noRot="1" noChangeAspect="1"/>
          </p:cNvSpPr>
          <p:nvPr>
            <p:ph type="sldImg"/>
          </p:nvPr>
        </p:nvSpPr>
        <p:spPr>
          <a:xfrm>
            <a:off x="685800" y="1143000"/>
            <a:ext cx="5485680" cy="3085560"/>
          </a:xfrm>
          <a:prstGeom prst="rect">
            <a:avLst/>
          </a:prstGeom>
          <a:ln w="0">
            <a:noFill/>
          </a:ln>
        </p:spPr>
      </p:sp>
      <p:sp>
        <p:nvSpPr>
          <p:cNvPr id="288" name="PlaceHolder 2"/>
          <p:cNvSpPr>
            <a:spLocks noGrp="1"/>
          </p:cNvSpPr>
          <p:nvPr>
            <p:ph type="body"/>
          </p:nvPr>
        </p:nvSpPr>
        <p:spPr>
          <a:xfrm>
            <a:off x="685800" y="4400640"/>
            <a:ext cx="5485680" cy="3599640"/>
          </a:xfrm>
          <a:prstGeom prst="rect">
            <a:avLst/>
          </a:prstGeom>
          <a:noFill/>
          <a:ln w="0">
            <a:noFill/>
          </a:ln>
        </p:spPr>
        <p:txBody>
          <a:bodyPr lIns="91440" tIns="45720" rIns="91440" bIns="45720" anchor="t">
            <a:noAutofit/>
          </a:bodyPr>
          <a:lstStyle/>
          <a:p>
            <a:pPr indent="0" algn="l">
              <a:buNone/>
            </a:pPr>
            <a:endParaRPr lang="de-DE" sz="1800" b="0" u="none" strike="noStrike">
              <a:solidFill>
                <a:srgbClr val="000000"/>
              </a:solidFill>
              <a:effectLst/>
              <a:uFillTx/>
              <a:latin typeface="Arial"/>
            </a:endParaRPr>
          </a:p>
        </p:txBody>
      </p:sp>
      <p:sp>
        <p:nvSpPr>
          <p:cNvPr id="289" name="PlaceHolder 3"/>
          <p:cNvSpPr>
            <a:spLocks noGrp="1"/>
          </p:cNvSpPr>
          <p:nvPr>
            <p:ph type="sldNum" idx="15"/>
          </p:nvPr>
        </p:nvSpPr>
        <p:spPr>
          <a:xfrm>
            <a:off x="3884760" y="8685360"/>
            <a:ext cx="2971080" cy="45792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2F2AAB2B-7443-4427-8773-4BDE8B4274B3}" type="slidenum">
              <a:rPr lang="en-US" sz="1200" b="0" u="none" strike="noStrike">
                <a:solidFill>
                  <a:schemeClr val="dk1"/>
                </a:solidFill>
                <a:effectLst/>
                <a:uFillTx/>
                <a:latin typeface="+mn-lt"/>
                <a:ea typeface="+mn-ea"/>
              </a:rPr>
              <a:t>12</a:t>
            </a:fld>
            <a:endParaRPr lang="de-DE" sz="1200" b="0" u="none" strike="noStrike">
              <a:solidFill>
                <a:srgbClr val="000000"/>
              </a:solidFill>
              <a:effectLst/>
              <a:uFillTx/>
              <a:latin typeface="Times New Roman"/>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0" name="PlaceHolder 1"/>
          <p:cNvSpPr>
            <a:spLocks noGrp="1" noRot="1" noChangeAspect="1"/>
          </p:cNvSpPr>
          <p:nvPr>
            <p:ph type="sldImg"/>
          </p:nvPr>
        </p:nvSpPr>
        <p:spPr>
          <a:xfrm>
            <a:off x="685800" y="1143000"/>
            <a:ext cx="5485680" cy="3085560"/>
          </a:xfrm>
          <a:prstGeom prst="rect">
            <a:avLst/>
          </a:prstGeom>
          <a:ln w="0">
            <a:noFill/>
          </a:ln>
        </p:spPr>
      </p:sp>
      <p:sp>
        <p:nvSpPr>
          <p:cNvPr id="291" name="PlaceHolder 2"/>
          <p:cNvSpPr>
            <a:spLocks noGrp="1"/>
          </p:cNvSpPr>
          <p:nvPr>
            <p:ph type="body"/>
          </p:nvPr>
        </p:nvSpPr>
        <p:spPr>
          <a:xfrm>
            <a:off x="685800" y="4400640"/>
            <a:ext cx="5485680" cy="3599640"/>
          </a:xfrm>
          <a:prstGeom prst="rect">
            <a:avLst/>
          </a:prstGeom>
          <a:noFill/>
          <a:ln w="0">
            <a:noFill/>
          </a:ln>
        </p:spPr>
        <p:txBody>
          <a:bodyPr lIns="91440" tIns="45720" rIns="91440" bIns="45720" anchor="t">
            <a:noAutofit/>
          </a:bodyPr>
          <a:lstStyle/>
          <a:p>
            <a:pPr indent="0" algn="l">
              <a:buNone/>
            </a:pPr>
            <a:endParaRPr lang="de-DE" sz="1800" b="0" u="none" strike="noStrike">
              <a:solidFill>
                <a:srgbClr val="000000"/>
              </a:solidFill>
              <a:effectLst/>
              <a:uFillTx/>
              <a:latin typeface="Arial"/>
            </a:endParaRPr>
          </a:p>
        </p:txBody>
      </p:sp>
      <p:sp>
        <p:nvSpPr>
          <p:cNvPr id="292" name="PlaceHolder 3"/>
          <p:cNvSpPr>
            <a:spLocks noGrp="1"/>
          </p:cNvSpPr>
          <p:nvPr>
            <p:ph type="sldNum" idx="16"/>
          </p:nvPr>
        </p:nvSpPr>
        <p:spPr>
          <a:xfrm>
            <a:off x="3884760" y="8685360"/>
            <a:ext cx="2971080" cy="45792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BB86DD52-6750-474A-9B70-C07F45BDDAA3}" type="slidenum">
              <a:rPr lang="en-US" sz="1200" b="0" u="none" strike="noStrike">
                <a:solidFill>
                  <a:schemeClr val="dk1"/>
                </a:solidFill>
                <a:effectLst/>
                <a:uFillTx/>
                <a:latin typeface="+mn-lt"/>
                <a:ea typeface="+mn-ea"/>
              </a:rPr>
              <a:t>13</a:t>
            </a:fld>
            <a:endParaRPr lang="de-DE" sz="1200" b="0" u="none" strike="noStrike">
              <a:solidFill>
                <a:srgbClr val="000000"/>
              </a:solidFill>
              <a:effectLst/>
              <a:uFillTx/>
              <a:latin typeface="Times New Roman"/>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3" name="PlaceHolder 1"/>
          <p:cNvSpPr>
            <a:spLocks noGrp="1" noRot="1" noChangeAspect="1"/>
          </p:cNvSpPr>
          <p:nvPr>
            <p:ph type="sldImg"/>
          </p:nvPr>
        </p:nvSpPr>
        <p:spPr>
          <a:xfrm>
            <a:off x="685800" y="1143000"/>
            <a:ext cx="5485680" cy="3085560"/>
          </a:xfrm>
          <a:prstGeom prst="rect">
            <a:avLst/>
          </a:prstGeom>
          <a:ln w="0">
            <a:noFill/>
          </a:ln>
        </p:spPr>
      </p:sp>
      <p:sp>
        <p:nvSpPr>
          <p:cNvPr id="294" name="PlaceHolder 2"/>
          <p:cNvSpPr>
            <a:spLocks noGrp="1"/>
          </p:cNvSpPr>
          <p:nvPr>
            <p:ph type="body"/>
          </p:nvPr>
        </p:nvSpPr>
        <p:spPr>
          <a:xfrm>
            <a:off x="685800" y="4400640"/>
            <a:ext cx="5485680" cy="3599640"/>
          </a:xfrm>
          <a:prstGeom prst="rect">
            <a:avLst/>
          </a:prstGeom>
          <a:noFill/>
          <a:ln w="0">
            <a:noFill/>
          </a:ln>
        </p:spPr>
        <p:txBody>
          <a:bodyPr lIns="91440" tIns="45720" rIns="91440" bIns="45720" anchor="t">
            <a:noAutofit/>
          </a:bodyPr>
          <a:lstStyle/>
          <a:p>
            <a:pPr indent="0" algn="l">
              <a:buNone/>
            </a:pPr>
            <a:endParaRPr lang="de-DE" sz="1800" b="0" u="none" strike="noStrike">
              <a:solidFill>
                <a:srgbClr val="000000"/>
              </a:solidFill>
              <a:effectLst/>
              <a:uFillTx/>
              <a:latin typeface="Arial"/>
            </a:endParaRPr>
          </a:p>
        </p:txBody>
      </p:sp>
      <p:sp>
        <p:nvSpPr>
          <p:cNvPr id="295" name="PlaceHolder 3"/>
          <p:cNvSpPr>
            <a:spLocks noGrp="1"/>
          </p:cNvSpPr>
          <p:nvPr>
            <p:ph type="sldNum" idx="17"/>
          </p:nvPr>
        </p:nvSpPr>
        <p:spPr>
          <a:xfrm>
            <a:off x="3884760" y="8685360"/>
            <a:ext cx="2971080" cy="45792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5783FC93-AA46-4609-971D-6C46C8D721DF}" type="slidenum">
              <a:rPr lang="en-US" sz="1200" b="0" u="none" strike="noStrike">
                <a:solidFill>
                  <a:schemeClr val="dk1"/>
                </a:solidFill>
                <a:effectLst/>
                <a:uFillTx/>
                <a:latin typeface="+mn-lt"/>
                <a:ea typeface="+mn-ea"/>
              </a:rPr>
              <a:t>14</a:t>
            </a:fld>
            <a:endParaRPr lang="de-DE" sz="1200" b="0" u="none" strike="noStrike">
              <a:solidFill>
                <a:srgbClr val="000000"/>
              </a:solidFill>
              <a:effectLst/>
              <a:uFillTx/>
              <a:latin typeface="Times New Roman"/>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 name="PlaceHolder 1"/>
          <p:cNvSpPr>
            <a:spLocks noGrp="1" noRot="1" noChangeAspect="1"/>
          </p:cNvSpPr>
          <p:nvPr>
            <p:ph type="sldImg"/>
          </p:nvPr>
        </p:nvSpPr>
        <p:spPr>
          <a:xfrm>
            <a:off x="685800" y="1143000"/>
            <a:ext cx="5485680" cy="3085560"/>
          </a:xfrm>
          <a:prstGeom prst="rect">
            <a:avLst/>
          </a:prstGeom>
          <a:ln w="0">
            <a:noFill/>
          </a:ln>
        </p:spPr>
      </p:sp>
      <p:sp>
        <p:nvSpPr>
          <p:cNvPr id="297" name="PlaceHolder 2"/>
          <p:cNvSpPr>
            <a:spLocks noGrp="1"/>
          </p:cNvSpPr>
          <p:nvPr>
            <p:ph type="body"/>
          </p:nvPr>
        </p:nvSpPr>
        <p:spPr>
          <a:xfrm>
            <a:off x="685800" y="4400640"/>
            <a:ext cx="5485680" cy="3599640"/>
          </a:xfrm>
          <a:prstGeom prst="rect">
            <a:avLst/>
          </a:prstGeom>
          <a:noFill/>
          <a:ln w="0">
            <a:noFill/>
          </a:ln>
        </p:spPr>
        <p:txBody>
          <a:bodyPr lIns="91440" tIns="45720" rIns="91440" bIns="45720" anchor="t">
            <a:noAutofit/>
          </a:bodyPr>
          <a:lstStyle/>
          <a:p>
            <a:pPr indent="0" algn="l">
              <a:buNone/>
            </a:pPr>
            <a:endParaRPr lang="de-DE" sz="1800" b="0" u="none" strike="noStrike">
              <a:solidFill>
                <a:srgbClr val="000000"/>
              </a:solidFill>
              <a:effectLst/>
              <a:uFillTx/>
              <a:latin typeface="Arial"/>
            </a:endParaRPr>
          </a:p>
        </p:txBody>
      </p:sp>
      <p:sp>
        <p:nvSpPr>
          <p:cNvPr id="298" name="PlaceHolder 3"/>
          <p:cNvSpPr>
            <a:spLocks noGrp="1"/>
          </p:cNvSpPr>
          <p:nvPr>
            <p:ph type="sldNum" idx="18"/>
          </p:nvPr>
        </p:nvSpPr>
        <p:spPr>
          <a:xfrm>
            <a:off x="3884760" y="8685360"/>
            <a:ext cx="2971080" cy="45792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A17EA8AA-DC31-499A-ADA3-877CD8F8A83C}" type="slidenum">
              <a:rPr lang="en-US" sz="1200" b="0" u="none" strike="noStrike">
                <a:solidFill>
                  <a:schemeClr val="dk1"/>
                </a:solidFill>
                <a:effectLst/>
                <a:uFillTx/>
                <a:latin typeface="+mn-lt"/>
                <a:ea typeface="+mn-ea"/>
              </a:rPr>
              <a:t>15</a:t>
            </a:fld>
            <a:endParaRPr lang="de-DE" sz="1200" b="0" u="none" strike="noStrike">
              <a:solidFill>
                <a:srgbClr val="000000"/>
              </a:solidFill>
              <a:effectLst/>
              <a:uFillTx/>
              <a:latin typeface="Times New Roman"/>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9" name="PlaceHolder 1"/>
          <p:cNvSpPr>
            <a:spLocks noGrp="1" noRot="1" noChangeAspect="1"/>
          </p:cNvSpPr>
          <p:nvPr>
            <p:ph type="sldImg"/>
          </p:nvPr>
        </p:nvSpPr>
        <p:spPr>
          <a:xfrm>
            <a:off x="685800" y="1143000"/>
            <a:ext cx="5486400" cy="3086100"/>
          </a:xfrm>
          <a:prstGeom prst="rect">
            <a:avLst/>
          </a:prstGeom>
          <a:ln w="0">
            <a:noFill/>
          </a:ln>
        </p:spPr>
      </p:sp>
      <p:sp>
        <p:nvSpPr>
          <p:cNvPr id="300" name="PlaceHolder 2"/>
          <p:cNvSpPr>
            <a:spLocks noGrp="1"/>
          </p:cNvSpPr>
          <p:nvPr>
            <p:ph type="body"/>
          </p:nvPr>
        </p:nvSpPr>
        <p:spPr>
          <a:xfrm>
            <a:off x="685800" y="4400640"/>
            <a:ext cx="5485680" cy="3599640"/>
          </a:xfrm>
          <a:prstGeom prst="rect">
            <a:avLst/>
          </a:prstGeom>
          <a:noFill/>
          <a:ln w="0">
            <a:noFill/>
          </a:ln>
        </p:spPr>
        <p:txBody>
          <a:bodyPr lIns="91440" tIns="45720" rIns="91440" bIns="45720" anchor="t">
            <a:noAutofit/>
          </a:bodyPr>
          <a:lstStyle/>
          <a:p>
            <a:pPr indent="0" algn="l">
              <a:buNone/>
            </a:pPr>
            <a:endParaRPr lang="de-DE" sz="1800" b="0" u="none" strike="noStrike">
              <a:solidFill>
                <a:srgbClr val="000000"/>
              </a:solidFill>
              <a:effectLst/>
              <a:uFillTx/>
              <a:latin typeface="Arial"/>
            </a:endParaRPr>
          </a:p>
        </p:txBody>
      </p:sp>
      <p:sp>
        <p:nvSpPr>
          <p:cNvPr id="301" name="PlaceHolder 3"/>
          <p:cNvSpPr>
            <a:spLocks noGrp="1"/>
          </p:cNvSpPr>
          <p:nvPr>
            <p:ph type="sldNum" idx="19"/>
          </p:nvPr>
        </p:nvSpPr>
        <p:spPr>
          <a:xfrm>
            <a:off x="3884760" y="8685360"/>
            <a:ext cx="2971080" cy="45792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332C8B47-FD01-48C1-8A44-7CB31CBD9CF2}" type="slidenum">
              <a:rPr lang="en-US" sz="1200" b="0" u="none" strike="noStrike">
                <a:solidFill>
                  <a:schemeClr val="dk1"/>
                </a:solidFill>
                <a:effectLst/>
                <a:uFillTx/>
                <a:latin typeface="+mn-lt"/>
                <a:ea typeface="+mn-ea"/>
              </a:rPr>
              <a:t>16</a:t>
            </a:fld>
            <a:endParaRPr lang="de-DE" sz="1200" b="0" u="none" strike="noStrike">
              <a:solidFill>
                <a:srgbClr val="000000"/>
              </a:solidFill>
              <a:effectLst/>
              <a:uFillTx/>
              <a:latin typeface="Times New Roman"/>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2" name="PlaceHolder 1"/>
          <p:cNvSpPr>
            <a:spLocks noGrp="1" noRot="1" noChangeAspect="1"/>
          </p:cNvSpPr>
          <p:nvPr>
            <p:ph type="sldImg"/>
          </p:nvPr>
        </p:nvSpPr>
        <p:spPr>
          <a:xfrm>
            <a:off x="685800" y="1143000"/>
            <a:ext cx="5485680" cy="3085560"/>
          </a:xfrm>
          <a:prstGeom prst="rect">
            <a:avLst/>
          </a:prstGeom>
          <a:ln w="0">
            <a:noFill/>
          </a:ln>
        </p:spPr>
      </p:sp>
      <p:sp>
        <p:nvSpPr>
          <p:cNvPr id="303" name="PlaceHolder 2"/>
          <p:cNvSpPr>
            <a:spLocks noGrp="1"/>
          </p:cNvSpPr>
          <p:nvPr>
            <p:ph type="body"/>
          </p:nvPr>
        </p:nvSpPr>
        <p:spPr>
          <a:xfrm>
            <a:off x="685800" y="4400640"/>
            <a:ext cx="5485680" cy="3599640"/>
          </a:xfrm>
          <a:prstGeom prst="rect">
            <a:avLst/>
          </a:prstGeom>
          <a:noFill/>
          <a:ln w="0">
            <a:noFill/>
          </a:ln>
        </p:spPr>
        <p:txBody>
          <a:bodyPr lIns="91440" tIns="45720" rIns="91440" bIns="45720" anchor="t">
            <a:noAutofit/>
          </a:bodyPr>
          <a:lstStyle/>
          <a:p>
            <a:pPr indent="0" algn="l">
              <a:buNone/>
            </a:pPr>
            <a:endParaRPr lang="de-DE" sz="1800" b="0" u="none" strike="noStrike">
              <a:solidFill>
                <a:srgbClr val="000000"/>
              </a:solidFill>
              <a:effectLst/>
              <a:uFillTx/>
              <a:latin typeface="Arial"/>
            </a:endParaRPr>
          </a:p>
        </p:txBody>
      </p:sp>
      <p:sp>
        <p:nvSpPr>
          <p:cNvPr id="304" name="PlaceHolder 3"/>
          <p:cNvSpPr>
            <a:spLocks noGrp="1"/>
          </p:cNvSpPr>
          <p:nvPr>
            <p:ph type="sldNum" idx="20"/>
          </p:nvPr>
        </p:nvSpPr>
        <p:spPr>
          <a:xfrm>
            <a:off x="3884760" y="8685360"/>
            <a:ext cx="2971080" cy="45792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2B7C645F-05BA-42FF-BB82-07A7A93E60A3}" type="slidenum">
              <a:rPr lang="en-US" sz="1200" b="0" u="none" strike="noStrike">
                <a:solidFill>
                  <a:schemeClr val="dk1"/>
                </a:solidFill>
                <a:effectLst/>
                <a:uFillTx/>
                <a:latin typeface="+mn-lt"/>
                <a:ea typeface="+mn-ea"/>
              </a:rPr>
              <a:t>17</a:t>
            </a:fld>
            <a:endParaRPr lang="de-DE" sz="1200" b="0" u="none" strike="noStrike">
              <a:solidFill>
                <a:srgbClr val="000000"/>
              </a:solidFill>
              <a:effectLst/>
              <a:uFillTx/>
              <a:latin typeface="Times New Roman"/>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160087-6A39-8A42-BB9C-0FEB4227C796}"/>
            </a:ext>
          </a:extLst>
        </p:cNvPr>
        <p:cNvGrpSpPr/>
        <p:nvPr/>
      </p:nvGrpSpPr>
      <p:grpSpPr>
        <a:xfrm>
          <a:off x="0" y="0"/>
          <a:ext cx="0" cy="0"/>
          <a:chOff x="0" y="0"/>
          <a:chExt cx="0" cy="0"/>
        </a:xfrm>
      </p:grpSpPr>
      <p:sp>
        <p:nvSpPr>
          <p:cNvPr id="260" name="PlaceHolder 1">
            <a:extLst>
              <a:ext uri="{FF2B5EF4-FFF2-40B4-BE49-F238E27FC236}">
                <a16:creationId xmlns:a16="http://schemas.microsoft.com/office/drawing/2014/main" id="{A970CA83-9E22-0942-2782-6952C54FC998}"/>
              </a:ext>
            </a:extLst>
          </p:cNvPr>
          <p:cNvSpPr>
            <a:spLocks noGrp="1" noRot="1" noChangeAspect="1"/>
          </p:cNvSpPr>
          <p:nvPr>
            <p:ph type="sldImg"/>
          </p:nvPr>
        </p:nvSpPr>
        <p:spPr>
          <a:xfrm>
            <a:off x="0" y="0"/>
            <a:ext cx="0" cy="0"/>
          </a:xfrm>
          <a:prstGeom prst="rect">
            <a:avLst/>
          </a:prstGeom>
          <a:ln w="0">
            <a:noFill/>
          </a:ln>
        </p:spPr>
      </p:sp>
      <p:sp>
        <p:nvSpPr>
          <p:cNvPr id="261" name="PlaceHolder 2">
            <a:extLst>
              <a:ext uri="{FF2B5EF4-FFF2-40B4-BE49-F238E27FC236}">
                <a16:creationId xmlns:a16="http://schemas.microsoft.com/office/drawing/2014/main" id="{96C22643-AFD0-3AB6-F523-A94BCEEC5882}"/>
              </a:ext>
            </a:extLst>
          </p:cNvPr>
          <p:cNvSpPr>
            <a:spLocks noGrp="1"/>
          </p:cNvSpPr>
          <p:nvPr>
            <p:ph type="body"/>
          </p:nvPr>
        </p:nvSpPr>
        <p:spPr>
          <a:xfrm>
            <a:off x="0" y="0"/>
            <a:ext cx="360" cy="360"/>
          </a:xfrm>
          <a:prstGeom prst="rect">
            <a:avLst/>
          </a:prstGeom>
          <a:noFill/>
          <a:ln w="0">
            <a:noFill/>
          </a:ln>
        </p:spPr>
        <p:txBody>
          <a:bodyPr lIns="0" tIns="-44640" rIns="0" bIns="-44640" anchor="t">
            <a:noAutofit/>
          </a:bodyPr>
          <a:lstStyle/>
          <a:p>
            <a:r>
              <a:rPr lang="en-DE" sz="1800" dirty="0"/>
              <a:t>From the </a:t>
            </a:r>
            <a:r>
              <a:rPr lang="en-DE" sz="1800" b="1" dirty="0" err="1"/>
              <a:t>Landnutzung</a:t>
            </a:r>
            <a:r>
              <a:rPr lang="en-DE" sz="1800" dirty="0"/>
              <a:t> layer, I used the </a:t>
            </a:r>
            <a:r>
              <a:rPr lang="en-DE" sz="1800" b="1" dirty="0"/>
              <a:t>Extract by Expression</a:t>
            </a:r>
            <a:r>
              <a:rPr lang="en-DE" sz="1800" dirty="0"/>
              <a:t> tool with the expression </a:t>
            </a:r>
            <a:r>
              <a:rPr lang="en-DE" sz="1800" kern="1200" dirty="0">
                <a:solidFill>
                  <a:schemeClr val="tx1"/>
                </a:solidFill>
                <a:latin typeface="+mn-lt"/>
                <a:ea typeface="+mn-ea"/>
                <a:cs typeface="+mn-cs"/>
              </a:rPr>
              <a:t>"</a:t>
            </a:r>
            <a:r>
              <a:rPr lang="en-DE" sz="1800" kern="1200" dirty="0" err="1">
                <a:solidFill>
                  <a:schemeClr val="tx1"/>
                </a:solidFill>
                <a:latin typeface="+mn-lt"/>
                <a:ea typeface="+mn-ea"/>
                <a:cs typeface="+mn-cs"/>
              </a:rPr>
              <a:t>typ</a:t>
            </a:r>
            <a:r>
              <a:rPr lang="en-DE" sz="1800" kern="1200" dirty="0">
                <a:solidFill>
                  <a:schemeClr val="tx1"/>
                </a:solidFill>
                <a:latin typeface="+mn-lt"/>
                <a:ea typeface="+mn-ea"/>
                <a:cs typeface="+mn-cs"/>
              </a:rPr>
              <a:t>" IN ('Ackerland', '</a:t>
            </a:r>
            <a:r>
              <a:rPr lang="en-DE" sz="1800" kern="1200" dirty="0" err="1">
                <a:solidFill>
                  <a:schemeClr val="tx1"/>
                </a:solidFill>
                <a:latin typeface="+mn-lt"/>
                <a:ea typeface="+mn-ea"/>
                <a:cs typeface="+mn-cs"/>
              </a:rPr>
              <a:t>Gruenland</a:t>
            </a:r>
            <a:r>
              <a:rPr lang="en-DE" sz="1800" kern="1200" dirty="0">
                <a:solidFill>
                  <a:schemeClr val="tx1"/>
                </a:solidFill>
                <a:latin typeface="+mn-lt"/>
                <a:ea typeface="+mn-ea"/>
                <a:cs typeface="+mn-cs"/>
              </a:rPr>
              <a:t>')</a:t>
            </a:r>
            <a:r>
              <a:rPr lang="en-DE" sz="1800" dirty="0"/>
              <a:t> and obtained the result shown in the figure above.</a:t>
            </a:r>
            <a:endParaRPr lang="en-US" sz="1800" dirty="0"/>
          </a:p>
          <a:p>
            <a:r>
              <a:rPr lang="en-DE" sz="1800" dirty="0"/>
              <a:t>The </a:t>
            </a:r>
            <a:r>
              <a:rPr lang="en-DE" sz="1800" dirty="0" err="1"/>
              <a:t>gray</a:t>
            </a:r>
            <a:r>
              <a:rPr lang="en-DE" sz="1800" dirty="0"/>
              <a:t> areas represent the </a:t>
            </a:r>
            <a:r>
              <a:rPr lang="en-DE" sz="1800" b="1" dirty="0" err="1"/>
              <a:t>Grünland</a:t>
            </a:r>
            <a:r>
              <a:rPr lang="en-DE" sz="1800" dirty="0"/>
              <a:t> and </a:t>
            </a:r>
            <a:r>
              <a:rPr lang="en-DE" sz="1800" b="1" dirty="0"/>
              <a:t>Ackerland</a:t>
            </a:r>
            <a:r>
              <a:rPr lang="en-DE" sz="1800" dirty="0"/>
              <a:t> areas after filtering.</a:t>
            </a:r>
          </a:p>
          <a:p>
            <a:pPr indent="0" algn="l">
              <a:buNone/>
            </a:pPr>
            <a:endParaRPr lang="de-DE" sz="1800" b="0" u="none" strike="noStrike" dirty="0">
              <a:solidFill>
                <a:srgbClr val="000000"/>
              </a:solidFill>
              <a:effectLst/>
              <a:uFillTx/>
              <a:latin typeface="Arial"/>
            </a:endParaRPr>
          </a:p>
        </p:txBody>
      </p:sp>
      <p:sp>
        <p:nvSpPr>
          <p:cNvPr id="262" name="PlaceHolder 3">
            <a:extLst>
              <a:ext uri="{FF2B5EF4-FFF2-40B4-BE49-F238E27FC236}">
                <a16:creationId xmlns:a16="http://schemas.microsoft.com/office/drawing/2014/main" id="{947E543B-5950-A1DB-35C1-69447241F64C}"/>
              </a:ext>
            </a:extLst>
          </p:cNvPr>
          <p:cNvSpPr>
            <a:spLocks noGrp="1"/>
          </p:cNvSpPr>
          <p:nvPr>
            <p:ph type="sldNum" idx="6"/>
          </p:nvPr>
        </p:nvSpPr>
        <p:spPr>
          <a:xfrm>
            <a:off x="0" y="0"/>
            <a:ext cx="360" cy="360"/>
          </a:xfrm>
          <a:prstGeom prst="rect">
            <a:avLst/>
          </a:prstGeom>
          <a:noFill/>
          <a:ln w="0">
            <a:noFill/>
          </a:ln>
        </p:spPr>
        <p:txBody>
          <a:bodyPr lIns="0" tIns="-44640" rIns="0" bIns="-44640" anchor="t">
            <a:noAutofit/>
          </a:bodyPr>
          <a:lstStyle>
            <a:lvl1pPr indent="0" algn="l" defTabSz="914400">
              <a:lnSpc>
                <a:spcPct val="100000"/>
              </a:lnSpc>
              <a:buNone/>
              <a:tabLst>
                <a:tab pos="0" algn="l"/>
              </a:tabLst>
              <a:defRPr lang="en-US" sz="1800" b="0" u="none" strike="noStrike">
                <a:solidFill>
                  <a:schemeClr val="dk1"/>
                </a:solidFill>
                <a:effectLst/>
                <a:uFillTx/>
                <a:latin typeface="+mn-lt"/>
                <a:ea typeface="+mn-ea"/>
              </a:defRPr>
            </a:lvl1pPr>
          </a:lstStyle>
          <a:p>
            <a:pPr indent="0" algn="l" defTabSz="914400">
              <a:lnSpc>
                <a:spcPct val="100000"/>
              </a:lnSpc>
              <a:buNone/>
              <a:tabLst>
                <a:tab pos="0" algn="l"/>
              </a:tabLst>
            </a:pPr>
            <a:fld id="{0403400A-3027-44BE-8602-7DB110972B33}" type="slidenum">
              <a:rPr lang="en-US" sz="1800" b="0" u="none" strike="noStrike">
                <a:solidFill>
                  <a:schemeClr val="dk1"/>
                </a:solidFill>
                <a:effectLst/>
                <a:uFillTx/>
                <a:latin typeface="+mn-lt"/>
                <a:ea typeface="+mn-ea"/>
              </a:rPr>
              <a:t>19</a:t>
            </a:fld>
            <a:endParaRPr lang="de-DE" sz="1800" b="0" u="none" strike="noStrike">
              <a:solidFill>
                <a:srgbClr val="000000"/>
              </a:solidFill>
              <a:effectLst/>
              <a:uFillTx/>
              <a:latin typeface="Times New Roman"/>
            </a:endParaRPr>
          </a:p>
        </p:txBody>
      </p:sp>
    </p:spTree>
    <p:extLst>
      <p:ext uri="{BB962C8B-B14F-4D97-AF65-F5344CB8AC3E}">
        <p14:creationId xmlns:p14="http://schemas.microsoft.com/office/powerpoint/2010/main" val="67977458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83B6FF-8494-E884-D87C-A0F72E5D4E0C}"/>
            </a:ext>
          </a:extLst>
        </p:cNvPr>
        <p:cNvGrpSpPr/>
        <p:nvPr/>
      </p:nvGrpSpPr>
      <p:grpSpPr>
        <a:xfrm>
          <a:off x="0" y="0"/>
          <a:ext cx="0" cy="0"/>
          <a:chOff x="0" y="0"/>
          <a:chExt cx="0" cy="0"/>
        </a:xfrm>
      </p:grpSpPr>
      <p:sp>
        <p:nvSpPr>
          <p:cNvPr id="263" name="PlaceHolder 1">
            <a:extLst>
              <a:ext uri="{FF2B5EF4-FFF2-40B4-BE49-F238E27FC236}">
                <a16:creationId xmlns:a16="http://schemas.microsoft.com/office/drawing/2014/main" id="{5611D6C6-79E2-1A27-2D1A-AC53D68508E1}"/>
              </a:ext>
            </a:extLst>
          </p:cNvPr>
          <p:cNvSpPr>
            <a:spLocks noGrp="1" noRot="1" noChangeAspect="1"/>
          </p:cNvSpPr>
          <p:nvPr>
            <p:ph type="sldImg"/>
          </p:nvPr>
        </p:nvSpPr>
        <p:spPr>
          <a:xfrm>
            <a:off x="0" y="0"/>
            <a:ext cx="0" cy="0"/>
          </a:xfrm>
          <a:prstGeom prst="rect">
            <a:avLst/>
          </a:prstGeom>
          <a:ln w="0">
            <a:noFill/>
          </a:ln>
        </p:spPr>
      </p:sp>
      <p:sp>
        <p:nvSpPr>
          <p:cNvPr id="264" name="PlaceHolder 2">
            <a:extLst>
              <a:ext uri="{FF2B5EF4-FFF2-40B4-BE49-F238E27FC236}">
                <a16:creationId xmlns:a16="http://schemas.microsoft.com/office/drawing/2014/main" id="{96E96785-E9C5-54CA-9DEF-6B7B6D76EEEA}"/>
              </a:ext>
            </a:extLst>
          </p:cNvPr>
          <p:cNvSpPr>
            <a:spLocks noGrp="1"/>
          </p:cNvSpPr>
          <p:nvPr>
            <p:ph type="body"/>
          </p:nvPr>
        </p:nvSpPr>
        <p:spPr>
          <a:xfrm>
            <a:off x="0" y="0"/>
            <a:ext cx="360" cy="360"/>
          </a:xfrm>
          <a:prstGeom prst="rect">
            <a:avLst/>
          </a:prstGeom>
          <a:noFill/>
          <a:ln w="0">
            <a:noFill/>
          </a:ln>
        </p:spPr>
        <p:txBody>
          <a:bodyPr lIns="0" tIns="-44640" rIns="0" bIns="-44640" anchor="t">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DE" sz="1800" dirty="0"/>
              <a:t>Next, I merged adjacent areas into larger continuous areas using the </a:t>
            </a:r>
            <a:r>
              <a:rPr lang="en-DE" sz="1800" b="1" dirty="0"/>
              <a:t>Dissolve</a:t>
            </a:r>
            <a:r>
              <a:rPr lang="en-DE" sz="1800" dirty="0"/>
              <a:t> tool. This step is important because the </a:t>
            </a:r>
            <a:r>
              <a:rPr lang="en-DE" sz="1800" b="1" dirty="0"/>
              <a:t>18 ha criterion applies to a continuous area</a:t>
            </a:r>
            <a:r>
              <a:rPr lang="en-DE" sz="1800" dirty="0"/>
              <a:t>, not to each original parcel individually. For example, a 10 ha </a:t>
            </a:r>
            <a:r>
              <a:rPr lang="en-DE" sz="1800" b="1" dirty="0"/>
              <a:t>Ackerland</a:t>
            </a:r>
            <a:r>
              <a:rPr lang="en-DE" sz="1800" dirty="0"/>
              <a:t> polygon directly adjacent to a 10 ha </a:t>
            </a:r>
            <a:r>
              <a:rPr lang="en-DE" sz="1800" b="1" dirty="0" err="1"/>
              <a:t>Grünland</a:t>
            </a:r>
            <a:r>
              <a:rPr lang="en-DE" sz="1800" dirty="0"/>
              <a:t> polygon can form a continuous 20 ha area after applying </a:t>
            </a:r>
            <a:r>
              <a:rPr lang="en-DE" sz="1800" b="1" dirty="0"/>
              <a:t>Dissolve</a:t>
            </a:r>
            <a:r>
              <a:rPr lang="en-DE" sz="1800" dirty="0"/>
              <a:t>.</a:t>
            </a:r>
          </a:p>
          <a:p>
            <a:pPr indent="0" algn="l">
              <a:buNone/>
            </a:pPr>
            <a:endParaRPr lang="de-DE" sz="1800" b="0" u="none" strike="noStrike" dirty="0">
              <a:solidFill>
                <a:srgbClr val="000000"/>
              </a:solidFill>
              <a:effectLst/>
              <a:uFillTx/>
              <a:latin typeface="Arial"/>
            </a:endParaRPr>
          </a:p>
        </p:txBody>
      </p:sp>
      <p:sp>
        <p:nvSpPr>
          <p:cNvPr id="265" name="PlaceHolder 3">
            <a:extLst>
              <a:ext uri="{FF2B5EF4-FFF2-40B4-BE49-F238E27FC236}">
                <a16:creationId xmlns:a16="http://schemas.microsoft.com/office/drawing/2014/main" id="{053565C9-F894-7C69-B89E-82F31F92AA1E}"/>
              </a:ext>
            </a:extLst>
          </p:cNvPr>
          <p:cNvSpPr>
            <a:spLocks noGrp="1"/>
          </p:cNvSpPr>
          <p:nvPr>
            <p:ph type="sldNum" idx="7"/>
          </p:nvPr>
        </p:nvSpPr>
        <p:spPr>
          <a:xfrm>
            <a:off x="0" y="0"/>
            <a:ext cx="360" cy="360"/>
          </a:xfrm>
          <a:prstGeom prst="rect">
            <a:avLst/>
          </a:prstGeom>
          <a:noFill/>
          <a:ln w="0">
            <a:noFill/>
          </a:ln>
        </p:spPr>
        <p:txBody>
          <a:bodyPr lIns="0" tIns="-44640" rIns="0" bIns="-44640" anchor="t">
            <a:noAutofit/>
          </a:bodyPr>
          <a:lstStyle>
            <a:lvl1pPr indent="0" algn="l" defTabSz="914400">
              <a:lnSpc>
                <a:spcPct val="100000"/>
              </a:lnSpc>
              <a:buNone/>
              <a:tabLst>
                <a:tab pos="0" algn="l"/>
              </a:tabLst>
              <a:defRPr lang="en-US" sz="1800" b="0" u="none" strike="noStrike">
                <a:solidFill>
                  <a:schemeClr val="dk1"/>
                </a:solidFill>
                <a:effectLst/>
                <a:uFillTx/>
                <a:latin typeface="+mn-lt"/>
                <a:ea typeface="+mn-ea"/>
              </a:defRPr>
            </a:lvl1pPr>
          </a:lstStyle>
          <a:p>
            <a:pPr indent="0" algn="l" defTabSz="914400">
              <a:lnSpc>
                <a:spcPct val="100000"/>
              </a:lnSpc>
              <a:buNone/>
              <a:tabLst>
                <a:tab pos="0" algn="l"/>
              </a:tabLst>
            </a:pPr>
            <a:fld id="{4DA8ACED-8F3E-41C4-B6CF-4859AFF34ED8}" type="slidenum">
              <a:rPr lang="en-US" sz="1800" b="0" u="none" strike="noStrike">
                <a:solidFill>
                  <a:schemeClr val="dk1"/>
                </a:solidFill>
                <a:effectLst/>
                <a:uFillTx/>
                <a:latin typeface="+mn-lt"/>
                <a:ea typeface="+mn-ea"/>
              </a:rPr>
              <a:t>20</a:t>
            </a:fld>
            <a:endParaRPr lang="de-DE" sz="1800" b="0" u="none" strike="noStrike">
              <a:solidFill>
                <a:srgbClr val="000000"/>
              </a:solidFill>
              <a:effectLst/>
              <a:uFillTx/>
              <a:latin typeface="Times New Roman"/>
            </a:endParaRPr>
          </a:p>
        </p:txBody>
      </p:sp>
    </p:spTree>
    <p:extLst>
      <p:ext uri="{BB962C8B-B14F-4D97-AF65-F5344CB8AC3E}">
        <p14:creationId xmlns:p14="http://schemas.microsoft.com/office/powerpoint/2010/main" val="106471286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A4CD0D-BD65-0923-C86A-4A3D4862925B}"/>
            </a:ext>
          </a:extLst>
        </p:cNvPr>
        <p:cNvGrpSpPr/>
        <p:nvPr/>
      </p:nvGrpSpPr>
      <p:grpSpPr>
        <a:xfrm>
          <a:off x="0" y="0"/>
          <a:ext cx="0" cy="0"/>
          <a:chOff x="0" y="0"/>
          <a:chExt cx="0" cy="0"/>
        </a:xfrm>
      </p:grpSpPr>
      <p:sp>
        <p:nvSpPr>
          <p:cNvPr id="266" name="PlaceHolder 1">
            <a:extLst>
              <a:ext uri="{FF2B5EF4-FFF2-40B4-BE49-F238E27FC236}">
                <a16:creationId xmlns:a16="http://schemas.microsoft.com/office/drawing/2014/main" id="{ABF4E685-484B-B0D6-3208-9BD871EBE435}"/>
              </a:ext>
            </a:extLst>
          </p:cNvPr>
          <p:cNvSpPr>
            <a:spLocks noGrp="1" noRot="1" noChangeAspect="1"/>
          </p:cNvSpPr>
          <p:nvPr>
            <p:ph type="sldImg"/>
          </p:nvPr>
        </p:nvSpPr>
        <p:spPr>
          <a:xfrm>
            <a:off x="0" y="0"/>
            <a:ext cx="0" cy="0"/>
          </a:xfrm>
          <a:prstGeom prst="rect">
            <a:avLst/>
          </a:prstGeom>
          <a:ln w="0">
            <a:noFill/>
          </a:ln>
        </p:spPr>
      </p:sp>
      <p:sp>
        <p:nvSpPr>
          <p:cNvPr id="267" name="PlaceHolder 2">
            <a:extLst>
              <a:ext uri="{FF2B5EF4-FFF2-40B4-BE49-F238E27FC236}">
                <a16:creationId xmlns:a16="http://schemas.microsoft.com/office/drawing/2014/main" id="{4E0F720A-981F-4FAC-D350-99D41490F646}"/>
              </a:ext>
            </a:extLst>
          </p:cNvPr>
          <p:cNvSpPr>
            <a:spLocks noGrp="1"/>
          </p:cNvSpPr>
          <p:nvPr>
            <p:ph type="body"/>
          </p:nvPr>
        </p:nvSpPr>
        <p:spPr>
          <a:xfrm>
            <a:off x="0" y="0"/>
            <a:ext cx="360" cy="360"/>
          </a:xfrm>
          <a:prstGeom prst="rect">
            <a:avLst/>
          </a:prstGeom>
          <a:noFill/>
          <a:ln w="0">
            <a:noFill/>
          </a:ln>
        </p:spPr>
        <p:txBody>
          <a:bodyPr lIns="0" tIns="-44640" rIns="0" bIns="-44640" anchor="t">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DE" sz="1800" dirty="0"/>
              <a:t>Next, I used the </a:t>
            </a:r>
            <a:r>
              <a:rPr lang="en-DE" sz="1800" b="1" dirty="0"/>
              <a:t>Difference</a:t>
            </a:r>
            <a:r>
              <a:rPr lang="en-DE" sz="1800" dirty="0"/>
              <a:t> tool to remove restricted areas, such as </a:t>
            </a:r>
            <a:r>
              <a:rPr lang="en-DE" sz="1800" b="1" dirty="0"/>
              <a:t>railway lines, roads, and rivers</a:t>
            </a:r>
            <a:r>
              <a:rPr lang="en-DE" sz="1800" dirty="0"/>
              <a:t>, based on the previously prepared </a:t>
            </a:r>
            <a:r>
              <a:rPr lang="en-DE" sz="1800" b="1" dirty="0"/>
              <a:t>E</a:t>
            </a:r>
            <a:r>
              <a:rPr lang="en-US" sz="1800" b="1" dirty="0"/>
              <a:t>gur</a:t>
            </a:r>
            <a:r>
              <a:rPr lang="en-DE" sz="1800" b="1" dirty="0"/>
              <a:t> map</a:t>
            </a:r>
            <a:r>
              <a:rPr lang="en-DE" sz="1800" dirty="0"/>
              <a:t>.</a:t>
            </a:r>
            <a:endParaRPr lang="en-US" sz="1800" dirty="0"/>
          </a:p>
          <a:p>
            <a:pPr marL="0" marR="0" lvl="0" indent="0" algn="l" defTabSz="914400" rtl="0" eaLnBrk="1" fontAlgn="auto" latinLnBrk="0" hangingPunct="1">
              <a:lnSpc>
                <a:spcPct val="100000"/>
              </a:lnSpc>
              <a:spcBef>
                <a:spcPts val="0"/>
              </a:spcBef>
              <a:spcAft>
                <a:spcPts val="0"/>
              </a:spcAft>
              <a:buClrTx/>
              <a:buSzTx/>
              <a:buFontTx/>
              <a:buNone/>
              <a:tabLst/>
              <a:defRPr/>
            </a:pPr>
            <a:r>
              <a:rPr lang="en-DE" sz="1800" dirty="0"/>
              <a:t>As a result, I obtained the suitable </a:t>
            </a:r>
            <a:r>
              <a:rPr lang="en-DE" sz="1800" b="1" dirty="0"/>
              <a:t>Ackerland and </a:t>
            </a:r>
            <a:r>
              <a:rPr lang="en-DE" sz="1800" b="1" dirty="0" err="1"/>
              <a:t>Grünland</a:t>
            </a:r>
            <a:r>
              <a:rPr lang="en-DE" sz="1800" b="1" dirty="0"/>
              <a:t> areas for wind farm development</a:t>
            </a:r>
            <a:r>
              <a:rPr lang="en-DE" sz="1800" dirty="0"/>
              <a:t>, which are marked in </a:t>
            </a:r>
            <a:r>
              <a:rPr lang="en-DE" sz="1800" b="1" dirty="0"/>
              <a:t>green</a:t>
            </a:r>
            <a:r>
              <a:rPr lang="en-DE" sz="1800" dirty="0"/>
              <a:t> on the map.</a:t>
            </a:r>
          </a:p>
          <a:p>
            <a:pPr indent="0" algn="l">
              <a:buNone/>
            </a:pPr>
            <a:endParaRPr lang="de-DE" sz="1800" b="0" u="none" strike="noStrike" dirty="0">
              <a:solidFill>
                <a:srgbClr val="000000"/>
              </a:solidFill>
              <a:effectLst/>
              <a:uFillTx/>
              <a:latin typeface="Arial"/>
            </a:endParaRPr>
          </a:p>
        </p:txBody>
      </p:sp>
      <p:sp>
        <p:nvSpPr>
          <p:cNvPr id="268" name="PlaceHolder 3">
            <a:extLst>
              <a:ext uri="{FF2B5EF4-FFF2-40B4-BE49-F238E27FC236}">
                <a16:creationId xmlns:a16="http://schemas.microsoft.com/office/drawing/2014/main" id="{101319A5-3528-77A3-570F-99425A6DEB72}"/>
              </a:ext>
            </a:extLst>
          </p:cNvPr>
          <p:cNvSpPr>
            <a:spLocks noGrp="1"/>
          </p:cNvSpPr>
          <p:nvPr>
            <p:ph type="sldNum" idx="8"/>
          </p:nvPr>
        </p:nvSpPr>
        <p:spPr>
          <a:xfrm>
            <a:off x="0" y="0"/>
            <a:ext cx="360" cy="360"/>
          </a:xfrm>
          <a:prstGeom prst="rect">
            <a:avLst/>
          </a:prstGeom>
          <a:noFill/>
          <a:ln w="0">
            <a:noFill/>
          </a:ln>
        </p:spPr>
        <p:txBody>
          <a:bodyPr lIns="0" tIns="-44640" rIns="0" bIns="-44640" anchor="t">
            <a:noAutofit/>
          </a:bodyPr>
          <a:lstStyle>
            <a:lvl1pPr indent="0" algn="l" defTabSz="914400">
              <a:lnSpc>
                <a:spcPct val="100000"/>
              </a:lnSpc>
              <a:buNone/>
              <a:tabLst>
                <a:tab pos="0" algn="l"/>
              </a:tabLst>
              <a:defRPr lang="en-US" sz="1800" b="0" u="none" strike="noStrike">
                <a:solidFill>
                  <a:schemeClr val="dk1"/>
                </a:solidFill>
                <a:effectLst/>
                <a:uFillTx/>
                <a:latin typeface="+mn-lt"/>
                <a:ea typeface="+mn-ea"/>
              </a:defRPr>
            </a:lvl1pPr>
          </a:lstStyle>
          <a:p>
            <a:pPr indent="0" algn="l" defTabSz="914400">
              <a:lnSpc>
                <a:spcPct val="100000"/>
              </a:lnSpc>
              <a:buNone/>
              <a:tabLst>
                <a:tab pos="0" algn="l"/>
              </a:tabLst>
            </a:pPr>
            <a:fld id="{E977355F-B401-4AB0-82DC-CBC48917C4BE}" type="slidenum">
              <a:rPr lang="en-US" sz="1800" b="0" u="none" strike="noStrike">
                <a:solidFill>
                  <a:schemeClr val="dk1"/>
                </a:solidFill>
                <a:effectLst/>
                <a:uFillTx/>
                <a:latin typeface="+mn-lt"/>
                <a:ea typeface="+mn-ea"/>
              </a:rPr>
              <a:t>21</a:t>
            </a:fld>
            <a:endParaRPr lang="de-DE" sz="1800" b="0" u="none" strike="noStrike">
              <a:solidFill>
                <a:srgbClr val="000000"/>
              </a:solidFill>
              <a:effectLst/>
              <a:uFillTx/>
              <a:latin typeface="Times New Roman"/>
            </a:endParaRPr>
          </a:p>
        </p:txBody>
      </p:sp>
    </p:spTree>
    <p:extLst>
      <p:ext uri="{BB962C8B-B14F-4D97-AF65-F5344CB8AC3E}">
        <p14:creationId xmlns:p14="http://schemas.microsoft.com/office/powerpoint/2010/main" val="166574258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EBDFD7-5F2C-A511-141D-9B51D1ED9822}"/>
            </a:ext>
          </a:extLst>
        </p:cNvPr>
        <p:cNvGrpSpPr/>
        <p:nvPr/>
      </p:nvGrpSpPr>
      <p:grpSpPr>
        <a:xfrm>
          <a:off x="0" y="0"/>
          <a:ext cx="0" cy="0"/>
          <a:chOff x="0" y="0"/>
          <a:chExt cx="0" cy="0"/>
        </a:xfrm>
      </p:grpSpPr>
      <p:sp>
        <p:nvSpPr>
          <p:cNvPr id="269" name="PlaceHolder 1">
            <a:extLst>
              <a:ext uri="{FF2B5EF4-FFF2-40B4-BE49-F238E27FC236}">
                <a16:creationId xmlns:a16="http://schemas.microsoft.com/office/drawing/2014/main" id="{0682AB11-68DD-A281-5A18-960DA97B4896}"/>
              </a:ext>
            </a:extLst>
          </p:cNvPr>
          <p:cNvSpPr>
            <a:spLocks noGrp="1" noRot="1" noChangeAspect="1"/>
          </p:cNvSpPr>
          <p:nvPr>
            <p:ph type="sldImg"/>
          </p:nvPr>
        </p:nvSpPr>
        <p:spPr>
          <a:xfrm>
            <a:off x="0" y="0"/>
            <a:ext cx="0" cy="0"/>
          </a:xfrm>
          <a:prstGeom prst="rect">
            <a:avLst/>
          </a:prstGeom>
          <a:ln w="0">
            <a:noFill/>
          </a:ln>
        </p:spPr>
      </p:sp>
      <p:sp>
        <p:nvSpPr>
          <p:cNvPr id="270" name="PlaceHolder 2">
            <a:extLst>
              <a:ext uri="{FF2B5EF4-FFF2-40B4-BE49-F238E27FC236}">
                <a16:creationId xmlns:a16="http://schemas.microsoft.com/office/drawing/2014/main" id="{1CC5B08E-1545-B2B0-5F42-FF75F33AC9C1}"/>
              </a:ext>
            </a:extLst>
          </p:cNvPr>
          <p:cNvSpPr>
            <a:spLocks noGrp="1"/>
          </p:cNvSpPr>
          <p:nvPr>
            <p:ph type="body"/>
          </p:nvPr>
        </p:nvSpPr>
        <p:spPr>
          <a:xfrm>
            <a:off x="0" y="0"/>
            <a:ext cx="360" cy="360"/>
          </a:xfrm>
          <a:prstGeom prst="rect">
            <a:avLst/>
          </a:prstGeom>
          <a:noFill/>
          <a:ln w="0">
            <a:noFill/>
          </a:ln>
        </p:spPr>
        <p:txBody>
          <a:bodyPr lIns="0" tIns="-44640" rIns="0" bIns="-44640" anchor="t">
            <a:noAutofit/>
          </a:bodyPr>
          <a:lstStyle/>
          <a:p>
            <a:r>
              <a:rPr lang="en-DE" sz="1800" dirty="0"/>
              <a:t>Finally, I used the </a:t>
            </a:r>
            <a:r>
              <a:rPr lang="en-DE" sz="1800" b="1" dirty="0"/>
              <a:t>Extract by Expression</a:t>
            </a:r>
            <a:r>
              <a:rPr lang="en-DE" sz="1800" dirty="0"/>
              <a:t> tool to filter the areas with a size of </a:t>
            </a:r>
            <a:r>
              <a:rPr lang="en-DE" sz="1800" b="1" dirty="0"/>
              <a:t>18 ha or more</a:t>
            </a:r>
            <a:r>
              <a:rPr lang="en-DE" sz="1800" dirty="0"/>
              <a:t>, obtaining the final result.</a:t>
            </a:r>
            <a:endParaRPr lang="en-US" sz="1800" dirty="0"/>
          </a:p>
          <a:p>
            <a:r>
              <a:rPr lang="en-DE" sz="1800" dirty="0"/>
              <a:t>Finally, I created the </a:t>
            </a:r>
            <a:r>
              <a:rPr lang="en-DE" sz="1800" b="1" dirty="0"/>
              <a:t>map layout</a:t>
            </a:r>
            <a:r>
              <a:rPr lang="en-DE" sz="1800" dirty="0"/>
              <a:t> and obtained the final result shown in the image</a:t>
            </a:r>
            <a:endParaRPr lang="en-US" sz="1800" dirty="0"/>
          </a:p>
          <a:p>
            <a:pPr indent="0" algn="l">
              <a:buNone/>
            </a:pPr>
            <a:endParaRPr lang="de-DE" sz="1800" b="0" u="none" strike="noStrike" dirty="0">
              <a:solidFill>
                <a:srgbClr val="000000"/>
              </a:solidFill>
              <a:effectLst/>
              <a:uFillTx/>
              <a:latin typeface="Arial"/>
            </a:endParaRPr>
          </a:p>
        </p:txBody>
      </p:sp>
      <p:sp>
        <p:nvSpPr>
          <p:cNvPr id="271" name="PlaceHolder 3">
            <a:extLst>
              <a:ext uri="{FF2B5EF4-FFF2-40B4-BE49-F238E27FC236}">
                <a16:creationId xmlns:a16="http://schemas.microsoft.com/office/drawing/2014/main" id="{7B0B5F8A-48A4-84AD-7982-64409FB2CF41}"/>
              </a:ext>
            </a:extLst>
          </p:cNvPr>
          <p:cNvSpPr>
            <a:spLocks noGrp="1"/>
          </p:cNvSpPr>
          <p:nvPr>
            <p:ph type="sldNum" idx="9"/>
          </p:nvPr>
        </p:nvSpPr>
        <p:spPr>
          <a:xfrm>
            <a:off x="0" y="0"/>
            <a:ext cx="360" cy="360"/>
          </a:xfrm>
          <a:prstGeom prst="rect">
            <a:avLst/>
          </a:prstGeom>
          <a:noFill/>
          <a:ln w="0">
            <a:noFill/>
          </a:ln>
        </p:spPr>
        <p:txBody>
          <a:bodyPr lIns="0" tIns="-44640" rIns="0" bIns="-44640" anchor="t">
            <a:noAutofit/>
          </a:bodyPr>
          <a:lstStyle>
            <a:lvl1pPr indent="0" algn="l" defTabSz="914400">
              <a:lnSpc>
                <a:spcPct val="100000"/>
              </a:lnSpc>
              <a:buNone/>
              <a:tabLst>
                <a:tab pos="0" algn="l"/>
              </a:tabLst>
              <a:defRPr lang="en-US" sz="1800" b="0" u="none" strike="noStrike">
                <a:solidFill>
                  <a:schemeClr val="dk1"/>
                </a:solidFill>
                <a:effectLst/>
                <a:uFillTx/>
                <a:latin typeface="+mn-lt"/>
                <a:ea typeface="+mn-ea"/>
              </a:defRPr>
            </a:lvl1pPr>
          </a:lstStyle>
          <a:p>
            <a:pPr indent="0" algn="l" defTabSz="914400">
              <a:lnSpc>
                <a:spcPct val="100000"/>
              </a:lnSpc>
              <a:buNone/>
              <a:tabLst>
                <a:tab pos="0" algn="l"/>
              </a:tabLst>
            </a:pPr>
            <a:fld id="{B61D0AB0-DA77-4861-A2B5-15AF8F1FC8CB}" type="slidenum">
              <a:rPr lang="en-US" sz="1800" b="0" u="none" strike="noStrike">
                <a:solidFill>
                  <a:schemeClr val="dk1"/>
                </a:solidFill>
                <a:effectLst/>
                <a:uFillTx/>
                <a:latin typeface="+mn-lt"/>
                <a:ea typeface="+mn-ea"/>
              </a:rPr>
              <a:t>22</a:t>
            </a:fld>
            <a:endParaRPr lang="de-DE" sz="1800" b="0" u="none" strike="noStrike">
              <a:solidFill>
                <a:srgbClr val="000000"/>
              </a:solidFill>
              <a:effectLst/>
              <a:uFillTx/>
              <a:latin typeface="Times New Roman"/>
            </a:endParaRPr>
          </a:p>
        </p:txBody>
      </p:sp>
    </p:spTree>
    <p:extLst>
      <p:ext uri="{BB962C8B-B14F-4D97-AF65-F5344CB8AC3E}">
        <p14:creationId xmlns:p14="http://schemas.microsoft.com/office/powerpoint/2010/main" val="1327258380"/>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FA0D7F-4389-BEC5-A426-09ED355AB168}"/>
            </a:ext>
          </a:extLst>
        </p:cNvPr>
        <p:cNvGrpSpPr/>
        <p:nvPr/>
      </p:nvGrpSpPr>
      <p:grpSpPr>
        <a:xfrm>
          <a:off x="0" y="0"/>
          <a:ext cx="0" cy="0"/>
          <a:chOff x="0" y="0"/>
          <a:chExt cx="0" cy="0"/>
        </a:xfrm>
      </p:grpSpPr>
      <p:sp>
        <p:nvSpPr>
          <p:cNvPr id="272" name="PlaceHolder 1">
            <a:extLst>
              <a:ext uri="{FF2B5EF4-FFF2-40B4-BE49-F238E27FC236}">
                <a16:creationId xmlns:a16="http://schemas.microsoft.com/office/drawing/2014/main" id="{9CF13E73-7479-A4D0-9776-31E03E8FD17C}"/>
              </a:ext>
            </a:extLst>
          </p:cNvPr>
          <p:cNvSpPr>
            <a:spLocks noGrp="1" noRot="1" noChangeAspect="1"/>
          </p:cNvSpPr>
          <p:nvPr>
            <p:ph type="sldImg"/>
          </p:nvPr>
        </p:nvSpPr>
        <p:spPr>
          <a:xfrm>
            <a:off x="0" y="0"/>
            <a:ext cx="0" cy="0"/>
          </a:xfrm>
          <a:prstGeom prst="rect">
            <a:avLst/>
          </a:prstGeom>
          <a:ln w="0">
            <a:noFill/>
          </a:ln>
        </p:spPr>
      </p:sp>
      <p:sp>
        <p:nvSpPr>
          <p:cNvPr id="273" name="PlaceHolder 2">
            <a:extLst>
              <a:ext uri="{FF2B5EF4-FFF2-40B4-BE49-F238E27FC236}">
                <a16:creationId xmlns:a16="http://schemas.microsoft.com/office/drawing/2014/main" id="{5AB09304-EF83-B16A-E69B-48EC51B1E780}"/>
              </a:ext>
            </a:extLst>
          </p:cNvPr>
          <p:cNvSpPr>
            <a:spLocks noGrp="1"/>
          </p:cNvSpPr>
          <p:nvPr>
            <p:ph type="body"/>
          </p:nvPr>
        </p:nvSpPr>
        <p:spPr>
          <a:xfrm>
            <a:off x="0" y="0"/>
            <a:ext cx="360" cy="360"/>
          </a:xfrm>
          <a:prstGeom prst="rect">
            <a:avLst/>
          </a:prstGeom>
          <a:noFill/>
          <a:ln w="0">
            <a:noFill/>
          </a:ln>
        </p:spPr>
        <p:txBody>
          <a:bodyPr lIns="0" tIns="-44640" rIns="0" bIns="-44640" anchor="t">
            <a:noAutofit/>
          </a:bodyPr>
          <a:lstStyle/>
          <a:p>
            <a:pPr indent="0" algn="l">
              <a:buNone/>
            </a:pPr>
            <a:endParaRPr lang="de-DE" sz="1800" b="0" u="none" strike="noStrike" dirty="0">
              <a:solidFill>
                <a:srgbClr val="000000"/>
              </a:solidFill>
              <a:effectLst/>
              <a:uFillTx/>
              <a:latin typeface="Arial"/>
            </a:endParaRPr>
          </a:p>
        </p:txBody>
      </p:sp>
      <p:sp>
        <p:nvSpPr>
          <p:cNvPr id="274" name="PlaceHolder 3">
            <a:extLst>
              <a:ext uri="{FF2B5EF4-FFF2-40B4-BE49-F238E27FC236}">
                <a16:creationId xmlns:a16="http://schemas.microsoft.com/office/drawing/2014/main" id="{34EBD100-69A9-24BE-F409-7AA11F6789ED}"/>
              </a:ext>
            </a:extLst>
          </p:cNvPr>
          <p:cNvSpPr>
            <a:spLocks noGrp="1"/>
          </p:cNvSpPr>
          <p:nvPr>
            <p:ph type="sldNum" idx="10"/>
          </p:nvPr>
        </p:nvSpPr>
        <p:spPr>
          <a:xfrm>
            <a:off x="0" y="0"/>
            <a:ext cx="360" cy="360"/>
          </a:xfrm>
          <a:prstGeom prst="rect">
            <a:avLst/>
          </a:prstGeom>
          <a:noFill/>
          <a:ln w="0">
            <a:noFill/>
          </a:ln>
        </p:spPr>
        <p:txBody>
          <a:bodyPr lIns="0" tIns="-44640" rIns="0" bIns="-44640" anchor="t">
            <a:noAutofit/>
          </a:bodyPr>
          <a:lstStyle>
            <a:lvl1pPr indent="0" algn="l" defTabSz="914400">
              <a:lnSpc>
                <a:spcPct val="100000"/>
              </a:lnSpc>
              <a:buNone/>
              <a:tabLst>
                <a:tab pos="0" algn="l"/>
              </a:tabLst>
              <a:defRPr lang="en-US" sz="1800" b="0" u="none" strike="noStrike">
                <a:solidFill>
                  <a:schemeClr val="dk1"/>
                </a:solidFill>
                <a:effectLst/>
                <a:uFillTx/>
                <a:latin typeface="+mn-lt"/>
                <a:ea typeface="+mn-ea"/>
              </a:defRPr>
            </a:lvl1pPr>
          </a:lstStyle>
          <a:p>
            <a:pPr indent="0" algn="l" defTabSz="914400">
              <a:lnSpc>
                <a:spcPct val="100000"/>
              </a:lnSpc>
              <a:buNone/>
              <a:tabLst>
                <a:tab pos="0" algn="l"/>
              </a:tabLst>
            </a:pPr>
            <a:fld id="{83F40BC5-546F-4CCF-A851-C1DED0EF93E0}" type="slidenum">
              <a:rPr lang="en-US" sz="1800" b="0" u="none" strike="noStrike">
                <a:solidFill>
                  <a:schemeClr val="dk1"/>
                </a:solidFill>
                <a:effectLst/>
                <a:uFillTx/>
                <a:latin typeface="+mn-lt"/>
                <a:ea typeface="+mn-ea"/>
              </a:rPr>
              <a:t>23</a:t>
            </a:fld>
            <a:endParaRPr lang="de-DE" sz="1800" b="0" u="none" strike="noStrike">
              <a:solidFill>
                <a:srgbClr val="000000"/>
              </a:solidFill>
              <a:effectLst/>
              <a:uFillTx/>
              <a:latin typeface="Times New Roman"/>
            </a:endParaRPr>
          </a:p>
        </p:txBody>
      </p:sp>
    </p:spTree>
    <p:extLst>
      <p:ext uri="{BB962C8B-B14F-4D97-AF65-F5344CB8AC3E}">
        <p14:creationId xmlns:p14="http://schemas.microsoft.com/office/powerpoint/2010/main" val="1650015373"/>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82107C-83E0-05AD-107B-971E7D96627D}"/>
            </a:ext>
          </a:extLst>
        </p:cNvPr>
        <p:cNvGrpSpPr/>
        <p:nvPr/>
      </p:nvGrpSpPr>
      <p:grpSpPr>
        <a:xfrm>
          <a:off x="0" y="0"/>
          <a:ext cx="0" cy="0"/>
          <a:chOff x="0" y="0"/>
          <a:chExt cx="0" cy="0"/>
        </a:xfrm>
      </p:grpSpPr>
      <p:sp>
        <p:nvSpPr>
          <p:cNvPr id="299" name="PlaceHolder 1">
            <a:extLst>
              <a:ext uri="{FF2B5EF4-FFF2-40B4-BE49-F238E27FC236}">
                <a16:creationId xmlns:a16="http://schemas.microsoft.com/office/drawing/2014/main" id="{91BA6996-E557-22E4-A307-2151CDF80F7E}"/>
              </a:ext>
            </a:extLst>
          </p:cNvPr>
          <p:cNvSpPr>
            <a:spLocks noGrp="1" noRot="1" noChangeAspect="1"/>
          </p:cNvSpPr>
          <p:nvPr>
            <p:ph type="sldImg"/>
          </p:nvPr>
        </p:nvSpPr>
        <p:spPr>
          <a:xfrm>
            <a:off x="685800" y="1143000"/>
            <a:ext cx="5486400" cy="3086100"/>
          </a:xfrm>
          <a:prstGeom prst="rect">
            <a:avLst/>
          </a:prstGeom>
          <a:ln w="0">
            <a:noFill/>
          </a:ln>
        </p:spPr>
      </p:sp>
      <p:sp>
        <p:nvSpPr>
          <p:cNvPr id="300" name="PlaceHolder 2">
            <a:extLst>
              <a:ext uri="{FF2B5EF4-FFF2-40B4-BE49-F238E27FC236}">
                <a16:creationId xmlns:a16="http://schemas.microsoft.com/office/drawing/2014/main" id="{9AF2CA7D-B189-1B64-B050-9FEE78EC3F58}"/>
              </a:ext>
            </a:extLst>
          </p:cNvPr>
          <p:cNvSpPr>
            <a:spLocks noGrp="1"/>
          </p:cNvSpPr>
          <p:nvPr>
            <p:ph type="body"/>
          </p:nvPr>
        </p:nvSpPr>
        <p:spPr>
          <a:xfrm>
            <a:off x="685800" y="4400640"/>
            <a:ext cx="5485680" cy="3599640"/>
          </a:xfrm>
          <a:prstGeom prst="rect">
            <a:avLst/>
          </a:prstGeom>
          <a:noFill/>
          <a:ln w="0">
            <a:noFill/>
          </a:ln>
        </p:spPr>
        <p:txBody>
          <a:bodyPr lIns="91440" tIns="45720" rIns="91440" bIns="45720" anchor="t">
            <a:noAutofit/>
          </a:bodyPr>
          <a:lstStyle/>
          <a:p>
            <a:r>
              <a:rPr lang="en-DE" sz="1800" dirty="0"/>
              <a:t>The analysis identified four suitable areas with a total area of approximately </a:t>
            </a:r>
            <a:r>
              <a:rPr lang="en-DE" sz="1800" b="1" dirty="0"/>
              <a:t>90.93 ha</a:t>
            </a:r>
            <a:r>
              <a:rPr lang="en-DE" sz="1800" dirty="0"/>
              <a:t>. The individual areas range from approximately </a:t>
            </a:r>
            <a:r>
              <a:rPr lang="en-DE" sz="1800" b="1" dirty="0"/>
              <a:t>18.50 ha to 29.96 ha</a:t>
            </a:r>
            <a:r>
              <a:rPr lang="en-DE" sz="1800" dirty="0"/>
              <a:t>.</a:t>
            </a:r>
            <a:endParaRPr lang="en-US" sz="1800" dirty="0"/>
          </a:p>
          <a:p>
            <a:pPr marL="0" marR="0" lvl="0" indent="0" algn="l" defTabSz="914400" rtl="0" eaLnBrk="1" fontAlgn="auto" latinLnBrk="0" hangingPunct="1">
              <a:lnSpc>
                <a:spcPct val="100000"/>
              </a:lnSpc>
              <a:spcBef>
                <a:spcPts val="0"/>
              </a:spcBef>
              <a:spcAft>
                <a:spcPts val="0"/>
              </a:spcAft>
              <a:buClrTx/>
              <a:buSzTx/>
              <a:buFontTx/>
              <a:buNone/>
              <a:tabLst/>
              <a:defRPr/>
            </a:pPr>
            <a:r>
              <a:rPr lang="en-DE" sz="1800" dirty="0"/>
              <a:t>Spatially, the suitable areas are concentrated mainly in the </a:t>
            </a:r>
            <a:r>
              <a:rPr lang="en-DE" sz="1800" b="1" dirty="0"/>
              <a:t>western and southwestern parts of the study area</a:t>
            </a:r>
            <a:r>
              <a:rPr lang="en-DE" sz="1800" dirty="0"/>
              <a:t>. Very few</a:t>
            </a:r>
            <a:r>
              <a:rPr lang="en-US" sz="1800" dirty="0"/>
              <a:t> </a:t>
            </a:r>
            <a:r>
              <a:rPr lang="en-DE" sz="1800" dirty="0"/>
              <a:t>suitable areas remain in the central and eastern parts. This pattern can be explained by the high density of settlements, transport infrastructure, water bodies, and other protected features. Their overlapping buffer zones exclude a large proportion of the study area, which further reduces the number of feasible sites.</a:t>
            </a:r>
          </a:p>
          <a:p>
            <a:pPr indent="0" algn="l">
              <a:buNone/>
            </a:pPr>
            <a:endParaRPr lang="de-DE" sz="1800" b="0" u="none" strike="noStrike" dirty="0">
              <a:solidFill>
                <a:srgbClr val="000000"/>
              </a:solidFill>
              <a:effectLst/>
              <a:uFillTx/>
              <a:latin typeface="Arial"/>
            </a:endParaRPr>
          </a:p>
        </p:txBody>
      </p:sp>
      <p:sp>
        <p:nvSpPr>
          <p:cNvPr id="301" name="PlaceHolder 3">
            <a:extLst>
              <a:ext uri="{FF2B5EF4-FFF2-40B4-BE49-F238E27FC236}">
                <a16:creationId xmlns:a16="http://schemas.microsoft.com/office/drawing/2014/main" id="{F18E0DF0-3957-B6D8-5D0E-C2CD03C8A6B1}"/>
              </a:ext>
            </a:extLst>
          </p:cNvPr>
          <p:cNvSpPr>
            <a:spLocks noGrp="1"/>
          </p:cNvSpPr>
          <p:nvPr>
            <p:ph type="sldNum" idx="19"/>
          </p:nvPr>
        </p:nvSpPr>
        <p:spPr>
          <a:xfrm>
            <a:off x="3884760" y="8685360"/>
            <a:ext cx="2971080" cy="45792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332C8B47-FD01-48C1-8A44-7CB31CBD9CF2}" type="slidenum">
              <a:rPr lang="en-US" sz="1200" b="0" u="none" strike="noStrike">
                <a:solidFill>
                  <a:schemeClr val="dk1"/>
                </a:solidFill>
                <a:effectLst/>
                <a:uFillTx/>
                <a:latin typeface="+mn-lt"/>
                <a:ea typeface="+mn-ea"/>
              </a:rPr>
              <a:t>24</a:t>
            </a:fld>
            <a:endParaRPr lang="de-DE" sz="1200" b="0" u="none" strike="noStrike">
              <a:solidFill>
                <a:srgbClr val="000000"/>
              </a:solidFill>
              <a:effectLst/>
              <a:uFillTx/>
              <a:latin typeface="Times New Roman"/>
            </a:endParaRPr>
          </a:p>
        </p:txBody>
      </p:sp>
    </p:spTree>
    <p:extLst>
      <p:ext uri="{BB962C8B-B14F-4D97-AF65-F5344CB8AC3E}">
        <p14:creationId xmlns:p14="http://schemas.microsoft.com/office/powerpoint/2010/main" val="155189810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EFAULT">
    <p:bg>
      <p:bgPr>
        <a:solidFill>
          <a:srgbClr val="FFFFFF"/>
        </a:solidFill>
        <a:effectLst/>
      </p:bgPr>
    </p:bg>
    <p:spTree>
      <p:nvGrpSpPr>
        <p:cNvPr id="1" name=""/>
        <p:cNvGrpSpPr/>
        <p:nvPr/>
      </p:nvGrpSpPr>
      <p:grpSpPr>
        <a:xfrm>
          <a:off x="0" y="0"/>
          <a:ext cx="0" cy="0"/>
          <a:chOff x="0" y="0"/>
          <a:chExt cx="0" cy="0"/>
        </a:xfrm>
      </p:grpSpPr>
      <p:sp>
        <p:nvSpPr>
          <p:cNvPr id="2" name="PlaceHolder 1"/>
          <p:cNvSpPr>
            <a:spLocks noGrp="1"/>
          </p:cNvSpPr>
          <p:nvPr>
            <p:ph type="title"/>
          </p:nvPr>
        </p:nvSpPr>
        <p:spPr>
          <a:xfrm>
            <a:off x="609480" y="708480"/>
            <a:ext cx="10972080" cy="274680"/>
          </a:xfrm>
          <a:prstGeom prst="rect">
            <a:avLst/>
          </a:prstGeom>
          <a:noFill/>
          <a:ln w="0">
            <a:noFill/>
          </a:ln>
        </p:spPr>
        <p:txBody>
          <a:bodyPr lIns="0" tIns="0" rIns="0" bIns="0" anchor="ctr">
            <a:spAutoFit/>
          </a:bodyPr>
          <a:lstStyle>
            <a:lvl1pPr indent="0" algn="l">
              <a:buNone/>
              <a:tabLst>
                <a:tab pos="0" algn="l"/>
              </a:tabLst>
              <a:defRPr lang="de-DE" sz="1800" b="0" u="none" strike="noStrike">
                <a:solidFill>
                  <a:schemeClr val="dk1"/>
                </a:solidFill>
                <a:effectLst/>
                <a:uFillTx/>
                <a:latin typeface="Calibri"/>
              </a:defRPr>
            </a:lvl1pPr>
          </a:lstStyle>
          <a:p>
            <a:pPr indent="0" algn="l">
              <a:buNone/>
              <a:tabLst>
                <a:tab pos="0" algn="l"/>
              </a:tabLst>
            </a:pPr>
            <a:r>
              <a:rPr lang="de-DE" sz="1800" b="0" u="none" strike="noStrike">
                <a:solidFill>
                  <a:schemeClr val="dk1"/>
                </a:solidFill>
                <a:effectLst/>
                <a:uFillTx/>
                <a:latin typeface="Calibri"/>
              </a:rPr>
              <a:t>Format des Titeltextes durch Klicken bearbeiten</a:t>
            </a:r>
          </a:p>
        </p:txBody>
      </p:sp>
      <p:sp>
        <p:nvSpPr>
          <p:cNvPr id="3" name="PlaceHolder 2"/>
          <p:cNvSpPr>
            <a:spLocks noGrp="1"/>
          </p:cNvSpPr>
          <p:nvPr>
            <p:ph type="body"/>
          </p:nvPr>
        </p:nvSpPr>
        <p:spPr>
          <a:xfrm>
            <a:off x="609480" y="1604520"/>
            <a:ext cx="10972440" cy="3977280"/>
          </a:xfrm>
          <a:prstGeom prst="rect">
            <a:avLst/>
          </a:prstGeom>
          <a:noFill/>
          <a:ln w="0">
            <a:noFill/>
          </a:ln>
        </p:spPr>
        <p:txBody>
          <a:bodyPr lIns="0" tIns="0" rIns="0" bIns="0" anchor="t">
            <a:normAutofit/>
          </a:bodyPr>
          <a:lstStyle>
            <a:lvl1pPr algn="l">
              <a:spcBef>
                <a:spcPts val="1417"/>
              </a:spcBef>
              <a:buClr>
                <a:srgbClr val="000000"/>
              </a:buClr>
              <a:buSzPct val="45000"/>
              <a:buFont typeface="Wingdings" charset="2"/>
              <a:buChar char=""/>
              <a:defRPr lang="de-DE" sz="3200" b="0" u="none" strike="noStrike">
                <a:solidFill>
                  <a:schemeClr val="dk1"/>
                </a:solidFill>
                <a:effectLst/>
                <a:uFillTx/>
                <a:latin typeface="Calibri"/>
              </a:defRPr>
            </a:lvl1pPr>
            <a:lvl2pPr lvl="1" algn="l">
              <a:spcBef>
                <a:spcPts val="1134"/>
              </a:spcBef>
              <a:buClr>
                <a:srgbClr val="000000"/>
              </a:buClr>
              <a:buSzPct val="75000"/>
              <a:buFont typeface="Symbol" charset="2"/>
              <a:buChar char=""/>
              <a:defRPr lang="de-DE" sz="2400" b="0" u="none" strike="noStrike">
                <a:solidFill>
                  <a:schemeClr val="dk1"/>
                </a:solidFill>
                <a:effectLst/>
                <a:uFillTx/>
                <a:latin typeface="Calibri"/>
              </a:defRPr>
            </a:lvl2pPr>
            <a:lvl3pPr lvl="2" algn="l">
              <a:spcBef>
                <a:spcPts val="850"/>
              </a:spcBef>
              <a:buClr>
                <a:srgbClr val="000000"/>
              </a:buClr>
              <a:buSzPct val="45000"/>
              <a:buFont typeface="Wingdings" charset="2"/>
              <a:buChar char=""/>
              <a:defRPr lang="de-DE" sz="2000" b="0" u="none" strike="noStrike">
                <a:solidFill>
                  <a:schemeClr val="dk1"/>
                </a:solidFill>
                <a:effectLst/>
                <a:uFillTx/>
                <a:latin typeface="Calibri"/>
              </a:defRPr>
            </a:lvl3pPr>
            <a:lvl4pPr lvl="3" algn="l">
              <a:spcBef>
                <a:spcPts val="567"/>
              </a:spcBef>
              <a:buClr>
                <a:srgbClr val="000000"/>
              </a:buClr>
              <a:buSzPct val="75000"/>
              <a:buFont typeface="Symbol" charset="2"/>
              <a:buChar char=""/>
              <a:defRPr lang="de-DE" sz="2000" b="0" u="none" strike="noStrike">
                <a:solidFill>
                  <a:schemeClr val="dk1"/>
                </a:solidFill>
                <a:effectLst/>
                <a:uFillTx/>
                <a:latin typeface="Calibri"/>
              </a:defRPr>
            </a:lvl4pPr>
            <a:lvl5pPr lvl="4" algn="l">
              <a:spcBef>
                <a:spcPts val="283"/>
              </a:spcBef>
              <a:buClr>
                <a:srgbClr val="000000"/>
              </a:buClr>
              <a:buSzPct val="45000"/>
              <a:buFont typeface="Wingdings" charset="2"/>
              <a:buChar char=""/>
              <a:defRPr lang="de-DE" sz="2000" b="0" u="none" strike="noStrike">
                <a:solidFill>
                  <a:schemeClr val="dk1"/>
                </a:solidFill>
                <a:effectLst/>
                <a:uFillTx/>
                <a:latin typeface="Calibri"/>
              </a:defRPr>
            </a:lvl5pPr>
            <a:lvl6pPr lvl="5" algn="l">
              <a:spcBef>
                <a:spcPts val="283"/>
              </a:spcBef>
              <a:buClr>
                <a:srgbClr val="000000"/>
              </a:buClr>
              <a:buSzPct val="45000"/>
              <a:buFont typeface="Wingdings" charset="2"/>
              <a:buChar char=""/>
              <a:defRPr lang="de-DE" sz="2000" b="0" u="none" strike="noStrike">
                <a:solidFill>
                  <a:schemeClr val="dk1"/>
                </a:solidFill>
                <a:effectLst/>
                <a:uFillTx/>
                <a:latin typeface="Calibri"/>
              </a:defRPr>
            </a:lvl6pPr>
            <a:lvl7pPr lvl="6" algn="l">
              <a:spcBef>
                <a:spcPts val="283"/>
              </a:spcBef>
              <a:buClr>
                <a:srgbClr val="000000"/>
              </a:buClr>
              <a:buSzPct val="45000"/>
              <a:buFont typeface="Wingdings" charset="2"/>
              <a:buChar char=""/>
              <a:defRPr lang="de-DE" sz="2000" b="0" u="none" strike="noStrike">
                <a:solidFill>
                  <a:schemeClr val="dk1"/>
                </a:solidFill>
                <a:effectLst/>
                <a:uFillTx/>
                <a:latin typeface="Calibri"/>
              </a:defRPr>
            </a:lvl7pPr>
          </a:lstStyle>
          <a:p>
            <a:pPr indent="-324000" algn="l">
              <a:spcBef>
                <a:spcPts val="1417"/>
              </a:spcBef>
              <a:buClr>
                <a:srgbClr val="000000"/>
              </a:buClr>
              <a:buSzPct val="45000"/>
              <a:buFont typeface="Wingdings" charset="2"/>
              <a:buChar char=""/>
            </a:pPr>
            <a:r>
              <a:rPr lang="de-DE" sz="3200" b="0" u="none" strike="noStrike">
                <a:solidFill>
                  <a:schemeClr val="dk1"/>
                </a:solidFill>
                <a:effectLst/>
                <a:uFillTx/>
                <a:latin typeface="Calibri"/>
              </a:rPr>
              <a:t>Format des Gliederungstextes durch Klicken bearbeiten</a:t>
            </a:r>
          </a:p>
          <a:p>
            <a:pPr marL="864000" lvl="1" indent="-324000" algn="l">
              <a:spcBef>
                <a:spcPts val="1134"/>
              </a:spcBef>
              <a:buClr>
                <a:srgbClr val="000000"/>
              </a:buClr>
              <a:buSzPct val="75000"/>
              <a:buFont typeface="Symbol" charset="2"/>
              <a:buChar char=""/>
            </a:pPr>
            <a:r>
              <a:rPr lang="de-DE" sz="2400" b="0" u="none" strike="noStrike">
                <a:solidFill>
                  <a:schemeClr val="dk1"/>
                </a:solidFill>
                <a:effectLst/>
                <a:uFillTx/>
                <a:latin typeface="Calibri"/>
              </a:rPr>
              <a:t>Zweite Gliederungsebene</a:t>
            </a:r>
          </a:p>
          <a:p>
            <a:pPr marL="1296000" lvl="2" indent="-288000" algn="l">
              <a:spcBef>
                <a:spcPts val="850"/>
              </a:spcBef>
              <a:buClr>
                <a:srgbClr val="000000"/>
              </a:buClr>
              <a:buSzPct val="45000"/>
              <a:buFont typeface="Wingdings" charset="2"/>
              <a:buChar char=""/>
            </a:pPr>
            <a:r>
              <a:rPr lang="de-DE" sz="2000" b="0" u="none" strike="noStrike">
                <a:solidFill>
                  <a:schemeClr val="dk1"/>
                </a:solidFill>
                <a:effectLst/>
                <a:uFillTx/>
                <a:latin typeface="Calibri"/>
              </a:rPr>
              <a:t>Dritte Gliederungsebene</a:t>
            </a:r>
          </a:p>
          <a:p>
            <a:pPr marL="1728000" lvl="3" indent="-216000" algn="l">
              <a:spcBef>
                <a:spcPts val="567"/>
              </a:spcBef>
              <a:buClr>
                <a:srgbClr val="000000"/>
              </a:buClr>
              <a:buSzPct val="75000"/>
              <a:buFont typeface="Symbol" charset="2"/>
              <a:buChar char=""/>
            </a:pPr>
            <a:r>
              <a:rPr lang="de-DE" sz="2000" b="0" u="none" strike="noStrike">
                <a:solidFill>
                  <a:schemeClr val="dk1"/>
                </a:solidFill>
                <a:effectLst/>
                <a:uFillTx/>
                <a:latin typeface="Calibri"/>
              </a:rPr>
              <a:t>Vierte Gliederungsebene</a:t>
            </a:r>
          </a:p>
          <a:p>
            <a:pPr marL="2160000" lvl="4" indent="-216000" algn="l">
              <a:spcBef>
                <a:spcPts val="283"/>
              </a:spcBef>
              <a:buClr>
                <a:srgbClr val="000000"/>
              </a:buClr>
              <a:buSzPct val="45000"/>
              <a:buFont typeface="Wingdings" charset="2"/>
              <a:buChar char=""/>
            </a:pPr>
            <a:r>
              <a:rPr lang="de-DE" sz="2000" b="0" u="none" strike="noStrike">
                <a:solidFill>
                  <a:schemeClr val="dk1"/>
                </a:solidFill>
                <a:effectLst/>
                <a:uFillTx/>
                <a:latin typeface="Calibri"/>
              </a:rPr>
              <a:t>Fünfte Gliederungsebene</a:t>
            </a:r>
          </a:p>
          <a:p>
            <a:pPr marL="2592000" lvl="5" indent="-216000" algn="l">
              <a:spcBef>
                <a:spcPts val="283"/>
              </a:spcBef>
              <a:buClr>
                <a:srgbClr val="000000"/>
              </a:buClr>
              <a:buSzPct val="45000"/>
              <a:buFont typeface="Wingdings" charset="2"/>
              <a:buChar char=""/>
            </a:pPr>
            <a:r>
              <a:rPr lang="de-DE" sz="2000" b="0" u="none" strike="noStrike">
                <a:solidFill>
                  <a:schemeClr val="dk1"/>
                </a:solidFill>
                <a:effectLst/>
                <a:uFillTx/>
                <a:latin typeface="Calibri"/>
              </a:rPr>
              <a:t>Sechste Gliederungsebene</a:t>
            </a:r>
          </a:p>
          <a:p>
            <a:pPr marL="3024000" lvl="6" indent="-216000" algn="l">
              <a:spcBef>
                <a:spcPts val="283"/>
              </a:spcBef>
              <a:buClr>
                <a:srgbClr val="000000"/>
              </a:buClr>
              <a:buSzPct val="45000"/>
              <a:buFont typeface="Wingdings" charset="2"/>
              <a:buChar char=""/>
            </a:pPr>
            <a:r>
              <a:rPr lang="de-DE" sz="2000" b="0" u="none" strike="noStrike">
                <a:solidFill>
                  <a:schemeClr val="dk1"/>
                </a:solidFill>
                <a:effectLst/>
                <a:uFillTx/>
                <a:latin typeface="Calibri"/>
              </a:rPr>
              <a:t>Siebte Gliederungsebene</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blank" preserve="1">
  <p:cSld name="Standard">
    <p:bg>
      <p:bgPr>
        <a:solidFill>
          <a:srgbClr val="FFFFFF"/>
        </a:solidFill>
        <a:effectLst/>
      </p:bgPr>
    </p:bg>
    <p:spTree>
      <p:nvGrpSpPr>
        <p:cNvPr id="1" name=""/>
        <p:cNvGrpSpPr/>
        <p:nvPr/>
      </p:nvGrpSpPr>
      <p:grpSpPr>
        <a:xfrm>
          <a:off x="0" y="0"/>
          <a:ext cx="0" cy="0"/>
          <a:chOff x="0" y="0"/>
          <a:chExt cx="0" cy="0"/>
        </a:xfrm>
      </p:grpSpPr>
      <p:sp>
        <p:nvSpPr>
          <p:cNvPr id="4" name="PlaceHolder 1"/>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lvl1pPr indent="0" algn="l">
              <a:buNone/>
              <a:tabLst>
                <a:tab pos="0" algn="l"/>
              </a:tabLst>
              <a:defRPr lang="de-DE" sz="1800" b="0" u="none" strike="noStrike">
                <a:solidFill>
                  <a:schemeClr val="dk1"/>
                </a:solidFill>
                <a:effectLst/>
                <a:uFillTx/>
                <a:latin typeface="Calibri"/>
              </a:defRPr>
            </a:lvl1pPr>
          </a:lstStyle>
          <a:p>
            <a:pPr indent="0" algn="l">
              <a:buNone/>
              <a:tabLst>
                <a:tab pos="0" algn="l"/>
              </a:tabLst>
            </a:pPr>
            <a:r>
              <a:rPr lang="de-DE" sz="1800" b="0" u="none" strike="noStrike">
                <a:solidFill>
                  <a:schemeClr val="dk1"/>
                </a:solidFill>
                <a:effectLst/>
                <a:uFillTx/>
                <a:latin typeface="Calibri"/>
              </a:rPr>
              <a:t>Format des Titeltextes durch Klicken bearbeiten</a:t>
            </a:r>
          </a:p>
        </p:txBody>
      </p:sp>
      <p:sp>
        <p:nvSpPr>
          <p:cNvPr id="5" name="PlaceHolder 2"/>
          <p:cNvSpPr>
            <a:spLocks noGrp="1"/>
          </p:cNvSpPr>
          <p:nvPr>
            <p:ph type="body"/>
          </p:nvPr>
        </p:nvSpPr>
        <p:spPr>
          <a:xfrm>
            <a:off x="609480" y="1604520"/>
            <a:ext cx="10972440" cy="3977280"/>
          </a:xfrm>
          <a:prstGeom prst="rect">
            <a:avLst/>
          </a:prstGeom>
          <a:noFill/>
          <a:ln w="0">
            <a:noFill/>
          </a:ln>
        </p:spPr>
        <p:txBody>
          <a:bodyPr lIns="0" tIns="0" rIns="0" bIns="0" anchor="t">
            <a:normAutofit/>
          </a:bodyPr>
          <a:lstStyle>
            <a:lvl1pPr algn="l">
              <a:spcBef>
                <a:spcPts val="1417"/>
              </a:spcBef>
              <a:buClr>
                <a:srgbClr val="000000"/>
              </a:buClr>
              <a:buSzPct val="45000"/>
              <a:buFont typeface="Wingdings" charset="2"/>
              <a:buChar char=""/>
              <a:defRPr lang="de-DE" sz="3200" b="0" u="none" strike="noStrike">
                <a:solidFill>
                  <a:schemeClr val="dk1"/>
                </a:solidFill>
                <a:effectLst/>
                <a:uFillTx/>
                <a:latin typeface="Calibri"/>
              </a:defRPr>
            </a:lvl1pPr>
            <a:lvl2pPr lvl="1" algn="l">
              <a:spcBef>
                <a:spcPts val="1134"/>
              </a:spcBef>
              <a:buClr>
                <a:srgbClr val="000000"/>
              </a:buClr>
              <a:buSzPct val="75000"/>
              <a:buFont typeface="Symbol" charset="2"/>
              <a:buChar char=""/>
              <a:defRPr lang="de-DE" sz="2400" b="0" u="none" strike="noStrike">
                <a:solidFill>
                  <a:schemeClr val="dk1"/>
                </a:solidFill>
                <a:effectLst/>
                <a:uFillTx/>
                <a:latin typeface="Calibri"/>
              </a:defRPr>
            </a:lvl2pPr>
            <a:lvl3pPr lvl="2" algn="l">
              <a:spcBef>
                <a:spcPts val="850"/>
              </a:spcBef>
              <a:buClr>
                <a:srgbClr val="000000"/>
              </a:buClr>
              <a:buSzPct val="45000"/>
              <a:buFont typeface="Wingdings" charset="2"/>
              <a:buChar char=""/>
              <a:defRPr lang="de-DE" sz="2000" b="0" u="none" strike="noStrike">
                <a:solidFill>
                  <a:schemeClr val="dk1"/>
                </a:solidFill>
                <a:effectLst/>
                <a:uFillTx/>
                <a:latin typeface="Calibri"/>
              </a:defRPr>
            </a:lvl3pPr>
            <a:lvl4pPr lvl="3" algn="l">
              <a:spcBef>
                <a:spcPts val="567"/>
              </a:spcBef>
              <a:buClr>
                <a:srgbClr val="000000"/>
              </a:buClr>
              <a:buSzPct val="75000"/>
              <a:buFont typeface="Symbol" charset="2"/>
              <a:buChar char=""/>
              <a:defRPr lang="de-DE" sz="2000" b="0" u="none" strike="noStrike">
                <a:solidFill>
                  <a:schemeClr val="dk1"/>
                </a:solidFill>
                <a:effectLst/>
                <a:uFillTx/>
                <a:latin typeface="Calibri"/>
              </a:defRPr>
            </a:lvl4pPr>
            <a:lvl5pPr lvl="4" algn="l">
              <a:spcBef>
                <a:spcPts val="283"/>
              </a:spcBef>
              <a:buClr>
                <a:srgbClr val="000000"/>
              </a:buClr>
              <a:buSzPct val="45000"/>
              <a:buFont typeface="Wingdings" charset="2"/>
              <a:buChar char=""/>
              <a:defRPr lang="de-DE" sz="2000" b="0" u="none" strike="noStrike">
                <a:solidFill>
                  <a:schemeClr val="dk1"/>
                </a:solidFill>
                <a:effectLst/>
                <a:uFillTx/>
                <a:latin typeface="Calibri"/>
              </a:defRPr>
            </a:lvl5pPr>
            <a:lvl6pPr lvl="5" algn="l">
              <a:spcBef>
                <a:spcPts val="283"/>
              </a:spcBef>
              <a:buClr>
                <a:srgbClr val="000000"/>
              </a:buClr>
              <a:buSzPct val="45000"/>
              <a:buFont typeface="Wingdings" charset="2"/>
              <a:buChar char=""/>
              <a:defRPr lang="de-DE" sz="2000" b="0" u="none" strike="noStrike">
                <a:solidFill>
                  <a:schemeClr val="dk1"/>
                </a:solidFill>
                <a:effectLst/>
                <a:uFillTx/>
                <a:latin typeface="Calibri"/>
              </a:defRPr>
            </a:lvl6pPr>
            <a:lvl7pPr lvl="6" algn="l">
              <a:spcBef>
                <a:spcPts val="283"/>
              </a:spcBef>
              <a:buClr>
                <a:srgbClr val="000000"/>
              </a:buClr>
              <a:buSzPct val="45000"/>
              <a:buFont typeface="Wingdings" charset="2"/>
              <a:buChar char=""/>
              <a:defRPr lang="de-DE" sz="2000" b="0" u="none" strike="noStrike">
                <a:solidFill>
                  <a:schemeClr val="dk1"/>
                </a:solidFill>
                <a:effectLst/>
                <a:uFillTx/>
                <a:latin typeface="Calibri"/>
              </a:defRPr>
            </a:lvl7pPr>
          </a:lstStyle>
          <a:p>
            <a:pPr indent="-324000" algn="l">
              <a:spcBef>
                <a:spcPts val="1417"/>
              </a:spcBef>
              <a:buClr>
                <a:srgbClr val="000000"/>
              </a:buClr>
              <a:buSzPct val="45000"/>
              <a:buFont typeface="Wingdings" charset="2"/>
              <a:buChar char=""/>
            </a:pPr>
            <a:r>
              <a:rPr lang="de-DE" sz="3200" b="0" u="none" strike="noStrike">
                <a:solidFill>
                  <a:schemeClr val="dk1"/>
                </a:solidFill>
                <a:effectLst/>
                <a:uFillTx/>
                <a:latin typeface="Calibri"/>
              </a:rPr>
              <a:t>Format des Gliederungstextes durch Klicken bearbeiten</a:t>
            </a:r>
          </a:p>
          <a:p>
            <a:pPr marL="864000" lvl="1" indent="-324000" algn="l">
              <a:spcBef>
                <a:spcPts val="1134"/>
              </a:spcBef>
              <a:buClr>
                <a:srgbClr val="000000"/>
              </a:buClr>
              <a:buSzPct val="75000"/>
              <a:buFont typeface="Symbol" charset="2"/>
              <a:buChar char=""/>
            </a:pPr>
            <a:r>
              <a:rPr lang="de-DE" sz="2400" b="0" u="none" strike="noStrike">
                <a:solidFill>
                  <a:schemeClr val="dk1"/>
                </a:solidFill>
                <a:effectLst/>
                <a:uFillTx/>
                <a:latin typeface="Calibri"/>
              </a:rPr>
              <a:t>Zweite Gliederungsebene</a:t>
            </a:r>
          </a:p>
          <a:p>
            <a:pPr marL="1296000" lvl="2" indent="-288000" algn="l">
              <a:spcBef>
                <a:spcPts val="850"/>
              </a:spcBef>
              <a:buClr>
                <a:srgbClr val="000000"/>
              </a:buClr>
              <a:buSzPct val="45000"/>
              <a:buFont typeface="Wingdings" charset="2"/>
              <a:buChar char=""/>
            </a:pPr>
            <a:r>
              <a:rPr lang="de-DE" sz="2000" b="0" u="none" strike="noStrike">
                <a:solidFill>
                  <a:schemeClr val="dk1"/>
                </a:solidFill>
                <a:effectLst/>
                <a:uFillTx/>
                <a:latin typeface="Calibri"/>
              </a:rPr>
              <a:t>Dritte Gliederungsebene</a:t>
            </a:r>
          </a:p>
          <a:p>
            <a:pPr marL="1728000" lvl="3" indent="-216000" algn="l">
              <a:spcBef>
                <a:spcPts val="567"/>
              </a:spcBef>
              <a:buClr>
                <a:srgbClr val="000000"/>
              </a:buClr>
              <a:buSzPct val="75000"/>
              <a:buFont typeface="Symbol" charset="2"/>
              <a:buChar char=""/>
            </a:pPr>
            <a:r>
              <a:rPr lang="de-DE" sz="2000" b="0" u="none" strike="noStrike">
                <a:solidFill>
                  <a:schemeClr val="dk1"/>
                </a:solidFill>
                <a:effectLst/>
                <a:uFillTx/>
                <a:latin typeface="Calibri"/>
              </a:rPr>
              <a:t>Vierte Gliederungsebene</a:t>
            </a:r>
          </a:p>
          <a:p>
            <a:pPr marL="2160000" lvl="4" indent="-216000" algn="l">
              <a:spcBef>
                <a:spcPts val="283"/>
              </a:spcBef>
              <a:buClr>
                <a:srgbClr val="000000"/>
              </a:buClr>
              <a:buSzPct val="45000"/>
              <a:buFont typeface="Wingdings" charset="2"/>
              <a:buChar char=""/>
            </a:pPr>
            <a:r>
              <a:rPr lang="de-DE" sz="2000" b="0" u="none" strike="noStrike">
                <a:solidFill>
                  <a:schemeClr val="dk1"/>
                </a:solidFill>
                <a:effectLst/>
                <a:uFillTx/>
                <a:latin typeface="Calibri"/>
              </a:rPr>
              <a:t>Fünfte Gliederungsebene</a:t>
            </a:r>
          </a:p>
          <a:p>
            <a:pPr marL="2592000" lvl="5" indent="-216000" algn="l">
              <a:spcBef>
                <a:spcPts val="283"/>
              </a:spcBef>
              <a:buClr>
                <a:srgbClr val="000000"/>
              </a:buClr>
              <a:buSzPct val="45000"/>
              <a:buFont typeface="Wingdings" charset="2"/>
              <a:buChar char=""/>
            </a:pPr>
            <a:r>
              <a:rPr lang="de-DE" sz="2000" b="0" u="none" strike="noStrike">
                <a:solidFill>
                  <a:schemeClr val="dk1"/>
                </a:solidFill>
                <a:effectLst/>
                <a:uFillTx/>
                <a:latin typeface="Calibri"/>
              </a:rPr>
              <a:t>Sechste Gliederungsebene</a:t>
            </a:r>
          </a:p>
          <a:p>
            <a:pPr marL="3024000" lvl="6" indent="-216000" algn="l">
              <a:spcBef>
                <a:spcPts val="283"/>
              </a:spcBef>
              <a:buClr>
                <a:srgbClr val="000000"/>
              </a:buClr>
              <a:buSzPct val="45000"/>
              <a:buFont typeface="Wingdings" charset="2"/>
              <a:buChar char=""/>
            </a:pPr>
            <a:r>
              <a:rPr lang="de-DE" sz="2000" b="0" u="none" strike="noStrike">
                <a:solidFill>
                  <a:schemeClr val="dk1"/>
                </a:solidFill>
                <a:effectLst/>
                <a:uFillTx/>
                <a:latin typeface="Calibri"/>
              </a:rPr>
              <a:t>Siebte Gliederungsebene</a:t>
            </a: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blank" preserve="1">
  <p:cSld name="1_DEFAULT">
    <p:spTree>
      <p:nvGrpSpPr>
        <p:cNvPr id="1" name=""/>
        <p:cNvGrpSpPr/>
        <p:nvPr/>
      </p:nvGrpSpPr>
      <p:grpSpPr>
        <a:xfrm>
          <a:off x="0" y="0"/>
          <a:ext cx="0" cy="0"/>
          <a:chOff x="0" y="0"/>
          <a:chExt cx="0" cy="0"/>
        </a:xfrm>
      </p:grpSpPr>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blank">
  <p:cSld name="Standard">
    <p:bg>
      <p:bgPr>
        <a:solidFill>
          <a:srgbClr val="FFFFFF"/>
        </a:solidFill>
        <a:effectLst/>
      </p:bgPr>
    </p:bg>
    <p:spTree>
      <p:nvGrpSpPr>
        <p:cNvPr id="1" name=""/>
        <p:cNvGrpSpPr/>
        <p:nvPr/>
      </p:nvGrpSpPr>
      <p:grpSpPr>
        <a:xfrm>
          <a:off x="0" y="0"/>
          <a:ext cx="0" cy="0"/>
          <a:chOff x="0" y="0"/>
          <a:chExt cx="0" cy="0"/>
        </a:xfrm>
      </p:grpSpPr>
      <p:sp>
        <p:nvSpPr>
          <p:cNvPr id="4" name="PlaceHolder 1"/>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lvl1pPr indent="0" algn="l">
              <a:buNone/>
              <a:tabLst>
                <a:tab pos="0" algn="l"/>
              </a:tabLst>
              <a:defRPr lang="de-DE" sz="1800" b="0" u="none" strike="noStrike">
                <a:solidFill>
                  <a:schemeClr val="dk1"/>
                </a:solidFill>
                <a:effectLst/>
                <a:uFillTx/>
                <a:latin typeface="Calibri"/>
              </a:defRPr>
            </a:lvl1pPr>
          </a:lstStyle>
          <a:p>
            <a:pPr indent="0" algn="l">
              <a:buNone/>
              <a:tabLst>
                <a:tab pos="0" algn="l"/>
              </a:tabLst>
            </a:pPr>
            <a:r>
              <a:rPr lang="de-DE" sz="1800" b="0" u="none" strike="noStrike">
                <a:solidFill>
                  <a:schemeClr val="dk1"/>
                </a:solidFill>
                <a:effectLst/>
                <a:uFillTx/>
                <a:latin typeface="Calibri"/>
              </a:rPr>
              <a:t>Format des Titeltextes durch Klicken bearbeiten</a:t>
            </a:r>
          </a:p>
        </p:txBody>
      </p:sp>
      <p:sp>
        <p:nvSpPr>
          <p:cNvPr id="5" name="PlaceHolder 2"/>
          <p:cNvSpPr>
            <a:spLocks noGrp="1"/>
          </p:cNvSpPr>
          <p:nvPr>
            <p:ph type="body"/>
          </p:nvPr>
        </p:nvSpPr>
        <p:spPr>
          <a:xfrm>
            <a:off x="609480" y="1604520"/>
            <a:ext cx="10972440" cy="3977280"/>
          </a:xfrm>
          <a:prstGeom prst="rect">
            <a:avLst/>
          </a:prstGeom>
          <a:noFill/>
          <a:ln w="0">
            <a:noFill/>
          </a:ln>
        </p:spPr>
        <p:txBody>
          <a:bodyPr lIns="0" tIns="0" rIns="0" bIns="0" anchor="t">
            <a:normAutofit/>
          </a:bodyPr>
          <a:lstStyle>
            <a:lvl1pPr algn="l">
              <a:spcBef>
                <a:spcPts val="1417"/>
              </a:spcBef>
              <a:buClr>
                <a:srgbClr val="000000"/>
              </a:buClr>
              <a:buSzPct val="45000"/>
              <a:buFont typeface="Wingdings" charset="2"/>
              <a:buChar char=""/>
              <a:defRPr lang="de-DE" sz="3200" b="0" u="none" strike="noStrike">
                <a:solidFill>
                  <a:schemeClr val="dk1"/>
                </a:solidFill>
                <a:effectLst/>
                <a:uFillTx/>
                <a:latin typeface="Calibri"/>
              </a:defRPr>
            </a:lvl1pPr>
            <a:lvl2pPr lvl="1" algn="l">
              <a:spcBef>
                <a:spcPts val="1134"/>
              </a:spcBef>
              <a:buClr>
                <a:srgbClr val="000000"/>
              </a:buClr>
              <a:buSzPct val="75000"/>
              <a:buFont typeface="Symbol" charset="2"/>
              <a:buChar char=""/>
              <a:defRPr lang="de-DE" sz="2400" b="0" u="none" strike="noStrike">
                <a:solidFill>
                  <a:schemeClr val="dk1"/>
                </a:solidFill>
                <a:effectLst/>
                <a:uFillTx/>
                <a:latin typeface="Calibri"/>
              </a:defRPr>
            </a:lvl2pPr>
            <a:lvl3pPr lvl="2" algn="l">
              <a:spcBef>
                <a:spcPts val="850"/>
              </a:spcBef>
              <a:buClr>
                <a:srgbClr val="000000"/>
              </a:buClr>
              <a:buSzPct val="45000"/>
              <a:buFont typeface="Wingdings" charset="2"/>
              <a:buChar char=""/>
              <a:defRPr lang="de-DE" sz="2000" b="0" u="none" strike="noStrike">
                <a:solidFill>
                  <a:schemeClr val="dk1"/>
                </a:solidFill>
                <a:effectLst/>
                <a:uFillTx/>
                <a:latin typeface="Calibri"/>
              </a:defRPr>
            </a:lvl3pPr>
            <a:lvl4pPr lvl="3" algn="l">
              <a:spcBef>
                <a:spcPts val="567"/>
              </a:spcBef>
              <a:buClr>
                <a:srgbClr val="000000"/>
              </a:buClr>
              <a:buSzPct val="75000"/>
              <a:buFont typeface="Symbol" charset="2"/>
              <a:buChar char=""/>
              <a:defRPr lang="de-DE" sz="2000" b="0" u="none" strike="noStrike">
                <a:solidFill>
                  <a:schemeClr val="dk1"/>
                </a:solidFill>
                <a:effectLst/>
                <a:uFillTx/>
                <a:latin typeface="Calibri"/>
              </a:defRPr>
            </a:lvl4pPr>
            <a:lvl5pPr lvl="4" algn="l">
              <a:spcBef>
                <a:spcPts val="283"/>
              </a:spcBef>
              <a:buClr>
                <a:srgbClr val="000000"/>
              </a:buClr>
              <a:buSzPct val="45000"/>
              <a:buFont typeface="Wingdings" charset="2"/>
              <a:buChar char=""/>
              <a:defRPr lang="de-DE" sz="2000" b="0" u="none" strike="noStrike">
                <a:solidFill>
                  <a:schemeClr val="dk1"/>
                </a:solidFill>
                <a:effectLst/>
                <a:uFillTx/>
                <a:latin typeface="Calibri"/>
              </a:defRPr>
            </a:lvl5pPr>
            <a:lvl6pPr lvl="5" algn="l">
              <a:spcBef>
                <a:spcPts val="283"/>
              </a:spcBef>
              <a:buClr>
                <a:srgbClr val="000000"/>
              </a:buClr>
              <a:buSzPct val="45000"/>
              <a:buFont typeface="Wingdings" charset="2"/>
              <a:buChar char=""/>
              <a:defRPr lang="de-DE" sz="2000" b="0" u="none" strike="noStrike">
                <a:solidFill>
                  <a:schemeClr val="dk1"/>
                </a:solidFill>
                <a:effectLst/>
                <a:uFillTx/>
                <a:latin typeface="Calibri"/>
              </a:defRPr>
            </a:lvl6pPr>
            <a:lvl7pPr lvl="6" algn="l">
              <a:spcBef>
                <a:spcPts val="283"/>
              </a:spcBef>
              <a:buClr>
                <a:srgbClr val="000000"/>
              </a:buClr>
              <a:buSzPct val="45000"/>
              <a:buFont typeface="Wingdings" charset="2"/>
              <a:buChar char=""/>
              <a:defRPr lang="de-DE" sz="2000" b="0" u="none" strike="noStrike">
                <a:solidFill>
                  <a:schemeClr val="dk1"/>
                </a:solidFill>
                <a:effectLst/>
                <a:uFillTx/>
                <a:latin typeface="Calibri"/>
              </a:defRPr>
            </a:lvl7pPr>
          </a:lstStyle>
          <a:p>
            <a:pPr indent="-324000" algn="l">
              <a:spcBef>
                <a:spcPts val="1417"/>
              </a:spcBef>
              <a:buClr>
                <a:srgbClr val="000000"/>
              </a:buClr>
              <a:buSzPct val="45000"/>
              <a:buFont typeface="Wingdings" charset="2"/>
              <a:buChar char=""/>
            </a:pPr>
            <a:r>
              <a:rPr lang="de-DE" sz="3200" b="0" u="none" strike="noStrike">
                <a:solidFill>
                  <a:schemeClr val="dk1"/>
                </a:solidFill>
                <a:effectLst/>
                <a:uFillTx/>
                <a:latin typeface="Calibri"/>
              </a:rPr>
              <a:t>Format des Gliederungstextes durch Klicken bearbeiten</a:t>
            </a:r>
          </a:p>
          <a:p>
            <a:pPr marL="864000" lvl="1" indent="-324000" algn="l">
              <a:spcBef>
                <a:spcPts val="1134"/>
              </a:spcBef>
              <a:buClr>
                <a:srgbClr val="000000"/>
              </a:buClr>
              <a:buSzPct val="75000"/>
              <a:buFont typeface="Symbol" charset="2"/>
              <a:buChar char=""/>
            </a:pPr>
            <a:r>
              <a:rPr lang="de-DE" sz="2400" b="0" u="none" strike="noStrike">
                <a:solidFill>
                  <a:schemeClr val="dk1"/>
                </a:solidFill>
                <a:effectLst/>
                <a:uFillTx/>
                <a:latin typeface="Calibri"/>
              </a:rPr>
              <a:t>Zweite Gliederungsebene</a:t>
            </a:r>
          </a:p>
          <a:p>
            <a:pPr marL="1296000" lvl="2" indent="-288000" algn="l">
              <a:spcBef>
                <a:spcPts val="850"/>
              </a:spcBef>
              <a:buClr>
                <a:srgbClr val="000000"/>
              </a:buClr>
              <a:buSzPct val="45000"/>
              <a:buFont typeface="Wingdings" charset="2"/>
              <a:buChar char=""/>
            </a:pPr>
            <a:r>
              <a:rPr lang="de-DE" sz="2000" b="0" u="none" strike="noStrike">
                <a:solidFill>
                  <a:schemeClr val="dk1"/>
                </a:solidFill>
                <a:effectLst/>
                <a:uFillTx/>
                <a:latin typeface="Calibri"/>
              </a:rPr>
              <a:t>Dritte Gliederungsebene</a:t>
            </a:r>
          </a:p>
          <a:p>
            <a:pPr marL="1728000" lvl="3" indent="-216000" algn="l">
              <a:spcBef>
                <a:spcPts val="567"/>
              </a:spcBef>
              <a:buClr>
                <a:srgbClr val="000000"/>
              </a:buClr>
              <a:buSzPct val="75000"/>
              <a:buFont typeface="Symbol" charset="2"/>
              <a:buChar char=""/>
            </a:pPr>
            <a:r>
              <a:rPr lang="de-DE" sz="2000" b="0" u="none" strike="noStrike">
                <a:solidFill>
                  <a:schemeClr val="dk1"/>
                </a:solidFill>
                <a:effectLst/>
                <a:uFillTx/>
                <a:latin typeface="Calibri"/>
              </a:rPr>
              <a:t>Vierte Gliederungsebene</a:t>
            </a:r>
          </a:p>
          <a:p>
            <a:pPr marL="2160000" lvl="4" indent="-216000" algn="l">
              <a:spcBef>
                <a:spcPts val="283"/>
              </a:spcBef>
              <a:buClr>
                <a:srgbClr val="000000"/>
              </a:buClr>
              <a:buSzPct val="45000"/>
              <a:buFont typeface="Wingdings" charset="2"/>
              <a:buChar char=""/>
            </a:pPr>
            <a:r>
              <a:rPr lang="de-DE" sz="2000" b="0" u="none" strike="noStrike">
                <a:solidFill>
                  <a:schemeClr val="dk1"/>
                </a:solidFill>
                <a:effectLst/>
                <a:uFillTx/>
                <a:latin typeface="Calibri"/>
              </a:rPr>
              <a:t>Fünfte Gliederungsebene</a:t>
            </a:r>
          </a:p>
          <a:p>
            <a:pPr marL="2592000" lvl="5" indent="-216000" algn="l">
              <a:spcBef>
                <a:spcPts val="283"/>
              </a:spcBef>
              <a:buClr>
                <a:srgbClr val="000000"/>
              </a:buClr>
              <a:buSzPct val="45000"/>
              <a:buFont typeface="Wingdings" charset="2"/>
              <a:buChar char=""/>
            </a:pPr>
            <a:r>
              <a:rPr lang="de-DE" sz="2000" b="0" u="none" strike="noStrike">
                <a:solidFill>
                  <a:schemeClr val="dk1"/>
                </a:solidFill>
                <a:effectLst/>
                <a:uFillTx/>
                <a:latin typeface="Calibri"/>
              </a:rPr>
              <a:t>Sechste Gliederungsebene</a:t>
            </a:r>
          </a:p>
          <a:p>
            <a:pPr marL="3024000" lvl="6" indent="-216000" algn="l">
              <a:spcBef>
                <a:spcPts val="283"/>
              </a:spcBef>
              <a:buClr>
                <a:srgbClr val="000000"/>
              </a:buClr>
              <a:buSzPct val="45000"/>
              <a:buFont typeface="Wingdings" charset="2"/>
              <a:buChar char=""/>
            </a:pPr>
            <a:r>
              <a:rPr lang="de-DE" sz="2000" b="0" u="none" strike="noStrike">
                <a:solidFill>
                  <a:schemeClr val="dk1"/>
                </a:solidFill>
                <a:effectLst/>
                <a:uFillTx/>
                <a:latin typeface="Calibri"/>
              </a:rPr>
              <a:t>Siebte Gliederungsebene</a:t>
            </a:r>
          </a:p>
        </p:txBody>
      </p:sp>
    </p:spTree>
    <p:extLst>
      <p:ext uri="{BB962C8B-B14F-4D97-AF65-F5344CB8AC3E}">
        <p14:creationId xmlns:p14="http://schemas.microsoft.com/office/powerpoint/2010/main" val="905184172"/>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3" Type="http://schemas.openxmlformats.org/officeDocument/2006/relationships/theme" Target="../theme/theme2.xml"/><Relationship Id="rId2" Type="http://schemas.openxmlformats.org/officeDocument/2006/relationships/slideLayout" Target="../slideLayouts/slideLayout4.xml"/><Relationship Id="rId1" Type="http://schemas.openxmlformats.org/officeDocument/2006/relationships/slideLayout" Target="../slideLayouts/slideLayout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 name="PlaceHolder 1"/>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lvl1pPr indent="0" algn="l">
              <a:buNone/>
              <a:tabLst>
                <a:tab pos="0" algn="l"/>
              </a:tabLst>
              <a:defRPr lang="de-DE" sz="1800" b="0" u="none" strike="noStrike">
                <a:solidFill>
                  <a:schemeClr val="dk1"/>
                </a:solidFill>
                <a:effectLst/>
                <a:uFillTx/>
                <a:latin typeface="Calibri"/>
              </a:defRPr>
            </a:lvl1pPr>
          </a:lstStyle>
          <a:p>
            <a:pPr indent="0" algn="l">
              <a:buNone/>
              <a:tabLst>
                <a:tab pos="0" algn="l"/>
              </a:tabLst>
            </a:pPr>
            <a:r>
              <a:rPr lang="de-DE" sz="1800" b="0" u="none" strike="noStrike">
                <a:solidFill>
                  <a:schemeClr val="dk1"/>
                </a:solidFill>
                <a:effectLst/>
                <a:uFillTx/>
                <a:latin typeface="Calibri"/>
              </a:rPr>
              <a:t>Format des Titeltextes durch Klicken bearbeiten</a:t>
            </a:r>
          </a:p>
        </p:txBody>
      </p:sp>
      <p:sp>
        <p:nvSpPr>
          <p:cNvPr id="7" name="PlaceHolder 2"/>
          <p:cNvSpPr>
            <a:spLocks noGrp="1"/>
          </p:cNvSpPr>
          <p:nvPr>
            <p:ph type="body"/>
          </p:nvPr>
        </p:nvSpPr>
        <p:spPr>
          <a:xfrm>
            <a:off x="609480" y="1604520"/>
            <a:ext cx="10972440" cy="3977280"/>
          </a:xfrm>
          <a:prstGeom prst="rect">
            <a:avLst/>
          </a:prstGeom>
          <a:noFill/>
          <a:ln w="0">
            <a:noFill/>
          </a:ln>
        </p:spPr>
        <p:txBody>
          <a:bodyPr lIns="0" tIns="0" rIns="0" bIns="0" anchor="t">
            <a:normAutofit/>
          </a:bodyPr>
          <a:lstStyle>
            <a:lvl1pPr algn="l">
              <a:spcBef>
                <a:spcPts val="1417"/>
              </a:spcBef>
              <a:buClr>
                <a:srgbClr val="000000"/>
              </a:buClr>
              <a:buSzPct val="45000"/>
              <a:buFont typeface="Wingdings" charset="2"/>
              <a:buChar char=""/>
              <a:defRPr lang="de-DE" sz="3200" b="0" u="none" strike="noStrike">
                <a:solidFill>
                  <a:schemeClr val="dk1"/>
                </a:solidFill>
                <a:effectLst/>
                <a:uFillTx/>
                <a:latin typeface="Calibri"/>
              </a:defRPr>
            </a:lvl1pPr>
            <a:lvl2pPr lvl="1" algn="l">
              <a:spcBef>
                <a:spcPts val="1134"/>
              </a:spcBef>
              <a:buClr>
                <a:srgbClr val="000000"/>
              </a:buClr>
              <a:buSzPct val="75000"/>
              <a:buFont typeface="Symbol" charset="2"/>
              <a:buChar char=""/>
              <a:defRPr lang="de-DE" sz="2400" b="0" u="none" strike="noStrike">
                <a:solidFill>
                  <a:schemeClr val="dk1"/>
                </a:solidFill>
                <a:effectLst/>
                <a:uFillTx/>
                <a:latin typeface="Calibri"/>
              </a:defRPr>
            </a:lvl2pPr>
            <a:lvl3pPr lvl="2" algn="l">
              <a:spcBef>
                <a:spcPts val="850"/>
              </a:spcBef>
              <a:buClr>
                <a:srgbClr val="000000"/>
              </a:buClr>
              <a:buSzPct val="45000"/>
              <a:buFont typeface="Wingdings" charset="2"/>
              <a:buChar char=""/>
              <a:defRPr lang="de-DE" sz="2000" b="0" u="none" strike="noStrike">
                <a:solidFill>
                  <a:schemeClr val="dk1"/>
                </a:solidFill>
                <a:effectLst/>
                <a:uFillTx/>
                <a:latin typeface="Calibri"/>
              </a:defRPr>
            </a:lvl3pPr>
            <a:lvl4pPr lvl="3" algn="l">
              <a:spcBef>
                <a:spcPts val="567"/>
              </a:spcBef>
              <a:buClr>
                <a:srgbClr val="000000"/>
              </a:buClr>
              <a:buSzPct val="75000"/>
              <a:buFont typeface="Symbol" charset="2"/>
              <a:buChar char=""/>
              <a:defRPr lang="de-DE" sz="2000" b="0" u="none" strike="noStrike">
                <a:solidFill>
                  <a:schemeClr val="dk1"/>
                </a:solidFill>
                <a:effectLst/>
                <a:uFillTx/>
                <a:latin typeface="Calibri"/>
              </a:defRPr>
            </a:lvl4pPr>
            <a:lvl5pPr lvl="4" algn="l">
              <a:spcBef>
                <a:spcPts val="283"/>
              </a:spcBef>
              <a:buClr>
                <a:srgbClr val="000000"/>
              </a:buClr>
              <a:buSzPct val="45000"/>
              <a:buFont typeface="Wingdings" charset="2"/>
              <a:buChar char=""/>
              <a:defRPr lang="de-DE" sz="2000" b="0" u="none" strike="noStrike">
                <a:solidFill>
                  <a:schemeClr val="dk1"/>
                </a:solidFill>
                <a:effectLst/>
                <a:uFillTx/>
                <a:latin typeface="Calibri"/>
              </a:defRPr>
            </a:lvl5pPr>
            <a:lvl6pPr lvl="5" algn="l">
              <a:spcBef>
                <a:spcPts val="283"/>
              </a:spcBef>
              <a:buClr>
                <a:srgbClr val="000000"/>
              </a:buClr>
              <a:buSzPct val="45000"/>
              <a:buFont typeface="Wingdings" charset="2"/>
              <a:buChar char=""/>
              <a:defRPr lang="de-DE" sz="2000" b="0" u="none" strike="noStrike">
                <a:solidFill>
                  <a:schemeClr val="dk1"/>
                </a:solidFill>
                <a:effectLst/>
                <a:uFillTx/>
                <a:latin typeface="Calibri"/>
              </a:defRPr>
            </a:lvl6pPr>
            <a:lvl7pPr lvl="6" algn="l">
              <a:spcBef>
                <a:spcPts val="283"/>
              </a:spcBef>
              <a:buClr>
                <a:srgbClr val="000000"/>
              </a:buClr>
              <a:buSzPct val="45000"/>
              <a:buFont typeface="Wingdings" charset="2"/>
              <a:buChar char=""/>
              <a:defRPr lang="de-DE" sz="2000" b="0" u="none" strike="noStrike">
                <a:solidFill>
                  <a:schemeClr val="dk1"/>
                </a:solidFill>
                <a:effectLst/>
                <a:uFillTx/>
                <a:latin typeface="Calibri"/>
              </a:defRPr>
            </a:lvl7pPr>
          </a:lstStyle>
          <a:p>
            <a:pPr indent="-324000" algn="l">
              <a:spcBef>
                <a:spcPts val="1417"/>
              </a:spcBef>
              <a:buClr>
                <a:srgbClr val="000000"/>
              </a:buClr>
              <a:buSzPct val="45000"/>
              <a:buFont typeface="Wingdings" charset="2"/>
              <a:buChar char=""/>
            </a:pPr>
            <a:r>
              <a:rPr lang="de-DE" sz="3200" b="0" u="none" strike="noStrike">
                <a:solidFill>
                  <a:schemeClr val="dk1"/>
                </a:solidFill>
                <a:effectLst/>
                <a:uFillTx/>
                <a:latin typeface="Calibri"/>
              </a:rPr>
              <a:t>Format des Gliederungstextes durch Klicken bearbeiten</a:t>
            </a:r>
          </a:p>
          <a:p>
            <a:pPr marL="864000" lvl="1" indent="-324000" algn="l">
              <a:spcBef>
                <a:spcPts val="1134"/>
              </a:spcBef>
              <a:buClr>
                <a:srgbClr val="000000"/>
              </a:buClr>
              <a:buSzPct val="75000"/>
              <a:buFont typeface="Symbol" charset="2"/>
              <a:buChar char=""/>
            </a:pPr>
            <a:r>
              <a:rPr lang="de-DE" sz="2400" b="0" u="none" strike="noStrike">
                <a:solidFill>
                  <a:schemeClr val="dk1"/>
                </a:solidFill>
                <a:effectLst/>
                <a:uFillTx/>
                <a:latin typeface="Calibri"/>
              </a:rPr>
              <a:t>Zweite Gliederungsebene</a:t>
            </a:r>
          </a:p>
          <a:p>
            <a:pPr marL="1296000" lvl="2" indent="-288000" algn="l">
              <a:spcBef>
                <a:spcPts val="850"/>
              </a:spcBef>
              <a:buClr>
                <a:srgbClr val="000000"/>
              </a:buClr>
              <a:buSzPct val="45000"/>
              <a:buFont typeface="Wingdings" charset="2"/>
              <a:buChar char=""/>
            </a:pPr>
            <a:r>
              <a:rPr lang="de-DE" sz="2000" b="0" u="none" strike="noStrike">
                <a:solidFill>
                  <a:schemeClr val="dk1"/>
                </a:solidFill>
                <a:effectLst/>
                <a:uFillTx/>
                <a:latin typeface="Calibri"/>
              </a:rPr>
              <a:t>Dritte Gliederungsebene</a:t>
            </a:r>
          </a:p>
          <a:p>
            <a:pPr marL="1728000" lvl="3" indent="-216000" algn="l">
              <a:spcBef>
                <a:spcPts val="567"/>
              </a:spcBef>
              <a:buClr>
                <a:srgbClr val="000000"/>
              </a:buClr>
              <a:buSzPct val="75000"/>
              <a:buFont typeface="Symbol" charset="2"/>
              <a:buChar char=""/>
            </a:pPr>
            <a:r>
              <a:rPr lang="de-DE" sz="2000" b="0" u="none" strike="noStrike">
                <a:solidFill>
                  <a:schemeClr val="dk1"/>
                </a:solidFill>
                <a:effectLst/>
                <a:uFillTx/>
                <a:latin typeface="Calibri"/>
              </a:rPr>
              <a:t>Vierte Gliederungsebene</a:t>
            </a:r>
          </a:p>
          <a:p>
            <a:pPr marL="2160000" lvl="4" indent="-216000" algn="l">
              <a:spcBef>
                <a:spcPts val="283"/>
              </a:spcBef>
              <a:buClr>
                <a:srgbClr val="000000"/>
              </a:buClr>
              <a:buSzPct val="45000"/>
              <a:buFont typeface="Wingdings" charset="2"/>
              <a:buChar char=""/>
            </a:pPr>
            <a:r>
              <a:rPr lang="de-DE" sz="2000" b="0" u="none" strike="noStrike">
                <a:solidFill>
                  <a:schemeClr val="dk1"/>
                </a:solidFill>
                <a:effectLst/>
                <a:uFillTx/>
                <a:latin typeface="Calibri"/>
              </a:rPr>
              <a:t>Fünfte Gliederungsebene</a:t>
            </a:r>
          </a:p>
          <a:p>
            <a:pPr marL="2592000" lvl="5" indent="-216000" algn="l">
              <a:spcBef>
                <a:spcPts val="283"/>
              </a:spcBef>
              <a:buClr>
                <a:srgbClr val="000000"/>
              </a:buClr>
              <a:buSzPct val="45000"/>
              <a:buFont typeface="Wingdings" charset="2"/>
              <a:buChar char=""/>
            </a:pPr>
            <a:r>
              <a:rPr lang="de-DE" sz="2000" b="0" u="none" strike="noStrike">
                <a:solidFill>
                  <a:schemeClr val="dk1"/>
                </a:solidFill>
                <a:effectLst/>
                <a:uFillTx/>
                <a:latin typeface="Calibri"/>
              </a:rPr>
              <a:t>Sechste Gliederungsebene</a:t>
            </a:r>
          </a:p>
          <a:p>
            <a:pPr marL="3024000" lvl="6" indent="-216000" algn="l">
              <a:spcBef>
                <a:spcPts val="283"/>
              </a:spcBef>
              <a:buClr>
                <a:srgbClr val="000000"/>
              </a:buClr>
              <a:buSzPct val="45000"/>
              <a:buFont typeface="Wingdings" charset="2"/>
              <a:buChar char=""/>
            </a:pPr>
            <a:r>
              <a:rPr lang="de-DE" sz="2000" b="0" u="none" strike="noStrike">
                <a:solidFill>
                  <a:schemeClr val="dk1"/>
                </a:solidFill>
                <a:effectLst/>
                <a:uFillTx/>
                <a:latin typeface="Calibri"/>
              </a:rPr>
              <a:t>Siebte Gliederungsebene</a:t>
            </a:r>
          </a:p>
        </p:txBody>
      </p:sp>
    </p:spTree>
  </p:cSld>
  <p:clrMap bg1="lt1" tx1="dk1" bg2="lt2" tx2="dk2" accent1="accent1" accent2="accent2" accent3="accent3" accent4="accent4" accent5="accent5" accent6="accent6" hlink="hlink" folHlink="folHlink"/>
  <p:sldLayoutIdLst>
    <p:sldLayoutId id="2147483652" r:id="rId1"/>
    <p:sldLayoutId id="2147483653" r:id="rId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8.xml"/><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9.xml"/><Relationship Id="rId1" Type="http://schemas.openxmlformats.org/officeDocument/2006/relationships/slideLayout" Target="../slideLayouts/slideLayout4.xml"/><Relationship Id="rId4" Type="http://schemas.openxmlformats.org/officeDocument/2006/relationships/image" Target="../media/image13.png"/></Relationships>
</file>

<file path=ppt/slides/_rels/slide2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0.xml"/><Relationship Id="rId1" Type="http://schemas.openxmlformats.org/officeDocument/2006/relationships/slideLayout" Target="../slideLayouts/slideLayout4.xml"/><Relationship Id="rId5" Type="http://schemas.openxmlformats.org/officeDocument/2006/relationships/image" Target="../media/image16.png"/><Relationship Id="rId4" Type="http://schemas.openxmlformats.org/officeDocument/2006/relationships/image" Target="../media/image15.png"/></Relationships>
</file>

<file path=ppt/slides/_rels/slide22.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1.xml"/><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2.xml"/><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22371F"/>
        </a:solidFill>
        <a:effectLst/>
      </p:bgPr>
    </p:bg>
    <p:spTree>
      <p:nvGrpSpPr>
        <p:cNvPr id="1" name=""/>
        <p:cNvGrpSpPr/>
        <p:nvPr/>
      </p:nvGrpSpPr>
      <p:grpSpPr>
        <a:xfrm>
          <a:off x="0" y="0"/>
          <a:ext cx="0" cy="0"/>
          <a:chOff x="0" y="0"/>
          <a:chExt cx="0" cy="0"/>
        </a:xfrm>
      </p:grpSpPr>
      <p:sp>
        <p:nvSpPr>
          <p:cNvPr id="14" name="Text 0"/>
          <p:cNvSpPr/>
          <p:nvPr/>
        </p:nvSpPr>
        <p:spPr>
          <a:xfrm>
            <a:off x="640080" y="548640"/>
            <a:ext cx="7314480" cy="273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100" b="0" u="none" strike="noStrike" spc="99">
                <a:solidFill>
                  <a:srgbClr val="97BC62"/>
                </a:solidFill>
                <a:effectLst/>
                <a:uFillTx/>
                <a:latin typeface="Calibri"/>
                <a:ea typeface="Calibri"/>
              </a:rPr>
              <a:t>Methods for the Analysis and Modelling of Spatial Environmental Data</a:t>
            </a:r>
            <a:endParaRPr lang="de-DE" sz="1100" b="0" u="none" strike="noStrike">
              <a:solidFill>
                <a:srgbClr val="FFFFFF"/>
              </a:solidFill>
              <a:effectLst/>
              <a:uFillTx/>
              <a:latin typeface="Arial"/>
            </a:endParaRPr>
          </a:p>
        </p:txBody>
      </p:sp>
      <p:sp>
        <p:nvSpPr>
          <p:cNvPr id="15" name="Text 1"/>
          <p:cNvSpPr/>
          <p:nvPr/>
        </p:nvSpPr>
        <p:spPr>
          <a:xfrm>
            <a:off x="640080" y="1965960"/>
            <a:ext cx="5668560" cy="1736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98000"/>
              </a:lnSpc>
              <a:tabLst>
                <a:tab pos="0" algn="l"/>
              </a:tabLst>
            </a:pPr>
            <a:r>
              <a:rPr lang="en-US" sz="4000" b="1" u="none" strike="noStrike">
                <a:solidFill>
                  <a:srgbClr val="FFFFFF"/>
                </a:solidFill>
                <a:effectLst/>
                <a:uFillTx/>
                <a:latin typeface="Cambria"/>
                <a:ea typeface="Cambria"/>
              </a:rPr>
              <a:t>Wind Farm Suitability</a:t>
            </a:r>
            <a:endParaRPr lang="de-DE" sz="4000" b="0" u="none" strike="noStrike">
              <a:solidFill>
                <a:srgbClr val="FFFFFF"/>
              </a:solidFill>
              <a:effectLst/>
              <a:uFillTx/>
              <a:latin typeface="Arial"/>
            </a:endParaRPr>
          </a:p>
          <a:p>
            <a:pPr defTabSz="914400">
              <a:lnSpc>
                <a:spcPct val="98000"/>
              </a:lnSpc>
              <a:tabLst>
                <a:tab pos="0" algn="l"/>
              </a:tabLst>
            </a:pPr>
            <a:r>
              <a:rPr lang="en-US" sz="4000" b="1" u="none" strike="noStrike">
                <a:solidFill>
                  <a:srgbClr val="FFFFFF"/>
                </a:solidFill>
                <a:effectLst/>
                <a:uFillTx/>
                <a:latin typeface="Cambria"/>
                <a:ea typeface="Cambria"/>
              </a:rPr>
              <a:t>Analysis</a:t>
            </a:r>
            <a:endParaRPr lang="de-DE" sz="4000" b="0" u="none" strike="noStrike">
              <a:solidFill>
                <a:srgbClr val="FFFFFF"/>
              </a:solidFill>
              <a:effectLst/>
              <a:uFillTx/>
              <a:latin typeface="Arial"/>
            </a:endParaRPr>
          </a:p>
        </p:txBody>
      </p:sp>
      <p:sp>
        <p:nvSpPr>
          <p:cNvPr id="16" name="Text 2"/>
          <p:cNvSpPr/>
          <p:nvPr/>
        </p:nvSpPr>
        <p:spPr>
          <a:xfrm>
            <a:off x="658440" y="3611880"/>
            <a:ext cx="5485680" cy="3650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900" b="0" u="none" strike="noStrike">
                <a:solidFill>
                  <a:srgbClr val="97BC62"/>
                </a:solidFill>
                <a:effectLst/>
                <a:uFillTx/>
                <a:latin typeface="Calibri"/>
                <a:ea typeface="Calibri"/>
              </a:rPr>
              <a:t>West of Hanover</a:t>
            </a:r>
            <a:endParaRPr lang="de-DE" sz="1900" b="0" u="none" strike="noStrike">
              <a:solidFill>
                <a:srgbClr val="FFFFFF"/>
              </a:solidFill>
              <a:effectLst/>
              <a:uFillTx/>
              <a:latin typeface="Arial"/>
            </a:endParaRPr>
          </a:p>
        </p:txBody>
      </p:sp>
      <p:sp>
        <p:nvSpPr>
          <p:cNvPr id="17" name="Text 3"/>
          <p:cNvSpPr/>
          <p:nvPr/>
        </p:nvSpPr>
        <p:spPr>
          <a:xfrm>
            <a:off x="658440" y="4114800"/>
            <a:ext cx="5668560" cy="319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400" b="0" u="none" strike="noStrike">
                <a:solidFill>
                  <a:srgbClr val="D8E4CC"/>
                </a:solidFill>
                <a:effectLst/>
                <a:uFillTx/>
                <a:latin typeface="Calibri"/>
                <a:ea typeface="Calibri"/>
              </a:rPr>
              <a:t>Data Preparation  ·  Georeferencing  ·  Digitization</a:t>
            </a:r>
            <a:endParaRPr lang="de-DE" sz="1400" b="0" u="none" strike="noStrike">
              <a:solidFill>
                <a:srgbClr val="FFFFFF"/>
              </a:solidFill>
              <a:effectLst/>
              <a:uFillTx/>
              <a:latin typeface="Arial"/>
            </a:endParaRPr>
          </a:p>
        </p:txBody>
      </p:sp>
      <p:sp>
        <p:nvSpPr>
          <p:cNvPr id="18" name="Text 4"/>
          <p:cNvSpPr/>
          <p:nvPr/>
        </p:nvSpPr>
        <p:spPr>
          <a:xfrm>
            <a:off x="658440" y="4892040"/>
            <a:ext cx="4571280" cy="3650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600" b="1" u="none" strike="noStrike" dirty="0">
                <a:solidFill>
                  <a:srgbClr val="C2762A"/>
                </a:solidFill>
                <a:effectLst/>
                <a:uFillTx/>
                <a:latin typeface="Calibri"/>
                <a:ea typeface="Calibri"/>
              </a:rPr>
              <a:t>Nadia Farsiani</a:t>
            </a:r>
            <a:endParaRPr lang="de-DE" sz="1600" b="0" u="none" strike="noStrike" dirty="0">
              <a:solidFill>
                <a:srgbClr val="FFFFFF"/>
              </a:solidFill>
              <a:effectLst/>
              <a:uFillTx/>
              <a:latin typeface="Arial"/>
            </a:endParaRPr>
          </a:p>
        </p:txBody>
      </p:sp>
      <p:pic>
        <p:nvPicPr>
          <p:cNvPr id="19" name="Image 0" descr="/home/claude/gis/media/dlm.png"/>
          <p:cNvPicPr/>
          <p:nvPr/>
        </p:nvPicPr>
        <p:blipFill>
          <a:blip r:embed="rId3"/>
          <a:stretch/>
        </p:blipFill>
        <p:spPr>
          <a:xfrm>
            <a:off x="6537960" y="1614960"/>
            <a:ext cx="5211360" cy="3261240"/>
          </a:xfrm>
          <a:prstGeom prst="rect">
            <a:avLst/>
          </a:prstGeom>
          <a:noFill/>
          <a:ln w="0">
            <a:noFill/>
          </a:ln>
          <a:effectLst>
            <a:outerShdw blurRad="114480" dist="38160" dir="5400000" rotWithShape="0">
              <a:srgbClr val="1B1B1B">
                <a:alpha val="30000"/>
              </a:srgbClr>
            </a:outerShdw>
          </a:effectLst>
        </p:spPr>
      </p:pic>
      <p:sp>
        <p:nvSpPr>
          <p:cNvPr id="20" name="Text 5"/>
          <p:cNvSpPr/>
          <p:nvPr/>
        </p:nvSpPr>
        <p:spPr>
          <a:xfrm>
            <a:off x="6537960" y="4968720"/>
            <a:ext cx="5211360" cy="273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050" b="0" i="1" u="none" strike="noStrike">
                <a:solidFill>
                  <a:srgbClr val="6E7A64"/>
                </a:solidFill>
                <a:effectLst/>
                <a:uFillTx/>
                <a:latin typeface="Calibri"/>
                <a:ea typeface="Calibri"/>
              </a:rPr>
              <a:t>The Digital Landscape Model (Map 1) — the final deliverable</a:t>
            </a:r>
            <a:endParaRPr lang="de-DE" sz="1050" b="0" u="none" strike="noStrike">
              <a:solidFill>
                <a:srgbClr val="FFFFFF"/>
              </a:solidFill>
              <a:effectLst/>
              <a:uFillTx/>
              <a:latin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1" name="Text 0"/>
          <p:cNvSpPr/>
          <p:nvPr/>
        </p:nvSpPr>
        <p:spPr>
          <a:xfrm>
            <a:off x="548640" y="502920"/>
            <a:ext cx="10972080" cy="6393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3000" b="1" u="none" strike="noStrike">
                <a:solidFill>
                  <a:srgbClr val="22371F"/>
                </a:solidFill>
                <a:effectLst/>
                <a:uFillTx/>
                <a:latin typeface="Cambria"/>
                <a:ea typeface="Cambria"/>
              </a:rPr>
              <a:t>The task, and my part in it</a:t>
            </a:r>
            <a:endParaRPr lang="de-DE" sz="3000" b="0" u="none" strike="noStrike">
              <a:solidFill>
                <a:srgbClr val="000000"/>
              </a:solidFill>
              <a:effectLst/>
              <a:uFillTx/>
              <a:latin typeface="Arial"/>
            </a:endParaRPr>
          </a:p>
        </p:txBody>
      </p:sp>
      <p:sp>
        <p:nvSpPr>
          <p:cNvPr id="22" name="Text 1"/>
          <p:cNvSpPr/>
          <p:nvPr/>
        </p:nvSpPr>
        <p:spPr>
          <a:xfrm>
            <a:off x="548640" y="1371600"/>
            <a:ext cx="11063520" cy="822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5000"/>
              </a:lnSpc>
              <a:tabLst>
                <a:tab pos="0" algn="l"/>
              </a:tabLst>
            </a:pPr>
            <a:r>
              <a:rPr lang="en-US" sz="1600" b="0" u="none" strike="noStrike">
                <a:solidFill>
                  <a:srgbClr val="2A3324"/>
                </a:solidFill>
                <a:effectLst/>
                <a:uFillTx/>
                <a:latin typeface="Calibri"/>
                <a:ea typeface="Calibri"/>
              </a:rPr>
              <a:t>In an area of about </a:t>
            </a:r>
            <a:r>
              <a:rPr lang="en-US" sz="1600" b="1" u="none" strike="noStrike">
                <a:solidFill>
                  <a:srgbClr val="2C5F2D"/>
                </a:solidFill>
                <a:effectLst/>
                <a:uFillTx/>
                <a:latin typeface="Calibri"/>
                <a:ea typeface="Calibri"/>
              </a:rPr>
              <a:t>200 km² west of Hanover</a:t>
            </a:r>
            <a:r>
              <a:rPr lang="en-US" sz="1600" b="0" u="none" strike="noStrike">
                <a:solidFill>
                  <a:srgbClr val="2A3324"/>
                </a:solidFill>
                <a:effectLst/>
                <a:uFillTx/>
                <a:latin typeface="Calibri"/>
                <a:ea typeface="Calibri"/>
              </a:rPr>
              <a:t>, suitable areas for wind turbines are to be identified from a Digital Landscape Model (DLM). My stage prepares the data the rest of the analysis is built on.</a:t>
            </a:r>
            <a:endParaRPr lang="de-DE" sz="1600" b="0" u="none" strike="noStrike">
              <a:solidFill>
                <a:srgbClr val="000000"/>
              </a:solidFill>
              <a:effectLst/>
              <a:uFillTx/>
              <a:latin typeface="Arial"/>
            </a:endParaRPr>
          </a:p>
        </p:txBody>
      </p:sp>
      <p:sp>
        <p:nvSpPr>
          <p:cNvPr id="23" name="Shape 2"/>
          <p:cNvSpPr/>
          <p:nvPr/>
        </p:nvSpPr>
        <p:spPr>
          <a:xfrm>
            <a:off x="548640" y="2788920"/>
            <a:ext cx="2696760" cy="2925360"/>
          </a:xfrm>
          <a:prstGeom prst="roundRect">
            <a:avLst>
              <a:gd name="adj" fmla="val 3390"/>
            </a:avLst>
          </a:prstGeom>
          <a:solidFill>
            <a:srgbClr val="F1F5EC"/>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de-DE" sz="1800" b="0" u="none" strike="noStrike">
              <a:solidFill>
                <a:schemeClr val="dk1"/>
              </a:solidFill>
              <a:effectLst/>
              <a:uFillTx/>
              <a:latin typeface="Calibri"/>
            </a:endParaRPr>
          </a:p>
        </p:txBody>
      </p:sp>
      <p:sp>
        <p:nvSpPr>
          <p:cNvPr id="24" name="Shape 3"/>
          <p:cNvSpPr/>
          <p:nvPr/>
        </p:nvSpPr>
        <p:spPr>
          <a:xfrm>
            <a:off x="1513440" y="3108960"/>
            <a:ext cx="767520" cy="767520"/>
          </a:xfrm>
          <a:prstGeom prst="ellipse">
            <a:avLst/>
          </a:prstGeom>
          <a:solidFill>
            <a:srgbClr val="2C5F2D"/>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de-DE" sz="1800" b="0" u="none" strike="noStrike">
              <a:solidFill>
                <a:schemeClr val="dk1"/>
              </a:solidFill>
              <a:effectLst/>
              <a:uFillTx/>
              <a:latin typeface="Calibri"/>
            </a:endParaRPr>
          </a:p>
        </p:txBody>
      </p:sp>
      <p:sp>
        <p:nvSpPr>
          <p:cNvPr id="25" name="Text 4"/>
          <p:cNvSpPr/>
          <p:nvPr/>
        </p:nvSpPr>
        <p:spPr>
          <a:xfrm>
            <a:off x="1513440" y="3108960"/>
            <a:ext cx="767520" cy="767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3000" b="1" u="none" strike="noStrike">
                <a:solidFill>
                  <a:srgbClr val="FFFFFF"/>
                </a:solidFill>
                <a:effectLst/>
                <a:uFillTx/>
                <a:latin typeface="Calibri"/>
                <a:ea typeface="Calibri"/>
              </a:rPr>
              <a:t>1</a:t>
            </a:r>
            <a:endParaRPr lang="de-DE" sz="3000" b="0" u="none" strike="noStrike">
              <a:solidFill>
                <a:srgbClr val="000000"/>
              </a:solidFill>
              <a:effectLst/>
              <a:uFillTx/>
              <a:latin typeface="Arial"/>
            </a:endParaRPr>
          </a:p>
        </p:txBody>
      </p:sp>
      <p:sp>
        <p:nvSpPr>
          <p:cNvPr id="26" name="Text 5"/>
          <p:cNvSpPr/>
          <p:nvPr/>
        </p:nvSpPr>
        <p:spPr>
          <a:xfrm>
            <a:off x="685800" y="4087440"/>
            <a:ext cx="2422440" cy="4564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800" b="1" u="none" strike="noStrike">
                <a:solidFill>
                  <a:srgbClr val="22371F"/>
                </a:solidFill>
                <a:effectLst/>
                <a:uFillTx/>
                <a:latin typeface="Cambria"/>
                <a:ea typeface="Cambria"/>
              </a:rPr>
              <a:t>Setup &amp; CRS</a:t>
            </a:r>
            <a:endParaRPr lang="de-DE" sz="1800" b="0" u="none" strike="noStrike">
              <a:solidFill>
                <a:srgbClr val="000000"/>
              </a:solidFill>
              <a:effectLst/>
              <a:uFillTx/>
              <a:latin typeface="Arial"/>
            </a:endParaRPr>
          </a:p>
        </p:txBody>
      </p:sp>
      <p:sp>
        <p:nvSpPr>
          <p:cNvPr id="27" name="Text 6"/>
          <p:cNvSpPr/>
          <p:nvPr/>
        </p:nvSpPr>
        <p:spPr>
          <a:xfrm>
            <a:off x="731520" y="4572000"/>
            <a:ext cx="2331000" cy="913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5000"/>
              </a:lnSpc>
              <a:tabLst>
                <a:tab pos="0" algn="l"/>
              </a:tabLst>
            </a:pPr>
            <a:r>
              <a:rPr lang="en-US" sz="1300" b="0" u="none" strike="noStrike">
                <a:solidFill>
                  <a:srgbClr val="6E7A64"/>
                </a:solidFill>
                <a:effectLst/>
                <a:uFillTx/>
                <a:latin typeface="Calibri"/>
                <a:ea typeface="Calibri"/>
              </a:rPr>
              <a:t>New project; 7 layers; EPSG:31467</a:t>
            </a:r>
            <a:endParaRPr lang="de-DE" sz="1300" b="0" u="none" strike="noStrike">
              <a:solidFill>
                <a:srgbClr val="000000"/>
              </a:solidFill>
              <a:effectLst/>
              <a:uFillTx/>
              <a:latin typeface="Arial"/>
            </a:endParaRPr>
          </a:p>
        </p:txBody>
      </p:sp>
      <p:sp>
        <p:nvSpPr>
          <p:cNvPr id="28" name="Shape 7"/>
          <p:cNvSpPr/>
          <p:nvPr/>
        </p:nvSpPr>
        <p:spPr>
          <a:xfrm>
            <a:off x="3364920" y="2788920"/>
            <a:ext cx="2696760" cy="2925360"/>
          </a:xfrm>
          <a:prstGeom prst="roundRect">
            <a:avLst>
              <a:gd name="adj" fmla="val 3390"/>
            </a:avLst>
          </a:prstGeom>
          <a:solidFill>
            <a:srgbClr val="F1F5EC"/>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de-DE" sz="1800" b="0" u="none" strike="noStrike">
              <a:solidFill>
                <a:schemeClr val="dk1"/>
              </a:solidFill>
              <a:effectLst/>
              <a:uFillTx/>
              <a:latin typeface="Calibri"/>
            </a:endParaRPr>
          </a:p>
        </p:txBody>
      </p:sp>
      <p:sp>
        <p:nvSpPr>
          <p:cNvPr id="29" name="Shape 8"/>
          <p:cNvSpPr/>
          <p:nvPr/>
        </p:nvSpPr>
        <p:spPr>
          <a:xfrm>
            <a:off x="4329720" y="3108960"/>
            <a:ext cx="767520" cy="767520"/>
          </a:xfrm>
          <a:prstGeom prst="ellipse">
            <a:avLst/>
          </a:prstGeom>
          <a:solidFill>
            <a:srgbClr val="2C5F2D"/>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de-DE" sz="1800" b="0" u="none" strike="noStrike">
              <a:solidFill>
                <a:schemeClr val="dk1"/>
              </a:solidFill>
              <a:effectLst/>
              <a:uFillTx/>
              <a:latin typeface="Calibri"/>
            </a:endParaRPr>
          </a:p>
        </p:txBody>
      </p:sp>
      <p:sp>
        <p:nvSpPr>
          <p:cNvPr id="30" name="Text 9"/>
          <p:cNvSpPr/>
          <p:nvPr/>
        </p:nvSpPr>
        <p:spPr>
          <a:xfrm>
            <a:off x="4329720" y="3108960"/>
            <a:ext cx="767520" cy="767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3000" b="1" u="none" strike="noStrike">
                <a:solidFill>
                  <a:srgbClr val="FFFFFF"/>
                </a:solidFill>
                <a:effectLst/>
                <a:uFillTx/>
                <a:latin typeface="Calibri"/>
                <a:ea typeface="Calibri"/>
              </a:rPr>
              <a:t>2</a:t>
            </a:r>
            <a:endParaRPr lang="de-DE" sz="3000" b="0" u="none" strike="noStrike">
              <a:solidFill>
                <a:srgbClr val="000000"/>
              </a:solidFill>
              <a:effectLst/>
              <a:uFillTx/>
              <a:latin typeface="Arial"/>
            </a:endParaRPr>
          </a:p>
        </p:txBody>
      </p:sp>
      <p:sp>
        <p:nvSpPr>
          <p:cNvPr id="31" name="Text 10"/>
          <p:cNvSpPr/>
          <p:nvPr/>
        </p:nvSpPr>
        <p:spPr>
          <a:xfrm>
            <a:off x="3502080" y="4087440"/>
            <a:ext cx="2422440" cy="4564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800" b="1" u="none" strike="noStrike">
                <a:solidFill>
                  <a:srgbClr val="22371F"/>
                </a:solidFill>
                <a:effectLst/>
                <a:uFillTx/>
                <a:latin typeface="Cambria"/>
                <a:ea typeface="Cambria"/>
              </a:rPr>
              <a:t>Georeference</a:t>
            </a:r>
            <a:endParaRPr lang="de-DE" sz="1800" b="0" u="none" strike="noStrike">
              <a:solidFill>
                <a:srgbClr val="000000"/>
              </a:solidFill>
              <a:effectLst/>
              <a:uFillTx/>
              <a:latin typeface="Arial"/>
            </a:endParaRPr>
          </a:p>
        </p:txBody>
      </p:sp>
      <p:sp>
        <p:nvSpPr>
          <p:cNvPr id="32" name="Text 11"/>
          <p:cNvSpPr/>
          <p:nvPr/>
        </p:nvSpPr>
        <p:spPr>
          <a:xfrm>
            <a:off x="3547800" y="4572000"/>
            <a:ext cx="2331000" cy="913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5000"/>
              </a:lnSpc>
              <a:tabLst>
                <a:tab pos="0" algn="l"/>
              </a:tabLst>
            </a:pPr>
            <a:r>
              <a:rPr lang="en-US" sz="1300" b="0" u="none" strike="noStrike">
                <a:solidFill>
                  <a:srgbClr val="6E7A64"/>
                </a:solidFill>
                <a:effectLst/>
                <a:uFillTx/>
                <a:latin typeface="Calibri"/>
                <a:ea typeface="Calibri"/>
              </a:rPr>
              <a:t>Aerial photo → map coordinates</a:t>
            </a:r>
            <a:endParaRPr lang="de-DE" sz="1300" b="0" u="none" strike="noStrike">
              <a:solidFill>
                <a:srgbClr val="000000"/>
              </a:solidFill>
              <a:effectLst/>
              <a:uFillTx/>
              <a:latin typeface="Arial"/>
            </a:endParaRPr>
          </a:p>
        </p:txBody>
      </p:sp>
      <p:sp>
        <p:nvSpPr>
          <p:cNvPr id="33" name="Shape 12"/>
          <p:cNvSpPr/>
          <p:nvPr/>
        </p:nvSpPr>
        <p:spPr>
          <a:xfrm>
            <a:off x="6181200" y="2788920"/>
            <a:ext cx="2696760" cy="2925360"/>
          </a:xfrm>
          <a:prstGeom prst="roundRect">
            <a:avLst>
              <a:gd name="adj" fmla="val 3390"/>
            </a:avLst>
          </a:prstGeom>
          <a:solidFill>
            <a:srgbClr val="F1F5EC"/>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de-DE" sz="1800" b="0" u="none" strike="noStrike">
              <a:solidFill>
                <a:schemeClr val="dk1"/>
              </a:solidFill>
              <a:effectLst/>
              <a:uFillTx/>
              <a:latin typeface="Calibri"/>
            </a:endParaRPr>
          </a:p>
        </p:txBody>
      </p:sp>
      <p:sp>
        <p:nvSpPr>
          <p:cNvPr id="34" name="Shape 13"/>
          <p:cNvSpPr/>
          <p:nvPr/>
        </p:nvSpPr>
        <p:spPr>
          <a:xfrm>
            <a:off x="7146000" y="3108960"/>
            <a:ext cx="767520" cy="767520"/>
          </a:xfrm>
          <a:prstGeom prst="ellipse">
            <a:avLst/>
          </a:prstGeom>
          <a:solidFill>
            <a:srgbClr val="2C5F2D"/>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de-DE" sz="1800" b="0" u="none" strike="noStrike">
              <a:solidFill>
                <a:schemeClr val="dk1"/>
              </a:solidFill>
              <a:effectLst/>
              <a:uFillTx/>
              <a:latin typeface="Calibri"/>
            </a:endParaRPr>
          </a:p>
        </p:txBody>
      </p:sp>
      <p:sp>
        <p:nvSpPr>
          <p:cNvPr id="35" name="Text 14"/>
          <p:cNvSpPr/>
          <p:nvPr/>
        </p:nvSpPr>
        <p:spPr>
          <a:xfrm>
            <a:off x="7146000" y="3108960"/>
            <a:ext cx="767520" cy="767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3000" b="1" u="none" strike="noStrike">
                <a:solidFill>
                  <a:srgbClr val="FFFFFF"/>
                </a:solidFill>
                <a:effectLst/>
                <a:uFillTx/>
                <a:latin typeface="Calibri"/>
                <a:ea typeface="Calibri"/>
              </a:rPr>
              <a:t>3</a:t>
            </a:r>
            <a:endParaRPr lang="de-DE" sz="3000" b="0" u="none" strike="noStrike">
              <a:solidFill>
                <a:srgbClr val="000000"/>
              </a:solidFill>
              <a:effectLst/>
              <a:uFillTx/>
              <a:latin typeface="Arial"/>
            </a:endParaRPr>
          </a:p>
        </p:txBody>
      </p:sp>
      <p:sp>
        <p:nvSpPr>
          <p:cNvPr id="36" name="Text 15"/>
          <p:cNvSpPr/>
          <p:nvPr/>
        </p:nvSpPr>
        <p:spPr>
          <a:xfrm>
            <a:off x="6318360" y="4087440"/>
            <a:ext cx="2422440" cy="4564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800" b="1" u="none" strike="noStrike">
                <a:solidFill>
                  <a:srgbClr val="22371F"/>
                </a:solidFill>
                <a:effectLst/>
                <a:uFillTx/>
                <a:latin typeface="Cambria"/>
                <a:ea typeface="Cambria"/>
              </a:rPr>
              <a:t>Digitize</a:t>
            </a:r>
            <a:endParaRPr lang="de-DE" sz="1800" b="0" u="none" strike="noStrike">
              <a:solidFill>
                <a:srgbClr val="000000"/>
              </a:solidFill>
              <a:effectLst/>
              <a:uFillTx/>
              <a:latin typeface="Arial"/>
            </a:endParaRPr>
          </a:p>
        </p:txBody>
      </p:sp>
      <p:sp>
        <p:nvSpPr>
          <p:cNvPr id="37" name="Text 16"/>
          <p:cNvSpPr/>
          <p:nvPr/>
        </p:nvSpPr>
        <p:spPr>
          <a:xfrm>
            <a:off x="6364080" y="4572000"/>
            <a:ext cx="2331000" cy="913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5000"/>
              </a:lnSpc>
              <a:tabLst>
                <a:tab pos="0" algn="l"/>
              </a:tabLst>
            </a:pPr>
            <a:r>
              <a:rPr lang="en-US" sz="1300" b="0" u="none" strike="noStrike">
                <a:solidFill>
                  <a:srgbClr val="6E7A64"/>
                </a:solidFill>
                <a:effectLst/>
                <a:uFillTx/>
                <a:latin typeface="Calibri"/>
                <a:ea typeface="Calibri"/>
              </a:rPr>
              <a:t>Trace the Leine oxbow arms</a:t>
            </a:r>
            <a:endParaRPr lang="de-DE" sz="1300" b="0" u="none" strike="noStrike">
              <a:solidFill>
                <a:srgbClr val="000000"/>
              </a:solidFill>
              <a:effectLst/>
              <a:uFillTx/>
              <a:latin typeface="Arial"/>
            </a:endParaRPr>
          </a:p>
        </p:txBody>
      </p:sp>
      <p:sp>
        <p:nvSpPr>
          <p:cNvPr id="38" name="Shape 17"/>
          <p:cNvSpPr/>
          <p:nvPr/>
        </p:nvSpPr>
        <p:spPr>
          <a:xfrm>
            <a:off x="8997840" y="2788920"/>
            <a:ext cx="2696760" cy="2925360"/>
          </a:xfrm>
          <a:prstGeom prst="roundRect">
            <a:avLst>
              <a:gd name="adj" fmla="val 3390"/>
            </a:avLst>
          </a:prstGeom>
          <a:solidFill>
            <a:srgbClr val="F1F5EC"/>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de-DE" sz="1800" b="0" u="none" strike="noStrike">
              <a:solidFill>
                <a:schemeClr val="dk1"/>
              </a:solidFill>
              <a:effectLst/>
              <a:uFillTx/>
              <a:latin typeface="Calibri"/>
            </a:endParaRPr>
          </a:p>
        </p:txBody>
      </p:sp>
      <p:sp>
        <p:nvSpPr>
          <p:cNvPr id="39" name="Shape 18"/>
          <p:cNvSpPr/>
          <p:nvPr/>
        </p:nvSpPr>
        <p:spPr>
          <a:xfrm>
            <a:off x="9962280" y="3108960"/>
            <a:ext cx="767520" cy="767520"/>
          </a:xfrm>
          <a:prstGeom prst="ellipse">
            <a:avLst/>
          </a:prstGeom>
          <a:solidFill>
            <a:srgbClr val="C2762A"/>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de-DE" sz="1800" b="0" u="none" strike="noStrike">
              <a:solidFill>
                <a:schemeClr val="dk1"/>
              </a:solidFill>
              <a:effectLst/>
              <a:uFillTx/>
              <a:latin typeface="Calibri"/>
            </a:endParaRPr>
          </a:p>
        </p:txBody>
      </p:sp>
      <p:sp>
        <p:nvSpPr>
          <p:cNvPr id="40" name="Text 19"/>
          <p:cNvSpPr/>
          <p:nvPr/>
        </p:nvSpPr>
        <p:spPr>
          <a:xfrm>
            <a:off x="9962280" y="3108960"/>
            <a:ext cx="767520" cy="767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3000" b="1" u="none" strike="noStrike">
                <a:solidFill>
                  <a:srgbClr val="FFFFFF"/>
                </a:solidFill>
                <a:effectLst/>
                <a:uFillTx/>
                <a:latin typeface="Calibri"/>
                <a:ea typeface="Calibri"/>
              </a:rPr>
              <a:t>4</a:t>
            </a:r>
            <a:endParaRPr lang="de-DE" sz="3000" b="0" u="none" strike="noStrike">
              <a:solidFill>
                <a:srgbClr val="000000"/>
              </a:solidFill>
              <a:effectLst/>
              <a:uFillTx/>
              <a:latin typeface="Arial"/>
            </a:endParaRPr>
          </a:p>
        </p:txBody>
      </p:sp>
      <p:sp>
        <p:nvSpPr>
          <p:cNvPr id="41" name="Text 20"/>
          <p:cNvSpPr/>
          <p:nvPr/>
        </p:nvSpPr>
        <p:spPr>
          <a:xfrm>
            <a:off x="9135000" y="4087440"/>
            <a:ext cx="2422440" cy="4564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800" b="1" u="none" strike="noStrike">
                <a:solidFill>
                  <a:srgbClr val="22371F"/>
                </a:solidFill>
                <a:effectLst/>
                <a:uFillTx/>
                <a:latin typeface="Cambria"/>
                <a:ea typeface="Cambria"/>
              </a:rPr>
              <a:t>DLM map</a:t>
            </a:r>
            <a:endParaRPr lang="de-DE" sz="1800" b="0" u="none" strike="noStrike">
              <a:solidFill>
                <a:srgbClr val="000000"/>
              </a:solidFill>
              <a:effectLst/>
              <a:uFillTx/>
              <a:latin typeface="Arial"/>
            </a:endParaRPr>
          </a:p>
        </p:txBody>
      </p:sp>
      <p:sp>
        <p:nvSpPr>
          <p:cNvPr id="42" name="Text 21"/>
          <p:cNvSpPr/>
          <p:nvPr/>
        </p:nvSpPr>
        <p:spPr>
          <a:xfrm>
            <a:off x="9180720" y="4572000"/>
            <a:ext cx="2331000" cy="913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5000"/>
              </a:lnSpc>
              <a:tabLst>
                <a:tab pos="0" algn="l"/>
              </a:tabLst>
            </a:pPr>
            <a:r>
              <a:rPr lang="en-US" sz="1300" b="0" u="none" strike="noStrike">
                <a:solidFill>
                  <a:srgbClr val="6E7A64"/>
                </a:solidFill>
                <a:effectLst/>
                <a:uFillTx/>
                <a:latin typeface="Calibri"/>
                <a:ea typeface="Calibri"/>
              </a:rPr>
              <a:t>Assemble &amp; export Map 1</a:t>
            </a:r>
            <a:endParaRPr lang="de-DE" sz="1300" b="0" u="none" strike="noStrike">
              <a:solidFill>
                <a:srgbClr val="000000"/>
              </a:solidFill>
              <a:effectLst/>
              <a:uFillTx/>
              <a:latin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3" name="Shape 0"/>
          <p:cNvSpPr/>
          <p:nvPr/>
        </p:nvSpPr>
        <p:spPr>
          <a:xfrm>
            <a:off x="548640" y="475560"/>
            <a:ext cx="602640" cy="602640"/>
          </a:xfrm>
          <a:prstGeom prst="ellipse">
            <a:avLst/>
          </a:prstGeom>
          <a:solidFill>
            <a:srgbClr val="C2762A"/>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de-DE" sz="1800" b="0" u="none" strike="noStrike">
              <a:solidFill>
                <a:schemeClr val="dk1"/>
              </a:solidFill>
              <a:effectLst/>
              <a:uFillTx/>
              <a:latin typeface="Calibri"/>
            </a:endParaRPr>
          </a:p>
        </p:txBody>
      </p:sp>
      <p:sp>
        <p:nvSpPr>
          <p:cNvPr id="44" name="Text 1"/>
          <p:cNvSpPr/>
          <p:nvPr/>
        </p:nvSpPr>
        <p:spPr>
          <a:xfrm>
            <a:off x="548640" y="475560"/>
            <a:ext cx="602640" cy="602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2700" b="1" u="none" strike="noStrike">
                <a:solidFill>
                  <a:srgbClr val="FFFFFF"/>
                </a:solidFill>
                <a:effectLst/>
                <a:uFillTx/>
                <a:latin typeface="Calibri"/>
                <a:ea typeface="Calibri"/>
              </a:rPr>
              <a:t>1</a:t>
            </a:r>
            <a:endParaRPr lang="de-DE" sz="2700" b="0" u="none" strike="noStrike">
              <a:solidFill>
                <a:srgbClr val="000000"/>
              </a:solidFill>
              <a:effectLst/>
              <a:uFillTx/>
              <a:latin typeface="Arial"/>
            </a:endParaRPr>
          </a:p>
        </p:txBody>
      </p:sp>
      <p:sp>
        <p:nvSpPr>
          <p:cNvPr id="45" name="Text 2"/>
          <p:cNvSpPr/>
          <p:nvPr/>
        </p:nvSpPr>
        <p:spPr>
          <a:xfrm>
            <a:off x="1298520" y="457200"/>
            <a:ext cx="5485680" cy="236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100" b="1" u="none" strike="noStrike" spc="201">
                <a:solidFill>
                  <a:srgbClr val="C2762A"/>
                </a:solidFill>
                <a:effectLst/>
                <a:uFillTx/>
                <a:latin typeface="Calibri"/>
                <a:ea typeface="Calibri"/>
              </a:rPr>
              <a:t>STEP 1 OF 5</a:t>
            </a:r>
            <a:endParaRPr lang="de-DE" sz="1100" b="0" u="none" strike="noStrike">
              <a:solidFill>
                <a:srgbClr val="000000"/>
              </a:solidFill>
              <a:effectLst/>
              <a:uFillTx/>
              <a:latin typeface="Arial"/>
            </a:endParaRPr>
          </a:p>
        </p:txBody>
      </p:sp>
      <p:sp>
        <p:nvSpPr>
          <p:cNvPr id="46" name="Text 3"/>
          <p:cNvSpPr/>
          <p:nvPr/>
        </p:nvSpPr>
        <p:spPr>
          <a:xfrm>
            <a:off x="1298520" y="694800"/>
            <a:ext cx="10332000" cy="5662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2700" b="1" u="none" strike="noStrike">
                <a:solidFill>
                  <a:srgbClr val="22371F"/>
                </a:solidFill>
                <a:effectLst/>
                <a:uFillTx/>
                <a:latin typeface="Cambria"/>
                <a:ea typeface="Cambria"/>
              </a:rPr>
              <a:t>Project setup and coordinate system</a:t>
            </a:r>
            <a:endParaRPr lang="de-DE" sz="2700" b="0" u="none" strike="noStrike">
              <a:solidFill>
                <a:srgbClr val="000000"/>
              </a:solidFill>
              <a:effectLst/>
              <a:uFillTx/>
              <a:latin typeface="Arial"/>
            </a:endParaRPr>
          </a:p>
        </p:txBody>
      </p:sp>
      <p:sp>
        <p:nvSpPr>
          <p:cNvPr id="47" name="Text 4"/>
          <p:cNvSpPr/>
          <p:nvPr/>
        </p:nvSpPr>
        <p:spPr>
          <a:xfrm>
            <a:off x="548640" y="1600200"/>
            <a:ext cx="5257080" cy="3656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marL="203040" indent="-203040" defTabSz="914400">
              <a:lnSpc>
                <a:spcPct val="104000"/>
              </a:lnSpc>
              <a:spcAft>
                <a:spcPts val="1100"/>
              </a:spcAft>
              <a:buClr>
                <a:srgbClr val="2A3324"/>
              </a:buClr>
              <a:buFont typeface="Symbol" charset="2"/>
              <a:buChar char=""/>
            </a:pPr>
            <a:r>
              <a:rPr lang="en-US" sz="1500" b="0" u="none" strike="noStrike" dirty="0">
                <a:solidFill>
                  <a:srgbClr val="2A3324"/>
                </a:solidFill>
                <a:effectLst/>
                <a:uFillTx/>
                <a:latin typeface="Calibri"/>
                <a:ea typeface="Calibri"/>
              </a:rPr>
              <a:t>Created a new QGIS project and loaded all seven shapefiles</a:t>
            </a:r>
            <a:endParaRPr lang="en-US" sz="1500" dirty="0">
              <a:solidFill>
                <a:srgbClr val="2A3324"/>
              </a:solidFill>
              <a:latin typeface="Calibri"/>
              <a:ea typeface="Calibri"/>
            </a:endParaRPr>
          </a:p>
          <a:p>
            <a:pPr marL="203040" indent="-203040" defTabSz="914400">
              <a:lnSpc>
                <a:spcPct val="104000"/>
              </a:lnSpc>
              <a:spcAft>
                <a:spcPts val="1100"/>
              </a:spcAft>
              <a:buClr>
                <a:srgbClr val="2A3324"/>
              </a:buClr>
              <a:buFont typeface="Symbol" charset="2"/>
              <a:buChar char=""/>
            </a:pPr>
            <a:r>
              <a:rPr lang="en-US" sz="1500" b="0" u="none" strike="noStrike" dirty="0">
                <a:solidFill>
                  <a:srgbClr val="2A3324"/>
                </a:solidFill>
                <a:effectLst/>
                <a:uFillTx/>
                <a:latin typeface="Calibri"/>
                <a:ea typeface="Calibri"/>
              </a:rPr>
              <a:t>Checked the coordinate system: every layer is in EPSG:31467 (Gauss-Krüger zone 3</a:t>
            </a:r>
            <a:r>
              <a:rPr lang="en-US" sz="1500" dirty="0">
                <a:solidFill>
                  <a:srgbClr val="2A3324"/>
                </a:solidFill>
                <a:latin typeface="Calibri"/>
                <a:ea typeface="Calibri"/>
              </a:rPr>
              <a:t>)</a:t>
            </a:r>
            <a:endParaRPr lang="de-DE" sz="1500" b="0" u="none" strike="noStrike" dirty="0">
              <a:solidFill>
                <a:srgbClr val="000000"/>
              </a:solidFill>
              <a:effectLst/>
              <a:uFillTx/>
              <a:latin typeface="Arial"/>
            </a:endParaRPr>
          </a:p>
          <a:p>
            <a:pPr marL="203040" indent="-203040" defTabSz="914400">
              <a:lnSpc>
                <a:spcPct val="104000"/>
              </a:lnSpc>
              <a:spcAft>
                <a:spcPts val="1100"/>
              </a:spcAft>
              <a:buClr>
                <a:srgbClr val="2A3324"/>
              </a:buClr>
              <a:buFont typeface="Symbol" charset="2"/>
              <a:buChar char=""/>
            </a:pPr>
            <a:r>
              <a:rPr lang="en-US" sz="1500" b="0" u="none" strike="noStrike" dirty="0">
                <a:solidFill>
                  <a:srgbClr val="2A3324"/>
                </a:solidFill>
                <a:effectLst/>
                <a:uFillTx/>
                <a:latin typeface="Calibri"/>
                <a:ea typeface="Calibri"/>
              </a:rPr>
              <a:t>The project adopted this CRS from the data, so no reprojection was needed.</a:t>
            </a:r>
            <a:endParaRPr lang="de-DE" sz="1500" b="0" u="none" strike="noStrike" dirty="0">
              <a:solidFill>
                <a:srgbClr val="000000"/>
              </a:solidFill>
              <a:effectLst/>
              <a:uFillTx/>
              <a:latin typeface="Arial"/>
            </a:endParaRPr>
          </a:p>
          <a:p>
            <a:pPr marL="203040" indent="-203040" defTabSz="914400">
              <a:lnSpc>
                <a:spcPct val="104000"/>
              </a:lnSpc>
              <a:spcAft>
                <a:spcPts val="1100"/>
              </a:spcAft>
              <a:buClr>
                <a:srgbClr val="2A3324"/>
              </a:buClr>
              <a:buFont typeface="Symbol" charset="2"/>
              <a:buChar char=""/>
            </a:pPr>
            <a:r>
              <a:rPr lang="en-US" sz="1500" b="0" u="none" strike="noStrike" dirty="0">
                <a:solidFill>
                  <a:srgbClr val="2A3324"/>
                </a:solidFill>
                <a:effectLst/>
                <a:uFillTx/>
                <a:latin typeface="Calibri"/>
                <a:ea typeface="Calibri"/>
              </a:rPr>
              <a:t>All distances and areas are therefore measured in true meters directly.</a:t>
            </a:r>
            <a:endParaRPr lang="de-DE" sz="1500" b="0" u="none" strike="noStrike" dirty="0">
              <a:solidFill>
                <a:srgbClr val="000000"/>
              </a:solidFill>
              <a:effectLst/>
              <a:uFillTx/>
              <a:latin typeface="Arial"/>
            </a:endParaRPr>
          </a:p>
        </p:txBody>
      </p:sp>
      <p:sp>
        <p:nvSpPr>
          <p:cNvPr id="48" name="Shape 5"/>
          <p:cNvSpPr/>
          <p:nvPr/>
        </p:nvSpPr>
        <p:spPr>
          <a:xfrm>
            <a:off x="548640" y="5257800"/>
            <a:ext cx="5257080" cy="1023480"/>
          </a:xfrm>
          <a:prstGeom prst="roundRect">
            <a:avLst>
              <a:gd name="adj" fmla="val 8036"/>
            </a:avLst>
          </a:prstGeom>
          <a:solidFill>
            <a:srgbClr val="F1F5EC"/>
          </a:solidFill>
          <a:ln w="12600">
            <a:solidFill>
              <a:srgbClr val="97BC62"/>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de-DE" sz="1800" b="0" u="none" strike="noStrike">
              <a:solidFill>
                <a:schemeClr val="dk1"/>
              </a:solidFill>
              <a:effectLst/>
              <a:uFillTx/>
              <a:latin typeface="Calibri"/>
            </a:endParaRPr>
          </a:p>
        </p:txBody>
      </p:sp>
      <p:sp>
        <p:nvSpPr>
          <p:cNvPr id="49" name="Text 6"/>
          <p:cNvSpPr/>
          <p:nvPr/>
        </p:nvSpPr>
        <p:spPr>
          <a:xfrm>
            <a:off x="548640" y="5358240"/>
            <a:ext cx="5257080" cy="5662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3000" b="1" u="none" strike="noStrike">
                <a:solidFill>
                  <a:srgbClr val="2C5F2D"/>
                </a:solidFill>
                <a:effectLst/>
                <a:uFillTx/>
                <a:latin typeface="Cambria"/>
                <a:ea typeface="Cambria"/>
              </a:rPr>
              <a:t>EPSG:31467</a:t>
            </a:r>
            <a:endParaRPr lang="de-DE" sz="3000" b="0" u="none" strike="noStrike">
              <a:solidFill>
                <a:srgbClr val="000000"/>
              </a:solidFill>
              <a:effectLst/>
              <a:uFillTx/>
              <a:latin typeface="Arial"/>
            </a:endParaRPr>
          </a:p>
        </p:txBody>
      </p:sp>
      <p:sp>
        <p:nvSpPr>
          <p:cNvPr id="50" name="Text 7"/>
          <p:cNvSpPr/>
          <p:nvPr/>
        </p:nvSpPr>
        <p:spPr>
          <a:xfrm>
            <a:off x="640080" y="5916240"/>
            <a:ext cx="5074200" cy="310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050" b="0" u="none" strike="noStrike">
                <a:solidFill>
                  <a:srgbClr val="6E7A64"/>
                </a:solidFill>
                <a:effectLst/>
                <a:uFillTx/>
                <a:latin typeface="Calibri"/>
                <a:ea typeface="Calibri"/>
              </a:rPr>
              <a:t>projected coordinate system  ·  unit = metre</a:t>
            </a:r>
            <a:endParaRPr lang="de-DE" sz="1050" b="0" u="none" strike="noStrike">
              <a:solidFill>
                <a:srgbClr val="000000"/>
              </a:solidFill>
              <a:effectLst/>
              <a:uFillTx/>
              <a:latin typeface="Arial"/>
            </a:endParaRPr>
          </a:p>
        </p:txBody>
      </p:sp>
      <p:pic>
        <p:nvPicPr>
          <p:cNvPr id="51" name="Image 0" descr="/home/claude/gis/media/s_setup.png"/>
          <p:cNvPicPr/>
          <p:nvPr/>
        </p:nvPicPr>
        <p:blipFill>
          <a:blip r:embed="rId3"/>
          <a:stretch/>
        </p:blipFill>
        <p:spPr>
          <a:xfrm>
            <a:off x="5805720" y="1839600"/>
            <a:ext cx="5938844" cy="3216600"/>
          </a:xfrm>
          <a:prstGeom prst="rect">
            <a:avLst/>
          </a:prstGeom>
          <a:noFill/>
          <a:ln w="0">
            <a:noFill/>
          </a:ln>
          <a:effectLst>
            <a:outerShdw blurRad="114480" dist="38160" dir="5400000" rotWithShape="0">
              <a:srgbClr val="1B1B1B">
                <a:alpha val="30000"/>
              </a:srgbClr>
            </a:outerShdw>
          </a:effectLst>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2" name="Shape 0"/>
          <p:cNvSpPr/>
          <p:nvPr/>
        </p:nvSpPr>
        <p:spPr>
          <a:xfrm>
            <a:off x="548640" y="475560"/>
            <a:ext cx="602640" cy="602640"/>
          </a:xfrm>
          <a:prstGeom prst="ellipse">
            <a:avLst/>
          </a:prstGeom>
          <a:solidFill>
            <a:srgbClr val="C2762A"/>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de-DE" sz="1800" b="0" u="none" strike="noStrike">
              <a:solidFill>
                <a:schemeClr val="dk1"/>
              </a:solidFill>
              <a:effectLst/>
              <a:uFillTx/>
              <a:latin typeface="Calibri"/>
            </a:endParaRPr>
          </a:p>
        </p:txBody>
      </p:sp>
      <p:sp>
        <p:nvSpPr>
          <p:cNvPr id="53" name="Text 1"/>
          <p:cNvSpPr/>
          <p:nvPr/>
        </p:nvSpPr>
        <p:spPr>
          <a:xfrm>
            <a:off x="548640" y="475560"/>
            <a:ext cx="602640" cy="602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2700" b="1" u="none" strike="noStrike">
                <a:solidFill>
                  <a:srgbClr val="FFFFFF"/>
                </a:solidFill>
                <a:effectLst/>
                <a:uFillTx/>
                <a:latin typeface="Calibri"/>
                <a:ea typeface="Calibri"/>
              </a:rPr>
              <a:t>2</a:t>
            </a:r>
            <a:endParaRPr lang="de-DE" sz="2700" b="0" u="none" strike="noStrike">
              <a:solidFill>
                <a:srgbClr val="000000"/>
              </a:solidFill>
              <a:effectLst/>
              <a:uFillTx/>
              <a:latin typeface="Arial"/>
            </a:endParaRPr>
          </a:p>
        </p:txBody>
      </p:sp>
      <p:sp>
        <p:nvSpPr>
          <p:cNvPr id="54" name="Text 2"/>
          <p:cNvSpPr/>
          <p:nvPr/>
        </p:nvSpPr>
        <p:spPr>
          <a:xfrm>
            <a:off x="1298520" y="457200"/>
            <a:ext cx="5485680" cy="236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100" b="1" u="none" strike="noStrike" spc="201">
                <a:solidFill>
                  <a:srgbClr val="C2762A"/>
                </a:solidFill>
                <a:effectLst/>
                <a:uFillTx/>
                <a:latin typeface="Calibri"/>
                <a:ea typeface="Calibri"/>
              </a:rPr>
              <a:t>STEP 2 OF 5</a:t>
            </a:r>
            <a:endParaRPr lang="de-DE" sz="1100" b="0" u="none" strike="noStrike">
              <a:solidFill>
                <a:srgbClr val="000000"/>
              </a:solidFill>
              <a:effectLst/>
              <a:uFillTx/>
              <a:latin typeface="Arial"/>
            </a:endParaRPr>
          </a:p>
        </p:txBody>
      </p:sp>
      <p:sp>
        <p:nvSpPr>
          <p:cNvPr id="55" name="Text 3"/>
          <p:cNvSpPr/>
          <p:nvPr/>
        </p:nvSpPr>
        <p:spPr>
          <a:xfrm>
            <a:off x="1298520" y="694800"/>
            <a:ext cx="10332000" cy="5662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2700" b="1" u="none" strike="noStrike">
                <a:solidFill>
                  <a:srgbClr val="22371F"/>
                </a:solidFill>
                <a:effectLst/>
                <a:uFillTx/>
                <a:latin typeface="Cambria"/>
                <a:ea typeface="Cambria"/>
              </a:rPr>
              <a:t>Checking the data and its attributes</a:t>
            </a:r>
            <a:endParaRPr lang="de-DE" sz="2700" b="0" u="none" strike="noStrike">
              <a:solidFill>
                <a:srgbClr val="000000"/>
              </a:solidFill>
              <a:effectLst/>
              <a:uFillTx/>
              <a:latin typeface="Arial"/>
            </a:endParaRPr>
          </a:p>
        </p:txBody>
      </p:sp>
      <p:sp>
        <p:nvSpPr>
          <p:cNvPr id="56" name="Text 4"/>
          <p:cNvSpPr/>
          <p:nvPr/>
        </p:nvSpPr>
        <p:spPr>
          <a:xfrm>
            <a:off x="548640" y="1600200"/>
            <a:ext cx="8823960" cy="4022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marL="203040" indent="-203040" defTabSz="914400">
              <a:lnSpc>
                <a:spcPct val="104000"/>
              </a:lnSpc>
              <a:spcAft>
                <a:spcPts val="1100"/>
              </a:spcAft>
              <a:buClr>
                <a:srgbClr val="2A3324"/>
              </a:buClr>
              <a:buFont typeface="Symbol" charset="2"/>
              <a:buChar char=""/>
            </a:pPr>
            <a:r>
              <a:rPr lang="en-US" sz="1500" b="0" u="none" strike="noStrike" dirty="0">
                <a:solidFill>
                  <a:srgbClr val="2A3324"/>
                </a:solidFill>
                <a:effectLst/>
                <a:uFillTx/>
                <a:latin typeface="Calibri"/>
                <a:ea typeface="Calibri"/>
              </a:rPr>
              <a:t>Opened the attribute table of each layer to find the fields the later analysis depends on.</a:t>
            </a:r>
            <a:endParaRPr lang="de-DE" sz="1500" b="0" u="none" strike="noStrike" dirty="0">
              <a:solidFill>
                <a:srgbClr val="000000"/>
              </a:solidFill>
              <a:effectLst/>
              <a:uFillTx/>
              <a:latin typeface="Arial"/>
            </a:endParaRPr>
          </a:p>
          <a:p>
            <a:pPr marL="203040" indent="-203040">
              <a:lnSpc>
                <a:spcPct val="104000"/>
              </a:lnSpc>
              <a:spcAft>
                <a:spcPts val="1100"/>
              </a:spcAft>
              <a:buClr>
                <a:srgbClr val="2A3324"/>
              </a:buClr>
              <a:buFont typeface="Symbol" charset="2"/>
              <a:buChar char=""/>
            </a:pPr>
            <a:r>
              <a:rPr lang="en-US" sz="1500" b="0" u="none" strike="noStrike" dirty="0">
                <a:solidFill>
                  <a:srgbClr val="2A3324"/>
                </a:solidFill>
                <a:effectLst/>
                <a:uFillTx/>
                <a:latin typeface="Calibri"/>
                <a:ea typeface="Calibri"/>
              </a:rPr>
              <a:t>Road clas</a:t>
            </a:r>
            <a:r>
              <a:rPr lang="en-US" sz="1500" dirty="0">
                <a:solidFill>
                  <a:srgbClr val="2A3324"/>
                </a:solidFill>
                <a:latin typeface="Calibri"/>
                <a:ea typeface="Calibri"/>
              </a:rPr>
              <a:t>s (</a:t>
            </a:r>
            <a:r>
              <a:rPr lang="en-US" sz="1500" dirty="0" err="1">
                <a:solidFill>
                  <a:srgbClr val="2A3324"/>
                </a:solidFill>
                <a:latin typeface="Calibri"/>
                <a:ea typeface="Calibri"/>
              </a:rPr>
              <a:t>Kreisstraße</a:t>
            </a:r>
            <a:r>
              <a:rPr lang="en-US" sz="1500" dirty="0">
                <a:solidFill>
                  <a:srgbClr val="2A3324"/>
                </a:solidFill>
                <a:latin typeface="Calibri"/>
                <a:ea typeface="Calibri"/>
              </a:rPr>
              <a:t>, </a:t>
            </a:r>
            <a:r>
              <a:rPr lang="en-US" sz="1500" dirty="0" err="1">
                <a:solidFill>
                  <a:srgbClr val="2A3324"/>
                </a:solidFill>
                <a:latin typeface="Calibri"/>
                <a:ea typeface="Calibri"/>
              </a:rPr>
              <a:t>Bundestraße</a:t>
            </a:r>
            <a:r>
              <a:rPr lang="en-US" sz="1500" dirty="0">
                <a:solidFill>
                  <a:srgbClr val="2A3324"/>
                </a:solidFill>
                <a:latin typeface="Calibri"/>
                <a:ea typeface="Calibri"/>
              </a:rPr>
              <a:t>, … ), Land use, water (‘</a:t>
            </a:r>
            <a:r>
              <a:rPr lang="en-US" sz="1500" dirty="0" err="1">
                <a:solidFill>
                  <a:srgbClr val="2A3324"/>
                </a:solidFill>
                <a:latin typeface="Calibri"/>
                <a:ea typeface="Calibri"/>
              </a:rPr>
              <a:t>Binnensee,Teich</a:t>
            </a:r>
            <a:r>
              <a:rPr lang="en-US" sz="1500" dirty="0">
                <a:solidFill>
                  <a:srgbClr val="2A3324"/>
                </a:solidFill>
                <a:latin typeface="Calibri"/>
                <a:ea typeface="Calibri"/>
              </a:rPr>
              <a:t>’, Kanal, …) and railways are classified in a </a:t>
            </a:r>
            <a:r>
              <a:rPr lang="en-US" sz="1500" dirty="0" err="1">
                <a:solidFill>
                  <a:srgbClr val="2A3324"/>
                </a:solidFill>
                <a:latin typeface="Calibri"/>
                <a:ea typeface="Calibri"/>
              </a:rPr>
              <a:t>typ</a:t>
            </a:r>
            <a:r>
              <a:rPr lang="en-US" sz="1500" dirty="0">
                <a:solidFill>
                  <a:srgbClr val="2A3324"/>
                </a:solidFill>
                <a:latin typeface="Calibri"/>
                <a:ea typeface="Calibri"/>
              </a:rPr>
              <a:t> field.</a:t>
            </a:r>
            <a:endParaRPr lang="de-DE" sz="1500" dirty="0">
              <a:solidFill>
                <a:srgbClr val="000000"/>
              </a:solidFill>
            </a:endParaRPr>
          </a:p>
        </p:txBody>
      </p:sp>
      <p:pic>
        <p:nvPicPr>
          <p:cNvPr id="57" name="Image 0" descr="/home/claude/gis/media/s_attr.png"/>
          <p:cNvPicPr/>
          <p:nvPr/>
        </p:nvPicPr>
        <p:blipFill>
          <a:blip r:embed="rId3"/>
          <a:stretch/>
        </p:blipFill>
        <p:spPr>
          <a:xfrm>
            <a:off x="2952750" y="2758302"/>
            <a:ext cx="6286500" cy="3404898"/>
          </a:xfrm>
          <a:prstGeom prst="rect">
            <a:avLst/>
          </a:prstGeom>
          <a:noFill/>
          <a:ln w="0">
            <a:noFill/>
          </a:ln>
          <a:effectLst>
            <a:outerShdw blurRad="114480" dist="38160" dir="5400000" rotWithShape="0">
              <a:srgbClr val="1B1B1B">
                <a:alpha val="30000"/>
              </a:srgbClr>
            </a:outerShdw>
          </a:effectLst>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grpSp>
        <p:nvGrpSpPr>
          <p:cNvPr id="8" name="Gruppieren 7">
            <a:extLst>
              <a:ext uri="{FF2B5EF4-FFF2-40B4-BE49-F238E27FC236}">
                <a16:creationId xmlns:a16="http://schemas.microsoft.com/office/drawing/2014/main" id="{59D50E9C-84A1-BDC8-0098-4F14864B8391}"/>
              </a:ext>
            </a:extLst>
          </p:cNvPr>
          <p:cNvGrpSpPr/>
          <p:nvPr/>
        </p:nvGrpSpPr>
        <p:grpSpPr>
          <a:xfrm>
            <a:off x="548640" y="4887540"/>
            <a:ext cx="5257800" cy="1234440"/>
            <a:chOff x="548640" y="4887540"/>
            <a:chExt cx="5257800" cy="1234440"/>
          </a:xfrm>
        </p:grpSpPr>
        <p:sp>
          <p:nvSpPr>
            <p:cNvPr id="2" name="Shape 5">
              <a:extLst>
                <a:ext uri="{FF2B5EF4-FFF2-40B4-BE49-F238E27FC236}">
                  <a16:creationId xmlns:a16="http://schemas.microsoft.com/office/drawing/2014/main" id="{E1B78E4D-09E3-4B87-C951-874C67D40FBB}"/>
                </a:ext>
              </a:extLst>
            </p:cNvPr>
            <p:cNvSpPr/>
            <p:nvPr/>
          </p:nvSpPr>
          <p:spPr>
            <a:xfrm>
              <a:off x="548640" y="4887540"/>
              <a:ext cx="5257800" cy="1234440"/>
            </a:xfrm>
            <a:prstGeom prst="roundRect">
              <a:avLst>
                <a:gd name="adj" fmla="val 6667"/>
              </a:avLst>
            </a:prstGeom>
            <a:solidFill>
              <a:srgbClr val="F1F5EC"/>
            </a:solidFill>
            <a:ln w="12700">
              <a:solidFill>
                <a:srgbClr val="97BC62"/>
              </a:solidFill>
              <a:prstDash val="solid"/>
            </a:ln>
          </p:spPr>
          <p:txBody>
            <a:bodyPr/>
            <a:lstStyle/>
            <a:p>
              <a:endParaRPr lang="de-DE"/>
            </a:p>
          </p:txBody>
        </p:sp>
        <p:sp>
          <p:nvSpPr>
            <p:cNvPr id="3" name="Text 6">
              <a:extLst>
                <a:ext uri="{FF2B5EF4-FFF2-40B4-BE49-F238E27FC236}">
                  <a16:creationId xmlns:a16="http://schemas.microsoft.com/office/drawing/2014/main" id="{016EE5A4-C54E-A34B-716F-6DD0EECA8AC9}"/>
                </a:ext>
              </a:extLst>
            </p:cNvPr>
            <p:cNvSpPr txBox="1"/>
            <p:nvPr/>
          </p:nvSpPr>
          <p:spPr>
            <a:xfrm>
              <a:off x="685800" y="5106996"/>
              <a:ext cx="1691640" cy="502920"/>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2500" b="1" dirty="0">
                  <a:solidFill>
                    <a:srgbClr val="6E7A64"/>
                  </a:solidFill>
                  <a:latin typeface="Cambria" pitchFamily="34" charset="0"/>
                  <a:ea typeface="Cambria" pitchFamily="34" charset="-122"/>
                  <a:cs typeface="Cambria" pitchFamily="34" charset="-120"/>
                </a:rPr>
                <a:t>12 px</a:t>
              </a:r>
              <a:endParaRPr lang="en-US" sz="2500" dirty="0"/>
            </a:p>
          </p:txBody>
        </p:sp>
        <p:sp>
          <p:nvSpPr>
            <p:cNvPr id="4" name="Text 7">
              <a:extLst>
                <a:ext uri="{FF2B5EF4-FFF2-40B4-BE49-F238E27FC236}">
                  <a16:creationId xmlns:a16="http://schemas.microsoft.com/office/drawing/2014/main" id="{9F52BD01-96A2-81FA-9565-A13D60AACD0D}"/>
                </a:ext>
              </a:extLst>
            </p:cNvPr>
            <p:cNvSpPr txBox="1"/>
            <p:nvPr/>
          </p:nvSpPr>
          <p:spPr>
            <a:xfrm>
              <a:off x="685800" y="5655636"/>
              <a:ext cx="1691640" cy="274320"/>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1000" dirty="0">
                  <a:solidFill>
                    <a:srgbClr val="6E7A64"/>
                  </a:solidFill>
                  <a:latin typeface="Calibri" pitchFamily="34" charset="0"/>
                  <a:ea typeface="Calibri" pitchFamily="34" charset="-122"/>
                  <a:cs typeface="Calibri" pitchFamily="34" charset="-120"/>
                </a:rPr>
                <a:t>all 10 points</a:t>
              </a:r>
              <a:endParaRPr lang="en-US" sz="1000" dirty="0"/>
            </a:p>
          </p:txBody>
        </p:sp>
        <p:sp>
          <p:nvSpPr>
            <p:cNvPr id="5" name="Text 8">
              <a:extLst>
                <a:ext uri="{FF2B5EF4-FFF2-40B4-BE49-F238E27FC236}">
                  <a16:creationId xmlns:a16="http://schemas.microsoft.com/office/drawing/2014/main" id="{3AE4BEB0-4042-80AF-02F3-232984DDF7A1}"/>
                </a:ext>
              </a:extLst>
            </p:cNvPr>
            <p:cNvSpPr txBox="1"/>
            <p:nvPr/>
          </p:nvSpPr>
          <p:spPr>
            <a:xfrm>
              <a:off x="2359152" y="5070420"/>
              <a:ext cx="640080" cy="566928"/>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2400" b="1" dirty="0">
                  <a:solidFill>
                    <a:srgbClr val="2C5F2D"/>
                  </a:solidFill>
                  <a:latin typeface="Calibri" pitchFamily="34" charset="0"/>
                  <a:ea typeface="Calibri" pitchFamily="34" charset="-122"/>
                  <a:cs typeface="Calibri" pitchFamily="34" charset="-120"/>
                </a:rPr>
                <a:t>→</a:t>
              </a:r>
              <a:endParaRPr lang="en-US" sz="2400" dirty="0"/>
            </a:p>
          </p:txBody>
        </p:sp>
        <p:sp>
          <p:nvSpPr>
            <p:cNvPr id="6" name="Text 9">
              <a:extLst>
                <a:ext uri="{FF2B5EF4-FFF2-40B4-BE49-F238E27FC236}">
                  <a16:creationId xmlns:a16="http://schemas.microsoft.com/office/drawing/2014/main" id="{D3E134C3-924C-AF70-8081-B48C8A3AB183}"/>
                </a:ext>
              </a:extLst>
            </p:cNvPr>
            <p:cNvSpPr txBox="1"/>
            <p:nvPr/>
          </p:nvSpPr>
          <p:spPr>
            <a:xfrm>
              <a:off x="3017520" y="5070420"/>
              <a:ext cx="2651760" cy="548640"/>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3000" b="1" dirty="0">
                  <a:solidFill>
                    <a:srgbClr val="2C5F2D"/>
                  </a:solidFill>
                  <a:latin typeface="Cambria" pitchFamily="34" charset="0"/>
                  <a:ea typeface="Cambria" pitchFamily="34" charset="-122"/>
                  <a:cs typeface="Cambria" pitchFamily="34" charset="-120"/>
                </a:rPr>
                <a:t>5.1 px</a:t>
              </a:r>
              <a:endParaRPr lang="en-US" sz="3000" dirty="0"/>
            </a:p>
          </p:txBody>
        </p:sp>
        <p:sp>
          <p:nvSpPr>
            <p:cNvPr id="7" name="Text 10">
              <a:extLst>
                <a:ext uri="{FF2B5EF4-FFF2-40B4-BE49-F238E27FC236}">
                  <a16:creationId xmlns:a16="http://schemas.microsoft.com/office/drawing/2014/main" id="{C22EA258-56A6-E6E4-17CD-D2D95BCEA390}"/>
                </a:ext>
              </a:extLst>
            </p:cNvPr>
            <p:cNvSpPr txBox="1"/>
            <p:nvPr/>
          </p:nvSpPr>
          <p:spPr>
            <a:xfrm>
              <a:off x="3017520" y="5655636"/>
              <a:ext cx="2651760" cy="274320"/>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1000" dirty="0">
                  <a:solidFill>
                    <a:srgbClr val="6E7A64"/>
                  </a:solidFill>
                  <a:latin typeface="Calibri" pitchFamily="34" charset="0"/>
                  <a:ea typeface="Calibri" pitchFamily="34" charset="-122"/>
                  <a:cs typeface="Calibri" pitchFamily="34" charset="-120"/>
                </a:rPr>
                <a:t>9 points used  ·  ≈ 20–25 m</a:t>
              </a:r>
              <a:endParaRPr lang="en-US" sz="1000" dirty="0"/>
            </a:p>
          </p:txBody>
        </p:sp>
      </p:grpSp>
      <p:sp>
        <p:nvSpPr>
          <p:cNvPr id="58" name="Shape 0"/>
          <p:cNvSpPr/>
          <p:nvPr/>
        </p:nvSpPr>
        <p:spPr>
          <a:xfrm>
            <a:off x="548640" y="475560"/>
            <a:ext cx="602640" cy="602640"/>
          </a:xfrm>
          <a:prstGeom prst="ellipse">
            <a:avLst/>
          </a:prstGeom>
          <a:solidFill>
            <a:srgbClr val="C2762A"/>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de-DE" sz="1800" b="0" u="none" strike="noStrike">
              <a:solidFill>
                <a:schemeClr val="dk1"/>
              </a:solidFill>
              <a:effectLst/>
              <a:uFillTx/>
              <a:latin typeface="Calibri"/>
            </a:endParaRPr>
          </a:p>
        </p:txBody>
      </p:sp>
      <p:sp>
        <p:nvSpPr>
          <p:cNvPr id="59" name="Text 1"/>
          <p:cNvSpPr/>
          <p:nvPr/>
        </p:nvSpPr>
        <p:spPr>
          <a:xfrm>
            <a:off x="548640" y="475560"/>
            <a:ext cx="602640" cy="602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2700" b="1" u="none" strike="noStrike">
                <a:solidFill>
                  <a:srgbClr val="FFFFFF"/>
                </a:solidFill>
                <a:effectLst/>
                <a:uFillTx/>
                <a:latin typeface="Calibri"/>
                <a:ea typeface="Calibri"/>
              </a:rPr>
              <a:t>3</a:t>
            </a:r>
            <a:endParaRPr lang="de-DE" sz="2700" b="0" u="none" strike="noStrike">
              <a:solidFill>
                <a:srgbClr val="000000"/>
              </a:solidFill>
              <a:effectLst/>
              <a:uFillTx/>
              <a:latin typeface="Arial"/>
            </a:endParaRPr>
          </a:p>
        </p:txBody>
      </p:sp>
      <p:sp>
        <p:nvSpPr>
          <p:cNvPr id="60" name="Text 2"/>
          <p:cNvSpPr/>
          <p:nvPr/>
        </p:nvSpPr>
        <p:spPr>
          <a:xfrm>
            <a:off x="1298520" y="457200"/>
            <a:ext cx="5485680" cy="236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100" b="1" u="none" strike="noStrike" spc="201">
                <a:solidFill>
                  <a:srgbClr val="C2762A"/>
                </a:solidFill>
                <a:effectLst/>
                <a:uFillTx/>
                <a:latin typeface="Calibri"/>
                <a:ea typeface="Calibri"/>
              </a:rPr>
              <a:t>STEP 3 OF 5</a:t>
            </a:r>
            <a:endParaRPr lang="de-DE" sz="1100" b="0" u="none" strike="noStrike">
              <a:solidFill>
                <a:srgbClr val="000000"/>
              </a:solidFill>
              <a:effectLst/>
              <a:uFillTx/>
              <a:latin typeface="Arial"/>
            </a:endParaRPr>
          </a:p>
        </p:txBody>
      </p:sp>
      <p:sp>
        <p:nvSpPr>
          <p:cNvPr id="61" name="Text 3"/>
          <p:cNvSpPr/>
          <p:nvPr/>
        </p:nvSpPr>
        <p:spPr>
          <a:xfrm>
            <a:off x="1298520" y="694800"/>
            <a:ext cx="10332000" cy="5662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2700" b="1" u="none" strike="noStrike">
                <a:solidFill>
                  <a:srgbClr val="22371F"/>
                </a:solidFill>
                <a:effectLst/>
                <a:uFillTx/>
                <a:latin typeface="Cambria"/>
                <a:ea typeface="Cambria"/>
              </a:rPr>
              <a:t>Georeferencing the aerial photograph</a:t>
            </a:r>
            <a:endParaRPr lang="de-DE" sz="2700" b="0" u="none" strike="noStrike">
              <a:solidFill>
                <a:srgbClr val="000000"/>
              </a:solidFill>
              <a:effectLst/>
              <a:uFillTx/>
              <a:latin typeface="Arial"/>
            </a:endParaRPr>
          </a:p>
        </p:txBody>
      </p:sp>
      <p:sp>
        <p:nvSpPr>
          <p:cNvPr id="62" name="Text 4"/>
          <p:cNvSpPr/>
          <p:nvPr/>
        </p:nvSpPr>
        <p:spPr>
          <a:xfrm>
            <a:off x="548640" y="1600200"/>
            <a:ext cx="5257080" cy="3565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marL="203040" indent="-203040" defTabSz="914400">
              <a:lnSpc>
                <a:spcPct val="104000"/>
              </a:lnSpc>
              <a:spcAft>
                <a:spcPts val="1100"/>
              </a:spcAft>
              <a:buClr>
                <a:srgbClr val="2A3324"/>
              </a:buClr>
              <a:buFont typeface="Symbol" charset="2"/>
              <a:buChar char=""/>
            </a:pPr>
            <a:r>
              <a:rPr lang="en-US" sz="1500" b="0" u="none" strike="noStrike">
                <a:solidFill>
                  <a:srgbClr val="2A3324"/>
                </a:solidFill>
                <a:effectLst/>
                <a:uFillTx/>
                <a:latin typeface="Calibri"/>
                <a:ea typeface="Calibri"/>
              </a:rPr>
              <a:t>The supplied aerial photograph had no spatial reference.</a:t>
            </a:r>
            <a:endParaRPr lang="de-DE" sz="1500" b="0" u="none" strike="noStrike">
              <a:solidFill>
                <a:srgbClr val="000000"/>
              </a:solidFill>
              <a:effectLst/>
              <a:uFillTx/>
              <a:latin typeface="Arial"/>
            </a:endParaRPr>
          </a:p>
          <a:p>
            <a:pPr marL="203040" indent="-203040" defTabSz="914400">
              <a:lnSpc>
                <a:spcPct val="104000"/>
              </a:lnSpc>
              <a:spcAft>
                <a:spcPts val="1100"/>
              </a:spcAft>
              <a:buClr>
                <a:srgbClr val="2A3324"/>
              </a:buClr>
              <a:buFont typeface="Symbol" charset="2"/>
              <a:buChar char=""/>
            </a:pPr>
            <a:r>
              <a:rPr lang="en-US" sz="1500" b="0" u="none" strike="noStrike">
                <a:solidFill>
                  <a:srgbClr val="2A3324"/>
                </a:solidFill>
                <a:effectLst/>
                <a:uFillTx/>
                <a:latin typeface="Calibri"/>
                <a:ea typeface="Calibri"/>
              </a:rPr>
              <a:t>Placed ground control points by matching features in the photo (road junctions, water edges) to the vector layers.</a:t>
            </a:r>
            <a:endParaRPr lang="de-DE" sz="1500" b="0" u="none" strike="noStrike">
              <a:solidFill>
                <a:srgbClr val="000000"/>
              </a:solidFill>
              <a:effectLst/>
              <a:uFillTx/>
              <a:latin typeface="Arial"/>
            </a:endParaRPr>
          </a:p>
          <a:p>
            <a:pPr marL="203040" indent="-203040" defTabSz="914400">
              <a:lnSpc>
                <a:spcPct val="104000"/>
              </a:lnSpc>
              <a:spcAft>
                <a:spcPts val="1100"/>
              </a:spcAft>
              <a:buClr>
                <a:srgbClr val="2A3324"/>
              </a:buClr>
              <a:buFont typeface="Symbol" charset="2"/>
              <a:buChar char=""/>
            </a:pPr>
            <a:r>
              <a:rPr lang="en-US" sz="1500" b="0" u="none" strike="noStrike">
                <a:solidFill>
                  <a:srgbClr val="2A3324"/>
                </a:solidFill>
                <a:effectLst/>
                <a:uFillTx/>
                <a:latin typeface="Calibri"/>
                <a:ea typeface="Calibri"/>
              </a:rPr>
              <a:t>Transformation: Polynomial 1 (affine), nearest-neighbour resampling, target EPSG:31467.</a:t>
            </a:r>
            <a:endParaRPr lang="de-DE" sz="1500" b="0" u="none" strike="noStrike">
              <a:solidFill>
                <a:srgbClr val="000000"/>
              </a:solidFill>
              <a:effectLst/>
              <a:uFillTx/>
              <a:latin typeface="Arial"/>
            </a:endParaRPr>
          </a:p>
          <a:p>
            <a:pPr marL="203040" indent="-203040" defTabSz="914400">
              <a:lnSpc>
                <a:spcPct val="104000"/>
              </a:lnSpc>
              <a:spcAft>
                <a:spcPts val="1100"/>
              </a:spcAft>
              <a:buClr>
                <a:srgbClr val="2A3324"/>
              </a:buClr>
              <a:buFont typeface="Symbol" charset="2"/>
              <a:buChar char=""/>
            </a:pPr>
            <a:r>
              <a:rPr lang="en-US" sz="1500" b="0" u="none" strike="noStrike">
                <a:solidFill>
                  <a:srgbClr val="2A3324"/>
                </a:solidFill>
                <a:effectLst/>
                <a:uFillTx/>
                <a:latin typeface="Calibri"/>
                <a:ea typeface="Calibri"/>
              </a:rPr>
              <a:t>10 points placed; 1 outlier disabled, leaving 9 used for the fit.</a:t>
            </a:r>
            <a:endParaRPr lang="de-DE" sz="1500" b="0" u="none" strike="noStrike">
              <a:solidFill>
                <a:srgbClr val="000000"/>
              </a:solidFill>
              <a:effectLst/>
              <a:uFillTx/>
              <a:latin typeface="Arial"/>
            </a:endParaRPr>
          </a:p>
        </p:txBody>
      </p:sp>
      <p:pic>
        <p:nvPicPr>
          <p:cNvPr id="66" name="Image 0" descr="/home/claude/gis/media/s_georef.png"/>
          <p:cNvPicPr/>
          <p:nvPr/>
        </p:nvPicPr>
        <p:blipFill>
          <a:blip r:embed="rId3"/>
          <a:stretch/>
        </p:blipFill>
        <p:spPr>
          <a:xfrm>
            <a:off x="6172200" y="2387880"/>
            <a:ext cx="5531400" cy="2995920"/>
          </a:xfrm>
          <a:prstGeom prst="rect">
            <a:avLst/>
          </a:prstGeom>
          <a:noFill/>
          <a:ln w="0">
            <a:noFill/>
          </a:ln>
          <a:effectLst>
            <a:outerShdw blurRad="114480" dist="38160" dir="5400000" rotWithShape="0">
              <a:srgbClr val="1B1B1B">
                <a:alpha val="30000"/>
              </a:srgbClr>
            </a:outerShdw>
          </a:effectLst>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7" name="Shape 0"/>
          <p:cNvSpPr/>
          <p:nvPr/>
        </p:nvSpPr>
        <p:spPr>
          <a:xfrm>
            <a:off x="548640" y="475560"/>
            <a:ext cx="602640" cy="602640"/>
          </a:xfrm>
          <a:prstGeom prst="ellipse">
            <a:avLst/>
          </a:prstGeom>
          <a:solidFill>
            <a:srgbClr val="C2762A"/>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de-DE" sz="1800" b="0" u="none" strike="noStrike">
              <a:solidFill>
                <a:schemeClr val="dk1"/>
              </a:solidFill>
              <a:effectLst/>
              <a:uFillTx/>
              <a:latin typeface="Calibri"/>
            </a:endParaRPr>
          </a:p>
        </p:txBody>
      </p:sp>
      <p:sp>
        <p:nvSpPr>
          <p:cNvPr id="68" name="Text 1"/>
          <p:cNvSpPr/>
          <p:nvPr/>
        </p:nvSpPr>
        <p:spPr>
          <a:xfrm>
            <a:off x="548640" y="475560"/>
            <a:ext cx="602640" cy="602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2700" b="1" u="none" strike="noStrike">
                <a:solidFill>
                  <a:srgbClr val="FFFFFF"/>
                </a:solidFill>
                <a:effectLst/>
                <a:uFillTx/>
                <a:latin typeface="Calibri"/>
                <a:ea typeface="Calibri"/>
              </a:rPr>
              <a:t>4</a:t>
            </a:r>
            <a:endParaRPr lang="de-DE" sz="2700" b="0" u="none" strike="noStrike">
              <a:solidFill>
                <a:srgbClr val="000000"/>
              </a:solidFill>
              <a:effectLst/>
              <a:uFillTx/>
              <a:latin typeface="Arial"/>
            </a:endParaRPr>
          </a:p>
        </p:txBody>
      </p:sp>
      <p:sp>
        <p:nvSpPr>
          <p:cNvPr id="69" name="Text 2"/>
          <p:cNvSpPr/>
          <p:nvPr/>
        </p:nvSpPr>
        <p:spPr>
          <a:xfrm>
            <a:off x="1298520" y="457200"/>
            <a:ext cx="5485680" cy="236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100" b="1" u="none" strike="noStrike" spc="201">
                <a:solidFill>
                  <a:srgbClr val="C2762A"/>
                </a:solidFill>
                <a:effectLst/>
                <a:uFillTx/>
                <a:latin typeface="Calibri"/>
                <a:ea typeface="Calibri"/>
              </a:rPr>
              <a:t>STEP 4 OF 5</a:t>
            </a:r>
            <a:endParaRPr lang="de-DE" sz="1100" b="0" u="none" strike="noStrike">
              <a:solidFill>
                <a:srgbClr val="000000"/>
              </a:solidFill>
              <a:effectLst/>
              <a:uFillTx/>
              <a:latin typeface="Arial"/>
            </a:endParaRPr>
          </a:p>
        </p:txBody>
      </p:sp>
      <p:sp>
        <p:nvSpPr>
          <p:cNvPr id="70" name="Text 3"/>
          <p:cNvSpPr/>
          <p:nvPr/>
        </p:nvSpPr>
        <p:spPr>
          <a:xfrm>
            <a:off x="1298520" y="694800"/>
            <a:ext cx="10332000" cy="5662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2700" b="1" u="none" strike="noStrike">
                <a:solidFill>
                  <a:srgbClr val="22371F"/>
                </a:solidFill>
                <a:effectLst/>
                <a:uFillTx/>
                <a:latin typeface="Cambria"/>
                <a:ea typeface="Cambria"/>
              </a:rPr>
              <a:t>Digitizing the oxbow arms of the Leine</a:t>
            </a:r>
            <a:endParaRPr lang="de-DE" sz="2700" b="0" u="none" strike="noStrike">
              <a:solidFill>
                <a:srgbClr val="000000"/>
              </a:solidFill>
              <a:effectLst/>
              <a:uFillTx/>
              <a:latin typeface="Arial"/>
            </a:endParaRPr>
          </a:p>
        </p:txBody>
      </p:sp>
      <p:sp>
        <p:nvSpPr>
          <p:cNvPr id="71" name="Text 4"/>
          <p:cNvSpPr/>
          <p:nvPr/>
        </p:nvSpPr>
        <p:spPr>
          <a:xfrm>
            <a:off x="548640" y="1481400"/>
            <a:ext cx="11154960" cy="5479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4000"/>
              </a:lnSpc>
              <a:tabLst>
                <a:tab pos="0" algn="l"/>
              </a:tabLst>
            </a:pPr>
            <a:r>
              <a:rPr lang="en-US" sz="1500" b="0" u="none" strike="noStrike">
                <a:solidFill>
                  <a:srgbClr val="2A3324"/>
                </a:solidFill>
                <a:effectLst/>
                <a:uFillTx/>
                <a:latin typeface="Calibri"/>
                <a:ea typeface="Calibri"/>
              </a:rPr>
              <a:t>The cut-off meander loops of the Leine are not in the water layer, so I traced them as new polygons. Result: </a:t>
            </a:r>
            <a:r>
              <a:rPr lang="en-US" sz="1500" b="1" u="none" strike="noStrike">
                <a:solidFill>
                  <a:srgbClr val="2C5F2D"/>
                </a:solidFill>
                <a:effectLst/>
                <a:uFillTx/>
                <a:latin typeface="Calibri"/>
                <a:ea typeface="Calibri"/>
              </a:rPr>
              <a:t>7 polygons in Altwasser.gpkg</a:t>
            </a:r>
            <a:r>
              <a:rPr lang="en-US" sz="1500" b="0" u="none" strike="noStrike">
                <a:solidFill>
                  <a:srgbClr val="2A3324"/>
                </a:solidFill>
                <a:effectLst/>
                <a:uFillTx/>
                <a:latin typeface="Calibri"/>
                <a:ea typeface="Calibri"/>
              </a:rPr>
              <a:t> (field typ = 'Altwasser').</a:t>
            </a:r>
            <a:endParaRPr lang="de-DE" sz="1500" b="0" u="none" strike="noStrike">
              <a:solidFill>
                <a:srgbClr val="000000"/>
              </a:solidFill>
              <a:effectLst/>
              <a:uFillTx/>
              <a:latin typeface="Arial"/>
            </a:endParaRPr>
          </a:p>
        </p:txBody>
      </p:sp>
      <p:pic>
        <p:nvPicPr>
          <p:cNvPr id="72" name="Image 0" descr="/home/claude/gis/media/oxbow_clean.png"/>
          <p:cNvPicPr/>
          <p:nvPr/>
        </p:nvPicPr>
        <p:blipFill>
          <a:blip r:embed="rId3"/>
          <a:stretch/>
        </p:blipFill>
        <p:spPr>
          <a:xfrm>
            <a:off x="864720" y="2240280"/>
            <a:ext cx="4898880" cy="3748320"/>
          </a:xfrm>
          <a:prstGeom prst="rect">
            <a:avLst/>
          </a:prstGeom>
          <a:noFill/>
          <a:ln w="0">
            <a:noFill/>
          </a:ln>
          <a:effectLst>
            <a:outerShdw blurRad="114480" dist="38160" dir="5400000" rotWithShape="0">
              <a:srgbClr val="1B1B1B">
                <a:alpha val="30000"/>
              </a:srgbClr>
            </a:outerShdw>
          </a:effectLst>
        </p:spPr>
      </p:pic>
      <p:sp>
        <p:nvSpPr>
          <p:cNvPr id="73" name="Text 5"/>
          <p:cNvSpPr/>
          <p:nvPr/>
        </p:nvSpPr>
        <p:spPr>
          <a:xfrm>
            <a:off x="864720" y="6062400"/>
            <a:ext cx="4898880" cy="273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050" b="0" i="1" u="none" strike="noStrike">
                <a:solidFill>
                  <a:srgbClr val="6E7A64"/>
                </a:solidFill>
                <a:effectLst/>
                <a:uFillTx/>
                <a:latin typeface="Calibri"/>
                <a:ea typeface="Calibri"/>
              </a:rPr>
              <a:t>Aerial photograph — the oxbow arms are visible</a:t>
            </a:r>
            <a:endParaRPr lang="de-DE" sz="1050" b="0" u="none" strike="noStrike">
              <a:solidFill>
                <a:srgbClr val="000000"/>
              </a:solidFill>
              <a:effectLst/>
              <a:uFillTx/>
              <a:latin typeface="Arial"/>
            </a:endParaRPr>
          </a:p>
        </p:txBody>
      </p:sp>
      <p:pic>
        <p:nvPicPr>
          <p:cNvPr id="74" name="Image 1" descr="/home/claude/gis/media/oxbow_digitized.png"/>
          <p:cNvPicPr/>
          <p:nvPr/>
        </p:nvPicPr>
        <p:blipFill>
          <a:blip r:embed="rId4"/>
          <a:stretch/>
        </p:blipFill>
        <p:spPr>
          <a:xfrm>
            <a:off x="6309360" y="2335680"/>
            <a:ext cx="5348520" cy="3557160"/>
          </a:xfrm>
          <a:prstGeom prst="rect">
            <a:avLst/>
          </a:prstGeom>
          <a:noFill/>
          <a:ln w="0">
            <a:noFill/>
          </a:ln>
          <a:effectLst>
            <a:outerShdw blurRad="114480" dist="38160" dir="5400000" rotWithShape="0">
              <a:srgbClr val="1B1B1B">
                <a:alpha val="30000"/>
              </a:srgbClr>
            </a:outerShdw>
          </a:effectLst>
        </p:spPr>
      </p:pic>
      <p:sp>
        <p:nvSpPr>
          <p:cNvPr id="75" name="Text 6"/>
          <p:cNvSpPr/>
          <p:nvPr/>
        </p:nvSpPr>
        <p:spPr>
          <a:xfrm>
            <a:off x="6309360" y="5967000"/>
            <a:ext cx="5348520" cy="273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050" b="0" i="1" u="none" strike="noStrike">
                <a:solidFill>
                  <a:srgbClr val="6E7A64"/>
                </a:solidFill>
                <a:effectLst/>
                <a:uFillTx/>
                <a:latin typeface="Calibri"/>
                <a:ea typeface="Calibri"/>
              </a:rPr>
              <a:t>Digitized result — 7 polygons over the aerial</a:t>
            </a:r>
            <a:endParaRPr lang="de-DE" sz="1050" b="0" u="none" strike="noStrike">
              <a:solidFill>
                <a:srgbClr val="000000"/>
              </a:solidFill>
              <a:effectLst/>
              <a:uFillTx/>
              <a:latin typeface="Arial"/>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6" name="Shape 0"/>
          <p:cNvSpPr/>
          <p:nvPr/>
        </p:nvSpPr>
        <p:spPr>
          <a:xfrm>
            <a:off x="548640" y="475560"/>
            <a:ext cx="602640" cy="602640"/>
          </a:xfrm>
          <a:prstGeom prst="ellipse">
            <a:avLst/>
          </a:prstGeom>
          <a:solidFill>
            <a:srgbClr val="C2762A"/>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de-DE" sz="1800" b="0" u="none" strike="noStrike">
              <a:solidFill>
                <a:schemeClr val="dk1"/>
              </a:solidFill>
              <a:effectLst/>
              <a:uFillTx/>
              <a:latin typeface="Calibri"/>
            </a:endParaRPr>
          </a:p>
        </p:txBody>
      </p:sp>
      <p:sp>
        <p:nvSpPr>
          <p:cNvPr id="77" name="Text 1"/>
          <p:cNvSpPr/>
          <p:nvPr/>
        </p:nvSpPr>
        <p:spPr>
          <a:xfrm>
            <a:off x="548640" y="475560"/>
            <a:ext cx="602640" cy="602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2700" b="1" u="none" strike="noStrike">
                <a:solidFill>
                  <a:srgbClr val="FFFFFF"/>
                </a:solidFill>
                <a:effectLst/>
                <a:uFillTx/>
                <a:latin typeface="Calibri"/>
                <a:ea typeface="Calibri"/>
              </a:rPr>
              <a:t>5</a:t>
            </a:r>
            <a:endParaRPr lang="de-DE" sz="2700" b="0" u="none" strike="noStrike">
              <a:solidFill>
                <a:srgbClr val="000000"/>
              </a:solidFill>
              <a:effectLst/>
              <a:uFillTx/>
              <a:latin typeface="Arial"/>
            </a:endParaRPr>
          </a:p>
        </p:txBody>
      </p:sp>
      <p:sp>
        <p:nvSpPr>
          <p:cNvPr id="78" name="Text 2"/>
          <p:cNvSpPr/>
          <p:nvPr/>
        </p:nvSpPr>
        <p:spPr>
          <a:xfrm>
            <a:off x="1298520" y="457200"/>
            <a:ext cx="5485680" cy="236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100" b="1" u="none" strike="noStrike" spc="201">
                <a:solidFill>
                  <a:srgbClr val="C2762A"/>
                </a:solidFill>
                <a:effectLst/>
                <a:uFillTx/>
                <a:latin typeface="Calibri"/>
                <a:ea typeface="Calibri"/>
              </a:rPr>
              <a:t>STEP 5 OF 5</a:t>
            </a:r>
            <a:endParaRPr lang="de-DE" sz="1100" b="0" u="none" strike="noStrike">
              <a:solidFill>
                <a:srgbClr val="000000"/>
              </a:solidFill>
              <a:effectLst/>
              <a:uFillTx/>
              <a:latin typeface="Arial"/>
            </a:endParaRPr>
          </a:p>
        </p:txBody>
      </p:sp>
      <p:sp>
        <p:nvSpPr>
          <p:cNvPr id="79" name="Text 3"/>
          <p:cNvSpPr/>
          <p:nvPr/>
        </p:nvSpPr>
        <p:spPr>
          <a:xfrm>
            <a:off x="1298520" y="694800"/>
            <a:ext cx="10332000" cy="5662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2700" b="1" u="none" strike="noStrike">
                <a:solidFill>
                  <a:srgbClr val="22371F"/>
                </a:solidFill>
                <a:effectLst/>
                <a:uFillTx/>
                <a:latin typeface="Cambria"/>
                <a:ea typeface="Cambria"/>
              </a:rPr>
              <a:t>Producing the Digital Landscape Model map</a:t>
            </a:r>
            <a:endParaRPr lang="de-DE" sz="2700" b="0" u="none" strike="noStrike">
              <a:solidFill>
                <a:srgbClr val="000000"/>
              </a:solidFill>
              <a:effectLst/>
              <a:uFillTx/>
              <a:latin typeface="Arial"/>
            </a:endParaRPr>
          </a:p>
        </p:txBody>
      </p:sp>
      <p:sp>
        <p:nvSpPr>
          <p:cNvPr id="80" name="Text 4"/>
          <p:cNvSpPr/>
          <p:nvPr/>
        </p:nvSpPr>
        <p:spPr>
          <a:xfrm>
            <a:off x="548640" y="1600200"/>
            <a:ext cx="4891320" cy="4205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marL="203040" indent="-203040" defTabSz="914400">
              <a:lnSpc>
                <a:spcPct val="104000"/>
              </a:lnSpc>
              <a:spcAft>
                <a:spcPts val="1100"/>
              </a:spcAft>
              <a:buClr>
                <a:srgbClr val="2A3324"/>
              </a:buClr>
              <a:buFont typeface="Symbol" charset="2"/>
              <a:buChar char=""/>
            </a:pPr>
            <a:r>
              <a:rPr lang="en-US" sz="1500" b="0" u="none" strike="noStrike" dirty="0">
                <a:solidFill>
                  <a:srgbClr val="2A3324"/>
                </a:solidFill>
                <a:effectLst/>
                <a:uFillTx/>
                <a:latin typeface="Calibri"/>
                <a:ea typeface="Calibri"/>
              </a:rPr>
              <a:t>Assembled all data layers, the georeferenced aerial and the digitized oxbows in the QGIS print layout.</a:t>
            </a:r>
            <a:endParaRPr lang="de-DE" sz="1500" b="0" u="none" strike="noStrike" dirty="0">
              <a:solidFill>
                <a:srgbClr val="000000"/>
              </a:solidFill>
              <a:effectLst/>
              <a:uFillTx/>
              <a:latin typeface="Arial"/>
            </a:endParaRPr>
          </a:p>
          <a:p>
            <a:pPr marL="203040" indent="-203040" defTabSz="914400">
              <a:lnSpc>
                <a:spcPct val="104000"/>
              </a:lnSpc>
              <a:spcAft>
                <a:spcPts val="1100"/>
              </a:spcAft>
              <a:buClr>
                <a:srgbClr val="2A3324"/>
              </a:buClr>
              <a:buFont typeface="Symbol" charset="2"/>
              <a:buChar char=""/>
            </a:pPr>
            <a:r>
              <a:rPr lang="en-US" sz="1500" b="0" u="none" strike="noStrike" dirty="0">
                <a:solidFill>
                  <a:srgbClr val="2A3324"/>
                </a:solidFill>
                <a:effectLst/>
                <a:uFillTx/>
                <a:latin typeface="Calibri"/>
                <a:ea typeface="Calibri"/>
              </a:rPr>
              <a:t>Styled the road network by class (the </a:t>
            </a:r>
            <a:r>
              <a:rPr lang="en-US" sz="1500" b="0" u="none" strike="noStrike" dirty="0" err="1">
                <a:solidFill>
                  <a:srgbClr val="2A3324"/>
                </a:solidFill>
                <a:effectLst/>
                <a:uFillTx/>
                <a:latin typeface="Calibri"/>
                <a:ea typeface="Calibri"/>
              </a:rPr>
              <a:t>typ</a:t>
            </a:r>
            <a:r>
              <a:rPr lang="en-US" sz="1500" b="0" u="none" strike="noStrike" dirty="0">
                <a:solidFill>
                  <a:srgbClr val="2A3324"/>
                </a:solidFill>
                <a:effectLst/>
                <a:uFillTx/>
                <a:latin typeface="Calibri"/>
                <a:ea typeface="Calibri"/>
              </a:rPr>
              <a:t> field).</a:t>
            </a:r>
            <a:endParaRPr lang="de-DE" sz="1500" b="0" u="none" strike="noStrike" dirty="0">
              <a:solidFill>
                <a:srgbClr val="000000"/>
              </a:solidFill>
              <a:effectLst/>
              <a:uFillTx/>
              <a:latin typeface="Arial"/>
            </a:endParaRPr>
          </a:p>
          <a:p>
            <a:pPr marL="203040" indent="-203040" defTabSz="914400">
              <a:lnSpc>
                <a:spcPct val="104000"/>
              </a:lnSpc>
              <a:spcAft>
                <a:spcPts val="1100"/>
              </a:spcAft>
              <a:buClr>
                <a:srgbClr val="2A3324"/>
              </a:buClr>
              <a:buFont typeface="Symbol" charset="2"/>
              <a:buChar char=""/>
            </a:pPr>
            <a:r>
              <a:rPr lang="en-US" sz="1500" b="0" u="none" strike="noStrike" dirty="0">
                <a:solidFill>
                  <a:srgbClr val="2A3324"/>
                </a:solidFill>
                <a:effectLst/>
                <a:uFillTx/>
                <a:latin typeface="Calibri"/>
                <a:ea typeface="Calibri"/>
              </a:rPr>
              <a:t>Added the four required map elements: title, legend, scale bar and north arrow.</a:t>
            </a:r>
          </a:p>
          <a:p>
            <a:pPr marL="203040" indent="-203040" defTabSz="914400">
              <a:lnSpc>
                <a:spcPct val="104000"/>
              </a:lnSpc>
              <a:spcAft>
                <a:spcPts val="1100"/>
              </a:spcAft>
              <a:buClr>
                <a:srgbClr val="2A3324"/>
              </a:buClr>
              <a:buFont typeface="Symbol" charset="2"/>
              <a:buChar char=""/>
            </a:pPr>
            <a:r>
              <a:rPr lang="en-US" sz="1500" b="0" u="none" strike="noStrike" dirty="0">
                <a:solidFill>
                  <a:srgbClr val="2A3324"/>
                </a:solidFill>
                <a:effectLst/>
                <a:uFillTx/>
                <a:latin typeface="Calibri"/>
                <a:ea typeface="Calibri"/>
              </a:rPr>
              <a:t>Exported the finished layout as DLM.pdf.</a:t>
            </a:r>
            <a:endParaRPr lang="de-DE" sz="1500" b="0" u="none" strike="noStrike" dirty="0">
              <a:solidFill>
                <a:srgbClr val="000000"/>
              </a:solidFill>
              <a:effectLst/>
              <a:uFillTx/>
              <a:latin typeface="Arial"/>
            </a:endParaRPr>
          </a:p>
        </p:txBody>
      </p:sp>
      <p:pic>
        <p:nvPicPr>
          <p:cNvPr id="81" name="Image 0" descr="/home/claude/gis/media/dlm.png"/>
          <p:cNvPicPr/>
          <p:nvPr/>
        </p:nvPicPr>
        <p:blipFill>
          <a:blip r:embed="rId3"/>
          <a:stretch/>
        </p:blipFill>
        <p:spPr>
          <a:xfrm>
            <a:off x="5669280" y="2043360"/>
            <a:ext cx="6034320" cy="3776400"/>
          </a:xfrm>
          <a:prstGeom prst="rect">
            <a:avLst/>
          </a:prstGeom>
          <a:noFill/>
          <a:ln w="0">
            <a:noFill/>
          </a:ln>
          <a:effectLst>
            <a:outerShdw blurRad="114480" dist="38160" dir="5400000" rotWithShape="0">
              <a:srgbClr val="1B1B1B">
                <a:alpha val="30000"/>
              </a:srgbClr>
            </a:outerShdw>
          </a:effectLst>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22371F"/>
        </a:solidFill>
        <a:effectLst/>
      </p:bgPr>
    </p:bg>
    <p:spTree>
      <p:nvGrpSpPr>
        <p:cNvPr id="1" name=""/>
        <p:cNvGrpSpPr/>
        <p:nvPr/>
      </p:nvGrpSpPr>
      <p:grpSpPr>
        <a:xfrm>
          <a:off x="0" y="0"/>
          <a:ext cx="0" cy="0"/>
          <a:chOff x="0" y="0"/>
          <a:chExt cx="0" cy="0"/>
        </a:xfrm>
      </p:grpSpPr>
      <p:sp>
        <p:nvSpPr>
          <p:cNvPr id="82" name="Text 0"/>
          <p:cNvSpPr/>
          <p:nvPr/>
        </p:nvSpPr>
        <p:spPr>
          <a:xfrm>
            <a:off x="548640" y="502920"/>
            <a:ext cx="10972080" cy="6393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3000" b="1" u="none" strike="noStrike">
                <a:solidFill>
                  <a:srgbClr val="FFFFFF"/>
                </a:solidFill>
                <a:effectLst/>
                <a:uFillTx/>
                <a:latin typeface="Cambria"/>
                <a:ea typeface="Cambria"/>
              </a:rPr>
              <a:t>Results &amp; outputs</a:t>
            </a:r>
            <a:endParaRPr lang="de-DE" sz="3000" b="0" u="none" strike="noStrike">
              <a:solidFill>
                <a:srgbClr val="FFFFFF"/>
              </a:solidFill>
              <a:effectLst/>
              <a:uFillTx/>
              <a:latin typeface="Arial"/>
            </a:endParaRPr>
          </a:p>
        </p:txBody>
      </p:sp>
      <p:sp>
        <p:nvSpPr>
          <p:cNvPr id="83" name="Shape 1"/>
          <p:cNvSpPr/>
          <p:nvPr/>
        </p:nvSpPr>
        <p:spPr>
          <a:xfrm>
            <a:off x="548640" y="1554480"/>
            <a:ext cx="2696760" cy="1690920"/>
          </a:xfrm>
          <a:prstGeom prst="roundRect">
            <a:avLst>
              <a:gd name="adj" fmla="val 5405"/>
            </a:avLst>
          </a:prstGeom>
          <a:solidFill>
            <a:srgbClr val="2F4A28"/>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de-DE" sz="1800" b="0" u="none" strike="noStrike">
              <a:solidFill>
                <a:schemeClr val="dk1"/>
              </a:solidFill>
              <a:effectLst/>
              <a:uFillTx/>
              <a:latin typeface="Calibri"/>
            </a:endParaRPr>
          </a:p>
        </p:txBody>
      </p:sp>
      <p:sp>
        <p:nvSpPr>
          <p:cNvPr id="84" name="Text 2"/>
          <p:cNvSpPr/>
          <p:nvPr/>
        </p:nvSpPr>
        <p:spPr>
          <a:xfrm>
            <a:off x="548640" y="1755720"/>
            <a:ext cx="2696760" cy="6850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3800" b="1" u="none" strike="noStrike">
                <a:solidFill>
                  <a:srgbClr val="C2762A"/>
                </a:solidFill>
                <a:effectLst/>
                <a:uFillTx/>
                <a:latin typeface="Cambria"/>
                <a:ea typeface="Cambria"/>
              </a:rPr>
              <a:t>7</a:t>
            </a:r>
            <a:endParaRPr lang="de-DE" sz="3800" b="0" u="none" strike="noStrike">
              <a:solidFill>
                <a:srgbClr val="FFFFFF"/>
              </a:solidFill>
              <a:effectLst/>
              <a:uFillTx/>
              <a:latin typeface="Arial"/>
            </a:endParaRPr>
          </a:p>
        </p:txBody>
      </p:sp>
      <p:sp>
        <p:nvSpPr>
          <p:cNvPr id="85" name="Text 3"/>
          <p:cNvSpPr/>
          <p:nvPr/>
        </p:nvSpPr>
        <p:spPr>
          <a:xfrm>
            <a:off x="685800" y="2487240"/>
            <a:ext cx="2422440" cy="6393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98000"/>
              </a:lnSpc>
              <a:tabLst>
                <a:tab pos="0" algn="l"/>
              </a:tabLst>
            </a:pPr>
            <a:r>
              <a:rPr lang="en-US" sz="1250" b="0" u="none" strike="noStrike">
                <a:solidFill>
                  <a:srgbClr val="D8E4CC"/>
                </a:solidFill>
                <a:effectLst/>
                <a:uFillTx/>
                <a:latin typeface="Calibri"/>
                <a:ea typeface="Calibri"/>
              </a:rPr>
              <a:t>layers prepared</a:t>
            </a:r>
            <a:endParaRPr lang="de-DE" sz="1250" b="0" u="none" strike="noStrike">
              <a:solidFill>
                <a:srgbClr val="FFFFFF"/>
              </a:solidFill>
              <a:effectLst/>
              <a:uFillTx/>
              <a:latin typeface="Arial"/>
            </a:endParaRPr>
          </a:p>
          <a:p>
            <a:pPr algn="ctr" defTabSz="914400">
              <a:lnSpc>
                <a:spcPct val="98000"/>
              </a:lnSpc>
              <a:tabLst>
                <a:tab pos="0" algn="l"/>
              </a:tabLst>
            </a:pPr>
            <a:r>
              <a:rPr lang="en-US" sz="1250" b="0" u="none" strike="noStrike">
                <a:solidFill>
                  <a:srgbClr val="D8E4CC"/>
                </a:solidFill>
                <a:effectLst/>
                <a:uFillTx/>
                <a:latin typeface="Calibri"/>
                <a:ea typeface="Calibri"/>
              </a:rPr>
              <a:t>in EPSG:31467</a:t>
            </a:r>
            <a:endParaRPr lang="de-DE" sz="1250" b="0" u="none" strike="noStrike">
              <a:solidFill>
                <a:srgbClr val="FFFFFF"/>
              </a:solidFill>
              <a:effectLst/>
              <a:uFillTx/>
              <a:latin typeface="Arial"/>
            </a:endParaRPr>
          </a:p>
        </p:txBody>
      </p:sp>
      <p:sp>
        <p:nvSpPr>
          <p:cNvPr id="86" name="Shape 4"/>
          <p:cNvSpPr/>
          <p:nvPr/>
        </p:nvSpPr>
        <p:spPr>
          <a:xfrm>
            <a:off x="3364920" y="1554480"/>
            <a:ext cx="2696760" cy="1690920"/>
          </a:xfrm>
          <a:prstGeom prst="roundRect">
            <a:avLst>
              <a:gd name="adj" fmla="val 5405"/>
            </a:avLst>
          </a:prstGeom>
          <a:solidFill>
            <a:srgbClr val="2F4A28"/>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de-DE" sz="1800" b="0" u="none" strike="noStrike">
              <a:solidFill>
                <a:schemeClr val="dk1"/>
              </a:solidFill>
              <a:effectLst/>
              <a:uFillTx/>
              <a:latin typeface="Calibri"/>
            </a:endParaRPr>
          </a:p>
        </p:txBody>
      </p:sp>
      <p:sp>
        <p:nvSpPr>
          <p:cNvPr id="87" name="Text 5"/>
          <p:cNvSpPr/>
          <p:nvPr/>
        </p:nvSpPr>
        <p:spPr>
          <a:xfrm>
            <a:off x="3364920" y="1755720"/>
            <a:ext cx="2696760" cy="6850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3800" b="1" u="none" strike="noStrike">
                <a:solidFill>
                  <a:srgbClr val="C2762A"/>
                </a:solidFill>
                <a:effectLst/>
                <a:uFillTx/>
                <a:latin typeface="Cambria"/>
                <a:ea typeface="Cambria"/>
              </a:rPr>
              <a:t>5.1 px</a:t>
            </a:r>
            <a:endParaRPr lang="de-DE" sz="3800" b="0" u="none" strike="noStrike">
              <a:solidFill>
                <a:srgbClr val="FFFFFF"/>
              </a:solidFill>
              <a:effectLst/>
              <a:uFillTx/>
              <a:latin typeface="Arial"/>
            </a:endParaRPr>
          </a:p>
        </p:txBody>
      </p:sp>
      <p:sp>
        <p:nvSpPr>
          <p:cNvPr id="88" name="Text 6"/>
          <p:cNvSpPr/>
          <p:nvPr/>
        </p:nvSpPr>
        <p:spPr>
          <a:xfrm>
            <a:off x="3502080" y="2487240"/>
            <a:ext cx="2422440" cy="6393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98000"/>
              </a:lnSpc>
              <a:tabLst>
                <a:tab pos="0" algn="l"/>
              </a:tabLst>
            </a:pPr>
            <a:r>
              <a:rPr lang="en-US" sz="1250" b="0" u="none" strike="noStrike">
                <a:solidFill>
                  <a:srgbClr val="D8E4CC"/>
                </a:solidFill>
                <a:effectLst/>
                <a:uFillTx/>
                <a:latin typeface="Calibri"/>
                <a:ea typeface="Calibri"/>
              </a:rPr>
              <a:t>georeferencing</a:t>
            </a:r>
            <a:endParaRPr lang="de-DE" sz="1250" b="0" u="none" strike="noStrike">
              <a:solidFill>
                <a:srgbClr val="FFFFFF"/>
              </a:solidFill>
              <a:effectLst/>
              <a:uFillTx/>
              <a:latin typeface="Arial"/>
            </a:endParaRPr>
          </a:p>
          <a:p>
            <a:pPr algn="ctr" defTabSz="914400">
              <a:lnSpc>
                <a:spcPct val="98000"/>
              </a:lnSpc>
              <a:tabLst>
                <a:tab pos="0" algn="l"/>
              </a:tabLst>
            </a:pPr>
            <a:r>
              <a:rPr lang="en-US" sz="1250" b="0" u="none" strike="noStrike">
                <a:solidFill>
                  <a:srgbClr val="D8E4CC"/>
                </a:solidFill>
                <a:effectLst/>
                <a:uFillTx/>
                <a:latin typeface="Calibri"/>
                <a:ea typeface="Calibri"/>
              </a:rPr>
              <a:t>mean error</a:t>
            </a:r>
            <a:endParaRPr lang="de-DE" sz="1250" b="0" u="none" strike="noStrike">
              <a:solidFill>
                <a:srgbClr val="FFFFFF"/>
              </a:solidFill>
              <a:effectLst/>
              <a:uFillTx/>
              <a:latin typeface="Arial"/>
            </a:endParaRPr>
          </a:p>
        </p:txBody>
      </p:sp>
      <p:sp>
        <p:nvSpPr>
          <p:cNvPr id="89" name="Shape 7"/>
          <p:cNvSpPr/>
          <p:nvPr/>
        </p:nvSpPr>
        <p:spPr>
          <a:xfrm>
            <a:off x="6181200" y="1554480"/>
            <a:ext cx="2696760" cy="1690920"/>
          </a:xfrm>
          <a:prstGeom prst="roundRect">
            <a:avLst>
              <a:gd name="adj" fmla="val 5405"/>
            </a:avLst>
          </a:prstGeom>
          <a:solidFill>
            <a:srgbClr val="2F4A28"/>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de-DE" sz="1800" b="0" u="none" strike="noStrike">
              <a:solidFill>
                <a:schemeClr val="dk1"/>
              </a:solidFill>
              <a:effectLst/>
              <a:uFillTx/>
              <a:latin typeface="Calibri"/>
            </a:endParaRPr>
          </a:p>
        </p:txBody>
      </p:sp>
      <p:sp>
        <p:nvSpPr>
          <p:cNvPr id="90" name="Text 8"/>
          <p:cNvSpPr/>
          <p:nvPr/>
        </p:nvSpPr>
        <p:spPr>
          <a:xfrm>
            <a:off x="6181200" y="1755720"/>
            <a:ext cx="2696760" cy="6850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3800" b="1" u="none" strike="noStrike">
                <a:solidFill>
                  <a:srgbClr val="C2762A"/>
                </a:solidFill>
                <a:effectLst/>
                <a:uFillTx/>
                <a:latin typeface="Cambria"/>
                <a:ea typeface="Cambria"/>
              </a:rPr>
              <a:t>7</a:t>
            </a:r>
            <a:endParaRPr lang="de-DE" sz="3800" b="0" u="none" strike="noStrike">
              <a:solidFill>
                <a:srgbClr val="FFFFFF"/>
              </a:solidFill>
              <a:effectLst/>
              <a:uFillTx/>
              <a:latin typeface="Arial"/>
            </a:endParaRPr>
          </a:p>
        </p:txBody>
      </p:sp>
      <p:sp>
        <p:nvSpPr>
          <p:cNvPr id="91" name="Text 9"/>
          <p:cNvSpPr/>
          <p:nvPr/>
        </p:nvSpPr>
        <p:spPr>
          <a:xfrm>
            <a:off x="6318360" y="2487240"/>
            <a:ext cx="2422440" cy="6393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98000"/>
              </a:lnSpc>
              <a:tabLst>
                <a:tab pos="0" algn="l"/>
              </a:tabLst>
            </a:pPr>
            <a:r>
              <a:rPr lang="en-US" sz="1250" b="0" u="none" strike="noStrike">
                <a:solidFill>
                  <a:srgbClr val="D8E4CC"/>
                </a:solidFill>
                <a:effectLst/>
                <a:uFillTx/>
                <a:latin typeface="Calibri"/>
                <a:ea typeface="Calibri"/>
              </a:rPr>
              <a:t>oxbow polygons</a:t>
            </a:r>
            <a:endParaRPr lang="de-DE" sz="1250" b="0" u="none" strike="noStrike">
              <a:solidFill>
                <a:srgbClr val="FFFFFF"/>
              </a:solidFill>
              <a:effectLst/>
              <a:uFillTx/>
              <a:latin typeface="Arial"/>
            </a:endParaRPr>
          </a:p>
          <a:p>
            <a:pPr algn="ctr" defTabSz="914400">
              <a:lnSpc>
                <a:spcPct val="98000"/>
              </a:lnSpc>
              <a:tabLst>
                <a:tab pos="0" algn="l"/>
              </a:tabLst>
            </a:pPr>
            <a:r>
              <a:rPr lang="en-US" sz="1250" b="0" u="none" strike="noStrike">
                <a:solidFill>
                  <a:srgbClr val="D8E4CC"/>
                </a:solidFill>
                <a:effectLst/>
                <a:uFillTx/>
                <a:latin typeface="Calibri"/>
                <a:ea typeface="Calibri"/>
              </a:rPr>
              <a:t>digitized</a:t>
            </a:r>
            <a:endParaRPr lang="de-DE" sz="1250" b="0" u="none" strike="noStrike">
              <a:solidFill>
                <a:srgbClr val="FFFFFF"/>
              </a:solidFill>
              <a:effectLst/>
              <a:uFillTx/>
              <a:latin typeface="Arial"/>
            </a:endParaRPr>
          </a:p>
        </p:txBody>
      </p:sp>
      <p:sp>
        <p:nvSpPr>
          <p:cNvPr id="92" name="Shape 10"/>
          <p:cNvSpPr/>
          <p:nvPr/>
        </p:nvSpPr>
        <p:spPr>
          <a:xfrm>
            <a:off x="8997840" y="1554480"/>
            <a:ext cx="2696760" cy="1690920"/>
          </a:xfrm>
          <a:prstGeom prst="roundRect">
            <a:avLst>
              <a:gd name="adj" fmla="val 5405"/>
            </a:avLst>
          </a:prstGeom>
          <a:solidFill>
            <a:srgbClr val="2F4A28"/>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de-DE" sz="1800" b="0" u="none" strike="noStrike">
              <a:solidFill>
                <a:schemeClr val="dk1"/>
              </a:solidFill>
              <a:effectLst/>
              <a:uFillTx/>
              <a:latin typeface="Calibri"/>
            </a:endParaRPr>
          </a:p>
        </p:txBody>
      </p:sp>
      <p:sp>
        <p:nvSpPr>
          <p:cNvPr id="93" name="Text 11"/>
          <p:cNvSpPr/>
          <p:nvPr/>
        </p:nvSpPr>
        <p:spPr>
          <a:xfrm>
            <a:off x="8997840" y="1755720"/>
            <a:ext cx="2696760" cy="6850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3800" b="1" u="none" strike="noStrike">
                <a:solidFill>
                  <a:srgbClr val="C2762A"/>
                </a:solidFill>
                <a:effectLst/>
                <a:uFillTx/>
                <a:latin typeface="Cambria"/>
                <a:ea typeface="Cambria"/>
              </a:rPr>
              <a:t>Map 1</a:t>
            </a:r>
            <a:endParaRPr lang="de-DE" sz="3800" b="0" u="none" strike="noStrike">
              <a:solidFill>
                <a:srgbClr val="FFFFFF"/>
              </a:solidFill>
              <a:effectLst/>
              <a:uFillTx/>
              <a:latin typeface="Arial"/>
            </a:endParaRPr>
          </a:p>
        </p:txBody>
      </p:sp>
      <p:sp>
        <p:nvSpPr>
          <p:cNvPr id="94" name="Text 12"/>
          <p:cNvSpPr/>
          <p:nvPr/>
        </p:nvSpPr>
        <p:spPr>
          <a:xfrm>
            <a:off x="9135000" y="2487240"/>
            <a:ext cx="2422440" cy="6393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98000"/>
              </a:lnSpc>
              <a:tabLst>
                <a:tab pos="0" algn="l"/>
              </a:tabLst>
            </a:pPr>
            <a:r>
              <a:rPr lang="en-US" sz="1250" b="0" u="none" strike="noStrike">
                <a:solidFill>
                  <a:srgbClr val="D8E4CC"/>
                </a:solidFill>
                <a:effectLst/>
                <a:uFillTx/>
                <a:latin typeface="Calibri"/>
                <a:ea typeface="Calibri"/>
              </a:rPr>
              <a:t>DLM map</a:t>
            </a:r>
            <a:endParaRPr lang="de-DE" sz="1250" b="0" u="none" strike="noStrike">
              <a:solidFill>
                <a:srgbClr val="FFFFFF"/>
              </a:solidFill>
              <a:effectLst/>
              <a:uFillTx/>
              <a:latin typeface="Arial"/>
            </a:endParaRPr>
          </a:p>
          <a:p>
            <a:pPr algn="ctr" defTabSz="914400">
              <a:lnSpc>
                <a:spcPct val="98000"/>
              </a:lnSpc>
              <a:tabLst>
                <a:tab pos="0" algn="l"/>
              </a:tabLst>
            </a:pPr>
            <a:r>
              <a:rPr lang="en-US" sz="1250" b="0" u="none" strike="noStrike">
                <a:solidFill>
                  <a:srgbClr val="D8E4CC"/>
                </a:solidFill>
                <a:effectLst/>
                <a:uFillTx/>
                <a:latin typeface="Calibri"/>
                <a:ea typeface="Calibri"/>
              </a:rPr>
              <a:t>produced</a:t>
            </a:r>
            <a:endParaRPr lang="de-DE" sz="1250" b="0" u="none" strike="noStrike">
              <a:solidFill>
                <a:srgbClr val="FFFFFF"/>
              </a:solidFill>
              <a:effectLst/>
              <a:uFillTx/>
              <a:latin typeface="Arial"/>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213720"/>
        </a:solidFill>
        <a:effectLst/>
      </p:bgPr>
    </p:bg>
    <p:spTree>
      <p:nvGrpSpPr>
        <p:cNvPr id="1" name=""/>
        <p:cNvGrpSpPr/>
        <p:nvPr/>
      </p:nvGrpSpPr>
      <p:grpSpPr>
        <a:xfrm>
          <a:off x="0" y="0"/>
          <a:ext cx="0" cy="0"/>
          <a:chOff x="0" y="0"/>
          <a:chExt cx="0" cy="0"/>
        </a:xfrm>
      </p:grpSpPr>
      <p:sp>
        <p:nvSpPr>
          <p:cNvPr id="107" name="Text 52"/>
          <p:cNvSpPr/>
          <p:nvPr/>
        </p:nvSpPr>
        <p:spPr>
          <a:xfrm>
            <a:off x="502920" y="457200"/>
            <a:ext cx="7771680" cy="3650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300" b="0" u="none" strike="noStrike">
                <a:solidFill>
                  <a:srgbClr val="8FBF8A"/>
                </a:solidFill>
                <a:effectLst/>
                <a:uFillTx/>
                <a:latin typeface="Calibri"/>
                <a:ea typeface="Calibri"/>
              </a:rPr>
              <a:t>Methods for the Analysis and Modelling of Spatial Environmental Data</a:t>
            </a:r>
            <a:endParaRPr lang="de-DE" sz="1300" b="0" u="none" strike="noStrike">
              <a:solidFill>
                <a:srgbClr val="FFFFFF"/>
              </a:solidFill>
              <a:effectLst/>
              <a:uFillTx/>
              <a:latin typeface="Arial"/>
            </a:endParaRPr>
          </a:p>
        </p:txBody>
      </p:sp>
      <p:sp>
        <p:nvSpPr>
          <p:cNvPr id="108" name="Text 53"/>
          <p:cNvSpPr/>
          <p:nvPr/>
        </p:nvSpPr>
        <p:spPr>
          <a:xfrm>
            <a:off x="457200" y="1965960"/>
            <a:ext cx="7863120" cy="1736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5000"/>
              </a:lnSpc>
              <a:tabLst>
                <a:tab pos="0" algn="l"/>
              </a:tabLst>
            </a:pPr>
            <a:r>
              <a:rPr lang="en-US" sz="4400" b="1" u="none" strike="noStrike">
                <a:solidFill>
                  <a:srgbClr val="FFFFFF"/>
                </a:solidFill>
                <a:effectLst/>
                <a:uFillTx/>
                <a:latin typeface="Cambria"/>
                <a:ea typeface="Cambria"/>
              </a:rPr>
              <a:t>Buffer Analysis and</a:t>
            </a:r>
            <a:endParaRPr lang="de-DE" sz="4400" b="0" u="none" strike="noStrike">
              <a:solidFill>
                <a:srgbClr val="FFFFFF"/>
              </a:solidFill>
              <a:effectLst/>
              <a:uFillTx/>
              <a:latin typeface="Arial"/>
            </a:endParaRPr>
          </a:p>
          <a:p>
            <a:pPr defTabSz="914400">
              <a:lnSpc>
                <a:spcPct val="105000"/>
              </a:lnSpc>
              <a:tabLst>
                <a:tab pos="0" algn="l"/>
              </a:tabLst>
            </a:pPr>
            <a:r>
              <a:rPr lang="en-US" sz="4400" b="1" u="none" strike="noStrike">
                <a:solidFill>
                  <a:srgbClr val="FFFFFF"/>
                </a:solidFill>
                <a:effectLst/>
                <a:uFillTx/>
                <a:latin typeface="Cambria"/>
                <a:ea typeface="Cambria"/>
              </a:rPr>
              <a:t>Exclusion Areas</a:t>
            </a:r>
            <a:endParaRPr lang="de-DE" sz="4400" b="0" u="none" strike="noStrike">
              <a:solidFill>
                <a:srgbClr val="FFFFFF"/>
              </a:solidFill>
              <a:effectLst/>
              <a:uFillTx/>
              <a:latin typeface="Arial"/>
            </a:endParaRPr>
          </a:p>
        </p:txBody>
      </p:sp>
      <p:sp>
        <p:nvSpPr>
          <p:cNvPr id="109" name="Text 54"/>
          <p:cNvSpPr/>
          <p:nvPr/>
        </p:nvSpPr>
        <p:spPr>
          <a:xfrm>
            <a:off x="502920" y="3794760"/>
            <a:ext cx="5485680" cy="3650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800" b="0" u="none" strike="noStrike">
                <a:solidFill>
                  <a:srgbClr val="8FBF8A"/>
                </a:solidFill>
                <a:effectLst/>
                <a:uFillTx/>
                <a:latin typeface="Calibri"/>
                <a:ea typeface="Calibri"/>
              </a:rPr>
              <a:t>West of Hanover</a:t>
            </a:r>
            <a:endParaRPr lang="de-DE" sz="1800" b="0" u="none" strike="noStrike">
              <a:solidFill>
                <a:srgbClr val="FFFFFF"/>
              </a:solidFill>
              <a:effectLst/>
              <a:uFillTx/>
              <a:latin typeface="Arial"/>
            </a:endParaRPr>
          </a:p>
        </p:txBody>
      </p:sp>
      <p:sp>
        <p:nvSpPr>
          <p:cNvPr id="110" name="Text 55"/>
          <p:cNvSpPr/>
          <p:nvPr/>
        </p:nvSpPr>
        <p:spPr>
          <a:xfrm>
            <a:off x="502920" y="4224600"/>
            <a:ext cx="7314480" cy="319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300" b="0" u="none" strike="noStrike">
                <a:solidFill>
                  <a:srgbClr val="C9D3B8"/>
                </a:solidFill>
                <a:effectLst/>
                <a:uFillTx/>
                <a:latin typeface="Calibri"/>
                <a:ea typeface="Calibri"/>
              </a:rPr>
              <a:t>Safety Buffers  ·  Settlement Classification  ·  Total Exclusion Area</a:t>
            </a:r>
            <a:endParaRPr lang="de-DE" sz="1300" b="0" u="none" strike="noStrike">
              <a:solidFill>
                <a:srgbClr val="FFFFFF"/>
              </a:solidFill>
              <a:effectLst/>
              <a:uFillTx/>
              <a:latin typeface="Arial"/>
            </a:endParaRPr>
          </a:p>
        </p:txBody>
      </p:sp>
      <p:sp>
        <p:nvSpPr>
          <p:cNvPr id="111" name="Text 56"/>
          <p:cNvSpPr/>
          <p:nvPr/>
        </p:nvSpPr>
        <p:spPr>
          <a:xfrm>
            <a:off x="502920" y="5989320"/>
            <a:ext cx="4571280" cy="3650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500" b="1" u="none" strike="noStrike">
                <a:solidFill>
                  <a:srgbClr val="C1652E"/>
                </a:solidFill>
                <a:effectLst/>
                <a:uFillTx/>
                <a:latin typeface="Calibri"/>
                <a:ea typeface="Calibri"/>
              </a:rPr>
              <a:t>Khaled Alhamoud</a:t>
            </a:r>
            <a:endParaRPr lang="de-DE" sz="1500" b="0" u="none" strike="noStrike">
              <a:solidFill>
                <a:srgbClr val="FFFFFF"/>
              </a:solidFill>
              <a:effectLst/>
              <a:uFillTx/>
              <a:latin typeface="Arial"/>
            </a:endParaRPr>
          </a:p>
        </p:txBody>
      </p:sp>
      <p:sp>
        <p:nvSpPr>
          <p:cNvPr id="112" name="Shape 16"/>
          <p:cNvSpPr/>
          <p:nvPr/>
        </p:nvSpPr>
        <p:spPr>
          <a:xfrm>
            <a:off x="6308640" y="1938600"/>
            <a:ext cx="5422320" cy="2934360"/>
          </a:xfrm>
          <a:prstGeom prst="roundRect">
            <a:avLst>
              <a:gd name="adj" fmla="val 1799"/>
            </a:avLst>
          </a:prstGeom>
          <a:solidFill>
            <a:srgbClr val="FFFFFF"/>
          </a:solidFill>
          <a:ln w="12600">
            <a:solidFill>
              <a:srgbClr val="DADFD2"/>
            </a:solidFill>
            <a:round/>
          </a:ln>
          <a:effectLst>
            <a:outerShdw blurRad="101520" dist="38160" dir="5400000" rotWithShape="0">
              <a:srgbClr val="000000">
                <a:alpha val="18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de-DE" sz="1800" b="0" u="none" strike="noStrike">
              <a:solidFill>
                <a:srgbClr val="000000"/>
              </a:solidFill>
              <a:effectLst/>
              <a:uFillTx/>
              <a:latin typeface="Arial"/>
            </a:endParaRPr>
          </a:p>
        </p:txBody>
      </p:sp>
      <p:sp>
        <p:nvSpPr>
          <p:cNvPr id="113" name="Text 57"/>
          <p:cNvSpPr/>
          <p:nvPr/>
        </p:nvSpPr>
        <p:spPr>
          <a:xfrm>
            <a:off x="7818120" y="4498920"/>
            <a:ext cx="3839760" cy="319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endParaRPr lang="de-DE" sz="1800" b="0" u="none" strike="noStrike">
              <a:solidFill>
                <a:srgbClr val="FFFFFF"/>
              </a:solidFill>
              <a:effectLst/>
              <a:uFillTx/>
              <a:latin typeface="Arial"/>
            </a:endParaRPr>
          </a:p>
        </p:txBody>
      </p:sp>
      <p:pic>
        <p:nvPicPr>
          <p:cNvPr id="114" name="Image 8" descr="buffers_map.png"/>
          <p:cNvPicPr/>
          <p:nvPr/>
        </p:nvPicPr>
        <p:blipFill>
          <a:blip r:embed="rId3"/>
          <a:stretch/>
        </p:blipFill>
        <p:spPr>
          <a:xfrm>
            <a:off x="6397200" y="2011320"/>
            <a:ext cx="5333760" cy="2806920"/>
          </a:xfrm>
          <a:prstGeom prst="rect">
            <a:avLst/>
          </a:prstGeom>
          <a:noFill/>
          <a:ln w="0">
            <a:noFill/>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15" name="Text 28"/>
          <p:cNvSpPr/>
          <p:nvPr/>
        </p:nvSpPr>
        <p:spPr>
          <a:xfrm>
            <a:off x="548640" y="457200"/>
            <a:ext cx="9143280" cy="5479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3000" b="1" u="none" strike="noStrike" dirty="0">
                <a:solidFill>
                  <a:srgbClr val="2C3F2B"/>
                </a:solidFill>
                <a:effectLst/>
                <a:uFillTx/>
                <a:latin typeface="Cambria"/>
                <a:ea typeface="Cambria"/>
              </a:rPr>
              <a:t>The task, and my part in it</a:t>
            </a:r>
            <a:endParaRPr lang="de-DE" sz="3000" b="0" u="none" strike="noStrike" dirty="0">
              <a:solidFill>
                <a:srgbClr val="000000"/>
              </a:solidFill>
              <a:effectLst/>
              <a:uFillTx/>
              <a:latin typeface="Arial"/>
            </a:endParaRPr>
          </a:p>
        </p:txBody>
      </p:sp>
      <p:sp>
        <p:nvSpPr>
          <p:cNvPr id="116" name="Text 30"/>
          <p:cNvSpPr/>
          <p:nvPr/>
        </p:nvSpPr>
        <p:spPr>
          <a:xfrm>
            <a:off x="548640" y="1051560"/>
            <a:ext cx="10423440" cy="6393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20000"/>
              </a:lnSpc>
              <a:tabLst>
                <a:tab pos="0" algn="l"/>
              </a:tabLst>
            </a:pPr>
            <a:r>
              <a:rPr lang="en-US" sz="1500" b="0" u="none" strike="noStrike">
                <a:solidFill>
                  <a:srgbClr val="3A3A3A"/>
                </a:solidFill>
                <a:effectLst/>
                <a:uFillTx/>
                <a:latin typeface="Calibri"/>
                <a:ea typeface="Calibri"/>
              </a:rPr>
              <a:t>Person 1 handed over the prepared DLM: seven layers, the georeferenced aerial photo, and the digitized oxbow arms. My stage turns every distance rule in the assignment into an actual exclusion layer — the mask Person 3 will subtract farmland from.</a:t>
            </a:r>
            <a:endParaRPr lang="de-DE" sz="1500" b="0" u="none" strike="noStrike">
              <a:solidFill>
                <a:srgbClr val="000000"/>
              </a:solidFill>
              <a:effectLst/>
              <a:uFillTx/>
              <a:latin typeface="Arial"/>
            </a:endParaRPr>
          </a:p>
        </p:txBody>
      </p:sp>
      <p:sp>
        <p:nvSpPr>
          <p:cNvPr id="117" name="Shape 48"/>
          <p:cNvSpPr/>
          <p:nvPr/>
        </p:nvSpPr>
        <p:spPr>
          <a:xfrm>
            <a:off x="548640" y="2057400"/>
            <a:ext cx="1992600" cy="1508040"/>
          </a:xfrm>
          <a:prstGeom prst="roundRect">
            <a:avLst>
              <a:gd name="adj" fmla="val 3636"/>
            </a:avLst>
          </a:prstGeom>
          <a:solidFill>
            <a:srgbClr val="F2F5EC"/>
          </a:solidFill>
          <a:ln w="12700">
            <a:solidFill>
              <a:srgbClr val="C9D3B8"/>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de-DE" sz="1800" b="0" u="none" strike="noStrike">
              <a:solidFill>
                <a:srgbClr val="000000"/>
              </a:solidFill>
              <a:effectLst/>
              <a:uFillTx/>
              <a:latin typeface="Arial"/>
            </a:endParaRPr>
          </a:p>
        </p:txBody>
      </p:sp>
      <p:sp>
        <p:nvSpPr>
          <p:cNvPr id="118" name="Shape 49"/>
          <p:cNvSpPr/>
          <p:nvPr/>
        </p:nvSpPr>
        <p:spPr>
          <a:xfrm>
            <a:off x="713160" y="2240280"/>
            <a:ext cx="383400" cy="383400"/>
          </a:xfrm>
          <a:prstGeom prst="ellipse">
            <a:avLst/>
          </a:prstGeom>
          <a:solidFill>
            <a:srgbClr val="C1652E"/>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de-DE" sz="1800" b="0" u="none" strike="noStrike">
              <a:solidFill>
                <a:srgbClr val="FFFFFF"/>
              </a:solidFill>
              <a:effectLst/>
              <a:uFillTx/>
              <a:latin typeface="Arial"/>
            </a:endParaRPr>
          </a:p>
        </p:txBody>
      </p:sp>
      <p:sp>
        <p:nvSpPr>
          <p:cNvPr id="119" name="Text 31"/>
          <p:cNvSpPr/>
          <p:nvPr/>
        </p:nvSpPr>
        <p:spPr>
          <a:xfrm>
            <a:off x="713160" y="2240280"/>
            <a:ext cx="383400" cy="3834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400" b="1" u="none" strike="noStrike">
                <a:solidFill>
                  <a:srgbClr val="FFFFFF"/>
                </a:solidFill>
                <a:effectLst/>
                <a:uFillTx/>
                <a:latin typeface="Calibri"/>
                <a:ea typeface="Calibri"/>
              </a:rPr>
              <a:t>1</a:t>
            </a:r>
            <a:endParaRPr lang="de-DE" sz="1400" b="0" u="none" strike="noStrike">
              <a:solidFill>
                <a:srgbClr val="000000"/>
              </a:solidFill>
              <a:effectLst/>
              <a:uFillTx/>
              <a:latin typeface="Arial"/>
            </a:endParaRPr>
          </a:p>
        </p:txBody>
      </p:sp>
      <p:sp>
        <p:nvSpPr>
          <p:cNvPr id="120" name="Text 33"/>
          <p:cNvSpPr/>
          <p:nvPr/>
        </p:nvSpPr>
        <p:spPr>
          <a:xfrm>
            <a:off x="713160" y="2715840"/>
            <a:ext cx="1663560" cy="5022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250" b="1" u="none" strike="noStrike">
                <a:solidFill>
                  <a:srgbClr val="2C3F2B"/>
                </a:solidFill>
                <a:effectLst/>
                <a:uFillTx/>
                <a:latin typeface="Calibri"/>
                <a:ea typeface="Calibri"/>
              </a:rPr>
              <a:t>Check the data</a:t>
            </a:r>
            <a:endParaRPr lang="de-DE" sz="1250" b="0" u="none" strike="noStrike">
              <a:solidFill>
                <a:srgbClr val="000000"/>
              </a:solidFill>
              <a:effectLst/>
              <a:uFillTx/>
              <a:latin typeface="Arial"/>
            </a:endParaRPr>
          </a:p>
        </p:txBody>
      </p:sp>
      <p:sp>
        <p:nvSpPr>
          <p:cNvPr id="121" name="Text 34"/>
          <p:cNvSpPr/>
          <p:nvPr/>
        </p:nvSpPr>
        <p:spPr>
          <a:xfrm>
            <a:off x="713160" y="3136320"/>
            <a:ext cx="1663560" cy="3834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900" b="0" u="none" strike="noStrike">
                <a:solidFill>
                  <a:srgbClr val="5C6B57"/>
                </a:solidFill>
                <a:effectLst/>
                <a:uFillTx/>
                <a:latin typeface="Calibri"/>
                <a:ea typeface="Calibri"/>
              </a:rPr>
              <a:t>one field, typ — and two compound values</a:t>
            </a:r>
            <a:endParaRPr lang="de-DE" sz="900" b="0" u="none" strike="noStrike">
              <a:solidFill>
                <a:srgbClr val="000000"/>
              </a:solidFill>
              <a:effectLst/>
              <a:uFillTx/>
              <a:latin typeface="Arial"/>
            </a:endParaRPr>
          </a:p>
        </p:txBody>
      </p:sp>
      <p:sp>
        <p:nvSpPr>
          <p:cNvPr id="122" name="Shape 50"/>
          <p:cNvSpPr/>
          <p:nvPr/>
        </p:nvSpPr>
        <p:spPr>
          <a:xfrm>
            <a:off x="2683800" y="2057400"/>
            <a:ext cx="1992600" cy="1508040"/>
          </a:xfrm>
          <a:prstGeom prst="roundRect">
            <a:avLst>
              <a:gd name="adj" fmla="val 3636"/>
            </a:avLst>
          </a:prstGeom>
          <a:solidFill>
            <a:srgbClr val="F2F5EC"/>
          </a:solidFill>
          <a:ln w="12700">
            <a:solidFill>
              <a:srgbClr val="C9D3B8"/>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de-DE" sz="1800" b="0" u="none" strike="noStrike">
              <a:solidFill>
                <a:srgbClr val="000000"/>
              </a:solidFill>
              <a:effectLst/>
              <a:uFillTx/>
              <a:latin typeface="Arial"/>
            </a:endParaRPr>
          </a:p>
        </p:txBody>
      </p:sp>
      <p:sp>
        <p:nvSpPr>
          <p:cNvPr id="123" name="Shape 51"/>
          <p:cNvSpPr/>
          <p:nvPr/>
        </p:nvSpPr>
        <p:spPr>
          <a:xfrm>
            <a:off x="2848320" y="2240280"/>
            <a:ext cx="383400" cy="383400"/>
          </a:xfrm>
          <a:prstGeom prst="ellipse">
            <a:avLst/>
          </a:prstGeom>
          <a:solidFill>
            <a:srgbClr val="C1652E"/>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de-DE" sz="1800" b="0" u="none" strike="noStrike">
              <a:solidFill>
                <a:srgbClr val="FFFFFF"/>
              </a:solidFill>
              <a:effectLst/>
              <a:uFillTx/>
              <a:latin typeface="Arial"/>
            </a:endParaRPr>
          </a:p>
        </p:txBody>
      </p:sp>
      <p:sp>
        <p:nvSpPr>
          <p:cNvPr id="124" name="Text 43"/>
          <p:cNvSpPr/>
          <p:nvPr/>
        </p:nvSpPr>
        <p:spPr>
          <a:xfrm>
            <a:off x="2848320" y="2240280"/>
            <a:ext cx="383400" cy="3834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400" b="1" u="none" strike="noStrike">
                <a:solidFill>
                  <a:srgbClr val="FFFFFF"/>
                </a:solidFill>
                <a:effectLst/>
                <a:uFillTx/>
                <a:latin typeface="Calibri"/>
                <a:ea typeface="Calibri"/>
              </a:rPr>
              <a:t>2</a:t>
            </a:r>
            <a:endParaRPr lang="de-DE" sz="1400" b="0" u="none" strike="noStrike">
              <a:solidFill>
                <a:srgbClr val="000000"/>
              </a:solidFill>
              <a:effectLst/>
              <a:uFillTx/>
              <a:latin typeface="Arial"/>
            </a:endParaRPr>
          </a:p>
        </p:txBody>
      </p:sp>
      <p:sp>
        <p:nvSpPr>
          <p:cNvPr id="125" name="Text 44"/>
          <p:cNvSpPr/>
          <p:nvPr/>
        </p:nvSpPr>
        <p:spPr>
          <a:xfrm>
            <a:off x="2848320" y="2715840"/>
            <a:ext cx="1663560" cy="5022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250" b="1" u="none" strike="noStrike">
                <a:solidFill>
                  <a:srgbClr val="2C3F2B"/>
                </a:solidFill>
                <a:effectLst/>
                <a:uFillTx/>
                <a:latin typeface="Calibri"/>
                <a:ea typeface="Calibri"/>
              </a:rPr>
              <a:t>Build 11 buffers</a:t>
            </a:r>
            <a:endParaRPr lang="de-DE" sz="1250" b="0" u="none" strike="noStrike">
              <a:solidFill>
                <a:srgbClr val="000000"/>
              </a:solidFill>
              <a:effectLst/>
              <a:uFillTx/>
              <a:latin typeface="Arial"/>
            </a:endParaRPr>
          </a:p>
        </p:txBody>
      </p:sp>
      <p:sp>
        <p:nvSpPr>
          <p:cNvPr id="126" name="Text 45"/>
          <p:cNvSpPr/>
          <p:nvPr/>
        </p:nvSpPr>
        <p:spPr>
          <a:xfrm>
            <a:off x="2848320" y="3136320"/>
            <a:ext cx="1663560" cy="3834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900" b="0" u="none" strike="noStrike">
                <a:solidFill>
                  <a:srgbClr val="5C6B57"/>
                </a:solidFill>
                <a:effectLst/>
                <a:uFillTx/>
                <a:latin typeface="Calibri"/>
                <a:ea typeface="Calibri"/>
              </a:rPr>
              <a:t>11 distance rules → 11 layers</a:t>
            </a:r>
            <a:endParaRPr lang="de-DE" sz="900" b="0" u="none" strike="noStrike">
              <a:solidFill>
                <a:srgbClr val="000000"/>
              </a:solidFill>
              <a:effectLst/>
              <a:uFillTx/>
              <a:latin typeface="Arial"/>
            </a:endParaRPr>
          </a:p>
        </p:txBody>
      </p:sp>
      <p:sp>
        <p:nvSpPr>
          <p:cNvPr id="127" name="Shape 52"/>
          <p:cNvSpPr/>
          <p:nvPr/>
        </p:nvSpPr>
        <p:spPr>
          <a:xfrm>
            <a:off x="4818960" y="2057400"/>
            <a:ext cx="1992600" cy="1508040"/>
          </a:xfrm>
          <a:prstGeom prst="roundRect">
            <a:avLst>
              <a:gd name="adj" fmla="val 3636"/>
            </a:avLst>
          </a:prstGeom>
          <a:solidFill>
            <a:srgbClr val="F2F5EC"/>
          </a:solidFill>
          <a:ln w="12700">
            <a:solidFill>
              <a:srgbClr val="C9D3B8"/>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de-DE" sz="1800" b="0" u="none" strike="noStrike">
              <a:solidFill>
                <a:srgbClr val="000000"/>
              </a:solidFill>
              <a:effectLst/>
              <a:uFillTx/>
              <a:latin typeface="Arial"/>
            </a:endParaRPr>
          </a:p>
        </p:txBody>
      </p:sp>
      <p:sp>
        <p:nvSpPr>
          <p:cNvPr id="128" name="Shape 53"/>
          <p:cNvSpPr/>
          <p:nvPr/>
        </p:nvSpPr>
        <p:spPr>
          <a:xfrm>
            <a:off x="4983480" y="2240280"/>
            <a:ext cx="383400" cy="383400"/>
          </a:xfrm>
          <a:prstGeom prst="ellipse">
            <a:avLst/>
          </a:prstGeom>
          <a:solidFill>
            <a:srgbClr val="C1652E"/>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de-DE" sz="1800" b="0" u="none" strike="noStrike">
              <a:solidFill>
                <a:srgbClr val="FFFFFF"/>
              </a:solidFill>
              <a:effectLst/>
              <a:uFillTx/>
              <a:latin typeface="Arial"/>
            </a:endParaRPr>
          </a:p>
        </p:txBody>
      </p:sp>
      <p:sp>
        <p:nvSpPr>
          <p:cNvPr id="129" name="Text 122"/>
          <p:cNvSpPr/>
          <p:nvPr/>
        </p:nvSpPr>
        <p:spPr>
          <a:xfrm>
            <a:off x="4983480" y="2240280"/>
            <a:ext cx="383400" cy="3834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400" b="1" u="none" strike="noStrike">
                <a:solidFill>
                  <a:srgbClr val="FFFFFF"/>
                </a:solidFill>
                <a:effectLst/>
                <a:uFillTx/>
                <a:latin typeface="Calibri"/>
                <a:ea typeface="Calibri"/>
              </a:rPr>
              <a:t>3</a:t>
            </a:r>
            <a:endParaRPr lang="de-DE" sz="1400" b="0" u="none" strike="noStrike">
              <a:solidFill>
                <a:srgbClr val="000000"/>
              </a:solidFill>
              <a:effectLst/>
              <a:uFillTx/>
              <a:latin typeface="Arial"/>
            </a:endParaRPr>
          </a:p>
        </p:txBody>
      </p:sp>
      <p:sp>
        <p:nvSpPr>
          <p:cNvPr id="130" name="Text 123"/>
          <p:cNvSpPr/>
          <p:nvPr/>
        </p:nvSpPr>
        <p:spPr>
          <a:xfrm>
            <a:off x="4983480" y="2715840"/>
            <a:ext cx="1663560" cy="5022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250" b="1" u="none" strike="noStrike">
                <a:solidFill>
                  <a:srgbClr val="2C3F2B"/>
                </a:solidFill>
                <a:effectLst/>
                <a:uFillTx/>
                <a:latin typeface="Calibri"/>
                <a:ea typeface="Calibri"/>
              </a:rPr>
              <a:t>Split settlements</a:t>
            </a:r>
            <a:endParaRPr lang="de-DE" sz="1250" b="0" u="none" strike="noStrike">
              <a:solidFill>
                <a:srgbClr val="000000"/>
              </a:solidFill>
              <a:effectLst/>
              <a:uFillTx/>
              <a:latin typeface="Arial"/>
            </a:endParaRPr>
          </a:p>
        </p:txBody>
      </p:sp>
      <p:sp>
        <p:nvSpPr>
          <p:cNvPr id="131" name="Text 124"/>
          <p:cNvSpPr/>
          <p:nvPr/>
        </p:nvSpPr>
        <p:spPr>
          <a:xfrm>
            <a:off x="4983480" y="3136320"/>
            <a:ext cx="1663560" cy="3834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900" b="0" u="none" strike="noStrike">
                <a:solidFill>
                  <a:srgbClr val="5C6B57"/>
                </a:solidFill>
                <a:effectLst/>
                <a:uFillTx/>
                <a:latin typeface="Calibri"/>
                <a:ea typeface="Calibri"/>
              </a:rPr>
              <a:t>spatial join solves a missing attribute</a:t>
            </a:r>
            <a:endParaRPr lang="de-DE" sz="900" b="0" u="none" strike="noStrike">
              <a:solidFill>
                <a:srgbClr val="000000"/>
              </a:solidFill>
              <a:effectLst/>
              <a:uFillTx/>
              <a:latin typeface="Arial"/>
            </a:endParaRPr>
          </a:p>
        </p:txBody>
      </p:sp>
      <p:sp>
        <p:nvSpPr>
          <p:cNvPr id="132" name="Shape 54"/>
          <p:cNvSpPr/>
          <p:nvPr/>
        </p:nvSpPr>
        <p:spPr>
          <a:xfrm>
            <a:off x="6954120" y="2057400"/>
            <a:ext cx="1992600" cy="1508040"/>
          </a:xfrm>
          <a:prstGeom prst="roundRect">
            <a:avLst>
              <a:gd name="adj" fmla="val 3636"/>
            </a:avLst>
          </a:prstGeom>
          <a:solidFill>
            <a:srgbClr val="F2F5EC"/>
          </a:solidFill>
          <a:ln w="12700">
            <a:solidFill>
              <a:srgbClr val="C9D3B8"/>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de-DE" sz="1800" b="0" u="none" strike="noStrike">
              <a:solidFill>
                <a:srgbClr val="000000"/>
              </a:solidFill>
              <a:effectLst/>
              <a:uFillTx/>
              <a:latin typeface="Arial"/>
            </a:endParaRPr>
          </a:p>
        </p:txBody>
      </p:sp>
      <p:sp>
        <p:nvSpPr>
          <p:cNvPr id="133" name="Shape 55"/>
          <p:cNvSpPr/>
          <p:nvPr/>
        </p:nvSpPr>
        <p:spPr>
          <a:xfrm>
            <a:off x="7118640" y="2240280"/>
            <a:ext cx="383400" cy="383400"/>
          </a:xfrm>
          <a:prstGeom prst="ellipse">
            <a:avLst/>
          </a:prstGeom>
          <a:solidFill>
            <a:srgbClr val="C1652E"/>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de-DE" sz="1800" b="0" u="none" strike="noStrike">
              <a:solidFill>
                <a:srgbClr val="FFFFFF"/>
              </a:solidFill>
              <a:effectLst/>
              <a:uFillTx/>
              <a:latin typeface="Arial"/>
            </a:endParaRPr>
          </a:p>
        </p:txBody>
      </p:sp>
      <p:sp>
        <p:nvSpPr>
          <p:cNvPr id="134" name="Text 125"/>
          <p:cNvSpPr/>
          <p:nvPr/>
        </p:nvSpPr>
        <p:spPr>
          <a:xfrm>
            <a:off x="7118640" y="2240280"/>
            <a:ext cx="383400" cy="3834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400" b="1" u="none" strike="noStrike">
                <a:solidFill>
                  <a:srgbClr val="FFFFFF"/>
                </a:solidFill>
                <a:effectLst/>
                <a:uFillTx/>
                <a:latin typeface="Calibri"/>
                <a:ea typeface="Calibri"/>
              </a:rPr>
              <a:t>4</a:t>
            </a:r>
            <a:endParaRPr lang="de-DE" sz="1400" b="0" u="none" strike="noStrike">
              <a:solidFill>
                <a:srgbClr val="000000"/>
              </a:solidFill>
              <a:effectLst/>
              <a:uFillTx/>
              <a:latin typeface="Arial"/>
            </a:endParaRPr>
          </a:p>
        </p:txBody>
      </p:sp>
      <p:sp>
        <p:nvSpPr>
          <p:cNvPr id="135" name="Text 126"/>
          <p:cNvSpPr/>
          <p:nvPr/>
        </p:nvSpPr>
        <p:spPr>
          <a:xfrm>
            <a:off x="7118640" y="2715840"/>
            <a:ext cx="1663560" cy="5022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250" b="1" u="none" strike="noStrike">
                <a:solidFill>
                  <a:srgbClr val="2C3F2B"/>
                </a:solidFill>
                <a:effectLst/>
                <a:uFillTx/>
                <a:latin typeface="Calibri"/>
                <a:ea typeface="Calibri"/>
              </a:rPr>
              <a:t>Combine</a:t>
            </a:r>
            <a:endParaRPr lang="de-DE" sz="1250" b="0" u="none" strike="noStrike">
              <a:solidFill>
                <a:srgbClr val="000000"/>
              </a:solidFill>
              <a:effectLst/>
              <a:uFillTx/>
              <a:latin typeface="Arial"/>
            </a:endParaRPr>
          </a:p>
        </p:txBody>
      </p:sp>
      <p:sp>
        <p:nvSpPr>
          <p:cNvPr id="136" name="Text 127"/>
          <p:cNvSpPr/>
          <p:nvPr/>
        </p:nvSpPr>
        <p:spPr>
          <a:xfrm>
            <a:off x="7118640" y="3136320"/>
            <a:ext cx="1663560" cy="3834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900" b="0" u="none" strike="noStrike">
                <a:solidFill>
                  <a:srgbClr val="5C6B57"/>
                </a:solidFill>
                <a:effectLst/>
                <a:uFillTx/>
                <a:latin typeface="Calibri"/>
                <a:ea typeface="Calibri"/>
              </a:rPr>
              <a:t>Merge → Fix → Dissolve → Clip</a:t>
            </a:r>
            <a:endParaRPr lang="de-DE" sz="900" b="0" u="none" strike="noStrike">
              <a:solidFill>
                <a:srgbClr val="000000"/>
              </a:solidFill>
              <a:effectLst/>
              <a:uFillTx/>
              <a:latin typeface="Arial"/>
            </a:endParaRPr>
          </a:p>
        </p:txBody>
      </p:sp>
      <p:sp>
        <p:nvSpPr>
          <p:cNvPr id="137" name="Shape 56"/>
          <p:cNvSpPr/>
          <p:nvPr/>
        </p:nvSpPr>
        <p:spPr>
          <a:xfrm>
            <a:off x="9089280" y="2057400"/>
            <a:ext cx="1992600" cy="1508040"/>
          </a:xfrm>
          <a:prstGeom prst="roundRect">
            <a:avLst>
              <a:gd name="adj" fmla="val 3636"/>
            </a:avLst>
          </a:prstGeom>
          <a:solidFill>
            <a:srgbClr val="F2F5EC"/>
          </a:solidFill>
          <a:ln w="12700">
            <a:solidFill>
              <a:srgbClr val="C9D3B8"/>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de-DE" sz="1800" b="0" u="none" strike="noStrike">
              <a:solidFill>
                <a:srgbClr val="000000"/>
              </a:solidFill>
              <a:effectLst/>
              <a:uFillTx/>
              <a:latin typeface="Arial"/>
            </a:endParaRPr>
          </a:p>
        </p:txBody>
      </p:sp>
      <p:sp>
        <p:nvSpPr>
          <p:cNvPr id="138" name="Shape 57"/>
          <p:cNvSpPr/>
          <p:nvPr/>
        </p:nvSpPr>
        <p:spPr>
          <a:xfrm>
            <a:off x="9253800" y="2240280"/>
            <a:ext cx="383400" cy="383400"/>
          </a:xfrm>
          <a:prstGeom prst="ellipse">
            <a:avLst/>
          </a:prstGeom>
          <a:solidFill>
            <a:srgbClr val="C1652E"/>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de-DE" sz="1800" b="0" u="none" strike="noStrike">
              <a:solidFill>
                <a:srgbClr val="FFFFFF"/>
              </a:solidFill>
              <a:effectLst/>
              <a:uFillTx/>
              <a:latin typeface="Arial"/>
            </a:endParaRPr>
          </a:p>
        </p:txBody>
      </p:sp>
      <p:sp>
        <p:nvSpPr>
          <p:cNvPr id="139" name="Text 128"/>
          <p:cNvSpPr/>
          <p:nvPr/>
        </p:nvSpPr>
        <p:spPr>
          <a:xfrm>
            <a:off x="9253800" y="2240280"/>
            <a:ext cx="383400" cy="3834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400" b="1" u="none" strike="noStrike">
                <a:solidFill>
                  <a:srgbClr val="FFFFFF"/>
                </a:solidFill>
                <a:effectLst/>
                <a:uFillTx/>
                <a:latin typeface="Calibri"/>
                <a:ea typeface="Calibri"/>
              </a:rPr>
              <a:t>5</a:t>
            </a:r>
            <a:endParaRPr lang="de-DE" sz="1400" b="0" u="none" strike="noStrike">
              <a:solidFill>
                <a:srgbClr val="000000"/>
              </a:solidFill>
              <a:effectLst/>
              <a:uFillTx/>
              <a:latin typeface="Arial"/>
            </a:endParaRPr>
          </a:p>
        </p:txBody>
      </p:sp>
      <p:sp>
        <p:nvSpPr>
          <p:cNvPr id="140" name="Text 129"/>
          <p:cNvSpPr/>
          <p:nvPr/>
        </p:nvSpPr>
        <p:spPr>
          <a:xfrm>
            <a:off x="9253800" y="2715840"/>
            <a:ext cx="1663560" cy="5022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250" b="1" u="none" strike="noStrike">
                <a:solidFill>
                  <a:srgbClr val="2C3F2B"/>
                </a:solidFill>
                <a:effectLst/>
                <a:uFillTx/>
                <a:latin typeface="Calibri"/>
                <a:ea typeface="Calibri"/>
              </a:rPr>
              <a:t>Check &amp; hand over</a:t>
            </a:r>
            <a:endParaRPr lang="de-DE" sz="1250" b="0" u="none" strike="noStrike">
              <a:solidFill>
                <a:srgbClr val="000000"/>
              </a:solidFill>
              <a:effectLst/>
              <a:uFillTx/>
              <a:latin typeface="Arial"/>
            </a:endParaRPr>
          </a:p>
        </p:txBody>
      </p:sp>
      <p:sp>
        <p:nvSpPr>
          <p:cNvPr id="141" name="Text 130"/>
          <p:cNvSpPr/>
          <p:nvPr/>
        </p:nvSpPr>
        <p:spPr>
          <a:xfrm>
            <a:off x="9253800" y="3136320"/>
            <a:ext cx="1663560" cy="3834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900" b="0" u="none" strike="noStrike">
                <a:solidFill>
                  <a:srgbClr val="5C6B57"/>
                </a:solidFill>
                <a:effectLst/>
                <a:uFillTx/>
                <a:latin typeface="Calibri"/>
                <a:ea typeface="Calibri"/>
              </a:rPr>
              <a:t>Total_Exclusion_Area → Person 3</a:t>
            </a:r>
            <a:endParaRPr lang="de-DE" sz="900" b="0" u="none" strike="noStrike">
              <a:solidFill>
                <a:srgbClr val="000000"/>
              </a:solidFill>
              <a:effectLst/>
              <a:uFillTx/>
              <a:latin typeface="Arial"/>
            </a:endParaRPr>
          </a:p>
        </p:txBody>
      </p:sp>
      <p:sp>
        <p:nvSpPr>
          <p:cNvPr id="142" name="Shape 58"/>
          <p:cNvSpPr/>
          <p:nvPr/>
        </p:nvSpPr>
        <p:spPr>
          <a:xfrm>
            <a:off x="475560" y="3904560"/>
            <a:ext cx="6454800" cy="2568600"/>
          </a:xfrm>
          <a:prstGeom prst="roundRect">
            <a:avLst>
              <a:gd name="adj" fmla="val 1779"/>
            </a:avLst>
          </a:prstGeom>
          <a:solidFill>
            <a:srgbClr val="FFFFFF"/>
          </a:solidFill>
          <a:ln w="12700">
            <a:solidFill>
              <a:srgbClr val="DADFD2"/>
            </a:solidFill>
            <a:round/>
          </a:ln>
          <a:effectLst>
            <a:outerShdw blurRad="101520" dist="38160" dir="5400000" algn="bl" rotWithShape="0">
              <a:srgbClr val="000000">
                <a:alpha val="18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de-DE" sz="1800" b="0" u="none" strike="noStrike">
              <a:solidFill>
                <a:srgbClr val="000000"/>
              </a:solidFill>
              <a:effectLst/>
              <a:uFillTx/>
              <a:latin typeface="Arial"/>
            </a:endParaRPr>
          </a:p>
        </p:txBody>
      </p:sp>
      <p:pic>
        <p:nvPicPr>
          <p:cNvPr id="143" name="Image 7" descr="buffers_map.png"/>
          <p:cNvPicPr/>
          <p:nvPr/>
        </p:nvPicPr>
        <p:blipFill>
          <a:blip r:embed="rId3"/>
          <a:stretch/>
        </p:blipFill>
        <p:spPr>
          <a:xfrm>
            <a:off x="548640" y="3977640"/>
            <a:ext cx="6308640" cy="2422440"/>
          </a:xfrm>
          <a:prstGeom prst="rect">
            <a:avLst/>
          </a:prstGeom>
          <a:noFill/>
          <a:ln w="0">
            <a:noFill/>
          </a:ln>
        </p:spPr>
      </p:pic>
      <p:sp>
        <p:nvSpPr>
          <p:cNvPr id="144" name="Text 131"/>
          <p:cNvSpPr/>
          <p:nvPr/>
        </p:nvSpPr>
        <p:spPr>
          <a:xfrm>
            <a:off x="548640" y="6455520"/>
            <a:ext cx="6308640" cy="273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050" b="0" i="1" u="none" strike="noStrike">
                <a:solidFill>
                  <a:srgbClr val="6B6B6B"/>
                </a:solidFill>
                <a:effectLst/>
                <a:uFillTx/>
                <a:latin typeface="Calibri"/>
                <a:ea typeface="Calibri"/>
              </a:rPr>
              <a:t>All eleven safety buffers, merged and colour-coded by class</a:t>
            </a:r>
            <a:endParaRPr lang="de-DE" sz="1050" b="0" u="none" strike="noStrike">
              <a:solidFill>
                <a:srgbClr val="000000"/>
              </a:solidFill>
              <a:effectLst/>
              <a:uFillTx/>
              <a:latin typeface="Arial"/>
            </a:endParaRPr>
          </a:p>
        </p:txBody>
      </p:sp>
      <p:sp>
        <p:nvSpPr>
          <p:cNvPr id="145" name="Shape 59"/>
          <p:cNvSpPr/>
          <p:nvPr/>
        </p:nvSpPr>
        <p:spPr>
          <a:xfrm>
            <a:off x="7178040" y="3977640"/>
            <a:ext cx="4434120" cy="1133280"/>
          </a:xfrm>
          <a:prstGeom prst="roundRect">
            <a:avLst>
              <a:gd name="adj" fmla="val 6452"/>
            </a:avLst>
          </a:prstGeom>
          <a:solidFill>
            <a:srgbClr val="F2F5EC"/>
          </a:solidFill>
          <a:ln w="12700">
            <a:solidFill>
              <a:srgbClr val="C9D3B8"/>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de-DE" sz="1800" b="0" u="none" strike="noStrike">
              <a:solidFill>
                <a:srgbClr val="000000"/>
              </a:solidFill>
              <a:effectLst/>
              <a:uFillTx/>
              <a:latin typeface="Arial"/>
            </a:endParaRPr>
          </a:p>
        </p:txBody>
      </p:sp>
      <p:sp>
        <p:nvSpPr>
          <p:cNvPr id="146" name="Text 132"/>
          <p:cNvSpPr/>
          <p:nvPr/>
        </p:nvSpPr>
        <p:spPr>
          <a:xfrm>
            <a:off x="7178040" y="4087440"/>
            <a:ext cx="4434120" cy="6303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b">
            <a:noAutofit/>
          </a:bodyPr>
          <a:lstStyle/>
          <a:p>
            <a:pPr algn="ctr" defTabSz="914400">
              <a:lnSpc>
                <a:spcPct val="100000"/>
              </a:lnSpc>
              <a:tabLst>
                <a:tab pos="0" algn="l"/>
              </a:tabLst>
            </a:pPr>
            <a:r>
              <a:rPr lang="en-US" sz="3000" b="1" u="none" strike="noStrike">
                <a:solidFill>
                  <a:srgbClr val="2C3F2B"/>
                </a:solidFill>
                <a:effectLst/>
                <a:uFillTx/>
                <a:latin typeface="Cambria"/>
                <a:ea typeface="Cambria"/>
              </a:rPr>
              <a:t>96.4%</a:t>
            </a:r>
            <a:endParaRPr lang="de-DE" sz="3000" b="0" u="none" strike="noStrike">
              <a:solidFill>
                <a:srgbClr val="000000"/>
              </a:solidFill>
              <a:effectLst/>
              <a:uFillTx/>
              <a:latin typeface="Arial"/>
            </a:endParaRPr>
          </a:p>
        </p:txBody>
      </p:sp>
      <p:sp>
        <p:nvSpPr>
          <p:cNvPr id="147" name="Text 133"/>
          <p:cNvSpPr/>
          <p:nvPr/>
        </p:nvSpPr>
        <p:spPr>
          <a:xfrm>
            <a:off x="7178040" y="4727520"/>
            <a:ext cx="4434120" cy="319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algn="ctr" defTabSz="914400">
              <a:lnSpc>
                <a:spcPct val="100000"/>
              </a:lnSpc>
              <a:tabLst>
                <a:tab pos="0" algn="l"/>
              </a:tabLst>
            </a:pPr>
            <a:r>
              <a:rPr lang="en-US" sz="1100" b="0" u="none" strike="noStrike">
                <a:solidFill>
                  <a:srgbClr val="5C6B57"/>
                </a:solidFill>
                <a:effectLst/>
                <a:uFillTx/>
                <a:latin typeface="Calibri"/>
                <a:ea typeface="Calibri"/>
              </a:rPr>
              <a:t>of the study area ends up excluded</a:t>
            </a:r>
            <a:endParaRPr lang="de-DE" sz="1100" b="0" u="none" strike="noStrike">
              <a:solidFill>
                <a:srgbClr val="000000"/>
              </a:solidFill>
              <a:effectLst/>
              <a:uFillTx/>
              <a:latin typeface="Arial"/>
            </a:endParaRPr>
          </a:p>
        </p:txBody>
      </p:sp>
      <p:sp>
        <p:nvSpPr>
          <p:cNvPr id="148" name="Shape 60"/>
          <p:cNvSpPr/>
          <p:nvPr/>
        </p:nvSpPr>
        <p:spPr>
          <a:xfrm>
            <a:off x="7178040" y="5266800"/>
            <a:ext cx="4434120" cy="1133280"/>
          </a:xfrm>
          <a:prstGeom prst="roundRect">
            <a:avLst>
              <a:gd name="adj" fmla="val 6452"/>
            </a:avLst>
          </a:prstGeom>
          <a:solidFill>
            <a:srgbClr val="F2F5EC"/>
          </a:solidFill>
          <a:ln w="12700">
            <a:solidFill>
              <a:srgbClr val="C9D3B8"/>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de-DE" sz="1800" b="0" u="none" strike="noStrike">
              <a:solidFill>
                <a:srgbClr val="000000"/>
              </a:solidFill>
              <a:effectLst/>
              <a:uFillTx/>
              <a:latin typeface="Arial"/>
            </a:endParaRPr>
          </a:p>
        </p:txBody>
      </p:sp>
      <p:sp>
        <p:nvSpPr>
          <p:cNvPr id="149" name="Text 134"/>
          <p:cNvSpPr/>
          <p:nvPr/>
        </p:nvSpPr>
        <p:spPr>
          <a:xfrm>
            <a:off x="7178040" y="5376600"/>
            <a:ext cx="4434120" cy="6303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b">
            <a:noAutofit/>
          </a:bodyPr>
          <a:lstStyle/>
          <a:p>
            <a:pPr algn="ctr" defTabSz="914400">
              <a:lnSpc>
                <a:spcPct val="100000"/>
              </a:lnSpc>
              <a:tabLst>
                <a:tab pos="0" algn="l"/>
              </a:tabLst>
            </a:pPr>
            <a:r>
              <a:rPr lang="en-US" sz="3000" b="1" u="none" strike="noStrike">
                <a:solidFill>
                  <a:srgbClr val="2C3F2B"/>
                </a:solidFill>
                <a:effectLst/>
                <a:uFillTx/>
                <a:latin typeface="Cambria"/>
                <a:ea typeface="Cambria"/>
              </a:rPr>
              <a:t>11 → 1</a:t>
            </a:r>
            <a:endParaRPr lang="de-DE" sz="3000" b="0" u="none" strike="noStrike">
              <a:solidFill>
                <a:srgbClr val="000000"/>
              </a:solidFill>
              <a:effectLst/>
              <a:uFillTx/>
              <a:latin typeface="Arial"/>
            </a:endParaRPr>
          </a:p>
        </p:txBody>
      </p:sp>
      <p:sp>
        <p:nvSpPr>
          <p:cNvPr id="150" name="Text 135"/>
          <p:cNvSpPr/>
          <p:nvPr/>
        </p:nvSpPr>
        <p:spPr>
          <a:xfrm>
            <a:off x="7178040" y="6016680"/>
            <a:ext cx="4434120" cy="319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algn="ctr" defTabSz="914400">
              <a:lnSpc>
                <a:spcPct val="100000"/>
              </a:lnSpc>
              <a:tabLst>
                <a:tab pos="0" algn="l"/>
              </a:tabLst>
            </a:pPr>
            <a:r>
              <a:rPr lang="en-US" sz="1100" b="0" u="none" strike="noStrike">
                <a:solidFill>
                  <a:srgbClr val="5C6B57"/>
                </a:solidFill>
                <a:effectLst/>
                <a:uFillTx/>
                <a:latin typeface="Calibri"/>
                <a:ea typeface="Calibri"/>
              </a:rPr>
              <a:t>buffers dissolved into one clean mask</a:t>
            </a:r>
            <a:endParaRPr lang="de-DE" sz="1100" b="0" u="none" strike="noStrike">
              <a:solidFill>
                <a:srgbClr val="000000"/>
              </a:solidFill>
              <a:effectLst/>
              <a:uFillTx/>
              <a:latin typeface="Arial"/>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51" name="Shape 11"/>
          <p:cNvSpPr/>
          <p:nvPr/>
        </p:nvSpPr>
        <p:spPr>
          <a:xfrm>
            <a:off x="457200" y="411480"/>
            <a:ext cx="566280" cy="566280"/>
          </a:xfrm>
          <a:prstGeom prst="ellipse">
            <a:avLst/>
          </a:prstGeom>
          <a:solidFill>
            <a:srgbClr val="C1652E"/>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de-DE" sz="1800" b="0" u="none" strike="noStrike">
              <a:solidFill>
                <a:srgbClr val="FFFFFF"/>
              </a:solidFill>
              <a:effectLst/>
              <a:uFillTx/>
              <a:latin typeface="Arial"/>
            </a:endParaRPr>
          </a:p>
        </p:txBody>
      </p:sp>
      <p:sp>
        <p:nvSpPr>
          <p:cNvPr id="152" name="Text 32"/>
          <p:cNvSpPr/>
          <p:nvPr/>
        </p:nvSpPr>
        <p:spPr>
          <a:xfrm>
            <a:off x="457200" y="411480"/>
            <a:ext cx="566280" cy="5662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2200" b="1" u="none" strike="noStrike">
                <a:solidFill>
                  <a:srgbClr val="FFFFFF"/>
                </a:solidFill>
                <a:effectLst/>
                <a:uFillTx/>
                <a:latin typeface="Calibri"/>
                <a:ea typeface="Calibri"/>
              </a:rPr>
              <a:t>1</a:t>
            </a:r>
            <a:endParaRPr lang="de-DE" sz="2200" b="0" u="none" strike="noStrike">
              <a:solidFill>
                <a:srgbClr val="000000"/>
              </a:solidFill>
              <a:effectLst/>
              <a:uFillTx/>
              <a:latin typeface="Arial"/>
            </a:endParaRPr>
          </a:p>
        </p:txBody>
      </p:sp>
      <p:sp>
        <p:nvSpPr>
          <p:cNvPr id="153" name="Text 35"/>
          <p:cNvSpPr/>
          <p:nvPr/>
        </p:nvSpPr>
        <p:spPr>
          <a:xfrm>
            <a:off x="1188720" y="438840"/>
            <a:ext cx="5485680" cy="255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100" b="1" u="none" strike="noStrike" spc="201">
                <a:solidFill>
                  <a:srgbClr val="C1652E"/>
                </a:solidFill>
                <a:effectLst/>
                <a:uFillTx/>
                <a:latin typeface="Calibri"/>
                <a:ea typeface="Calibri"/>
              </a:rPr>
              <a:t>STEP 1 OF 5</a:t>
            </a:r>
            <a:endParaRPr lang="de-DE" sz="1100" b="0" u="none" strike="noStrike">
              <a:solidFill>
                <a:srgbClr val="000000"/>
              </a:solidFill>
              <a:effectLst/>
              <a:uFillTx/>
              <a:latin typeface="Arial"/>
            </a:endParaRPr>
          </a:p>
        </p:txBody>
      </p:sp>
      <p:sp>
        <p:nvSpPr>
          <p:cNvPr id="154" name="Text 36"/>
          <p:cNvSpPr/>
          <p:nvPr/>
        </p:nvSpPr>
        <p:spPr>
          <a:xfrm>
            <a:off x="1170360" y="658440"/>
            <a:ext cx="7771680" cy="5022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2600" b="1" u="none" strike="noStrike">
                <a:solidFill>
                  <a:srgbClr val="2C3F2B"/>
                </a:solidFill>
                <a:effectLst/>
                <a:uFillTx/>
                <a:latin typeface="Cambria"/>
                <a:ea typeface="Cambria"/>
              </a:rPr>
              <a:t>Checking the data first</a:t>
            </a:r>
            <a:endParaRPr lang="de-DE" sz="2600" b="0" u="none" strike="noStrike">
              <a:solidFill>
                <a:srgbClr val="000000"/>
              </a:solidFill>
              <a:effectLst/>
              <a:uFillTx/>
              <a:latin typeface="Arial"/>
            </a:endParaRPr>
          </a:p>
        </p:txBody>
      </p:sp>
      <p:sp>
        <p:nvSpPr>
          <p:cNvPr id="155" name="Text 37"/>
          <p:cNvSpPr/>
          <p:nvPr/>
        </p:nvSpPr>
        <p:spPr>
          <a:xfrm>
            <a:off x="548640" y="1371600"/>
            <a:ext cx="6674400" cy="42055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marL="228600" indent="-228600" defTabSz="914400">
              <a:lnSpc>
                <a:spcPct val="115000"/>
              </a:lnSpc>
              <a:spcAft>
                <a:spcPts val="1400"/>
              </a:spcAft>
              <a:buClr>
                <a:srgbClr val="3A3A3A"/>
              </a:buClr>
              <a:buFont typeface="Symbol" charset="2"/>
              <a:buChar char=""/>
            </a:pPr>
            <a:r>
              <a:rPr lang="en-US" sz="1450" b="0" u="none" strike="noStrike">
                <a:solidFill>
                  <a:srgbClr val="3A3A3A"/>
                </a:solidFill>
                <a:effectLst/>
                <a:uFillTx/>
                <a:latin typeface="Calibri"/>
                <a:ea typeface="Calibri"/>
              </a:rPr>
              <a:t>Every class I need — road type, land use, water, rail — lives in a single field: typ. Nothing is split across separate attributes.</a:t>
            </a:r>
            <a:endParaRPr lang="de-DE" sz="1450" b="0" u="none" strike="noStrike">
              <a:solidFill>
                <a:srgbClr val="000000"/>
              </a:solidFill>
              <a:effectLst/>
              <a:uFillTx/>
              <a:latin typeface="Arial"/>
            </a:endParaRPr>
          </a:p>
          <a:p>
            <a:pPr marL="228600" indent="-228600" defTabSz="914400">
              <a:lnSpc>
                <a:spcPct val="115000"/>
              </a:lnSpc>
              <a:spcAft>
                <a:spcPts val="1400"/>
              </a:spcAft>
              <a:buClr>
                <a:srgbClr val="3A3A3A"/>
              </a:buClr>
              <a:buFont typeface="Symbol" charset="2"/>
              <a:buChar char=""/>
            </a:pPr>
            <a:r>
              <a:rPr lang="en-US" sz="1450" b="0" u="none" strike="noStrike">
                <a:solidFill>
                  <a:srgbClr val="3A3A3A"/>
                </a:solidFill>
                <a:effectLst/>
                <a:uFillTx/>
                <a:latin typeface="Calibri"/>
                <a:ea typeface="Calibri"/>
              </a:rPr>
              <a:t>Landnutzung.shp holds 2,919 polygons across 20 unique typ values. Ortslagen.shp, by contrast, carries only place names — no settlement-type field at all.</a:t>
            </a:r>
            <a:endParaRPr lang="de-DE" sz="1450" b="0" u="none" strike="noStrike">
              <a:solidFill>
                <a:srgbClr val="000000"/>
              </a:solidFill>
              <a:effectLst/>
              <a:uFillTx/>
              <a:latin typeface="Arial"/>
            </a:endParaRPr>
          </a:p>
          <a:p>
            <a:pPr marL="228600" indent="-228600" defTabSz="914400">
              <a:lnSpc>
                <a:spcPct val="115000"/>
              </a:lnSpc>
              <a:spcAft>
                <a:spcPts val="1400"/>
              </a:spcAft>
              <a:buClr>
                <a:srgbClr val="3A3A3A"/>
              </a:buClr>
              <a:buFont typeface="Symbol" charset="2"/>
              <a:buChar char=""/>
            </a:pPr>
            <a:r>
              <a:rPr lang="en-US" sz="1450" b="0" u="none" strike="noStrike">
                <a:solidFill>
                  <a:srgbClr val="3A3A3A"/>
                </a:solidFill>
                <a:effectLst/>
                <a:uFillTx/>
                <a:latin typeface="Calibri"/>
                <a:ea typeface="Calibri"/>
              </a:rPr>
              <a:t>Key finding: some values are compound strings. The semicolon in 'Wald; Forst' and the comma in 'Landesstraße, Staatsstraße' are part of the value itself, not a separator between two classes.</a:t>
            </a:r>
            <a:endParaRPr lang="de-DE" sz="1450" b="0" u="none" strike="noStrike">
              <a:solidFill>
                <a:srgbClr val="000000"/>
              </a:solidFill>
              <a:effectLst/>
              <a:uFillTx/>
              <a:latin typeface="Arial"/>
            </a:endParaRPr>
          </a:p>
          <a:p>
            <a:pPr marL="228600" indent="-228600" defTabSz="914400">
              <a:lnSpc>
                <a:spcPct val="115000"/>
              </a:lnSpc>
              <a:spcAft>
                <a:spcPts val="1400"/>
              </a:spcAft>
              <a:buClr>
                <a:srgbClr val="3A3A3A"/>
              </a:buClr>
              <a:buFont typeface="Symbol" charset="2"/>
              <a:buChar char=""/>
            </a:pPr>
            <a:r>
              <a:rPr lang="en-US" sz="1450" b="0" u="none" strike="noStrike">
                <a:solidFill>
                  <a:srgbClr val="3A3A3A"/>
                </a:solidFill>
                <a:effectLst/>
                <a:uFillTx/>
                <a:latin typeface="Calibri"/>
                <a:ea typeface="Calibri"/>
              </a:rPr>
              <a:t>That means every selection has to match the string verbatim — no LIKE wildcards, no splitting on punctuation, or the filter silently returns nothing.</a:t>
            </a:r>
            <a:endParaRPr lang="de-DE" sz="1450" b="0" u="none" strike="noStrike">
              <a:solidFill>
                <a:srgbClr val="000000"/>
              </a:solidFill>
              <a:effectLst/>
              <a:uFillTx/>
              <a:latin typeface="Arial"/>
            </a:endParaRPr>
          </a:p>
        </p:txBody>
      </p:sp>
      <p:sp>
        <p:nvSpPr>
          <p:cNvPr id="156" name="Shape 14"/>
          <p:cNvSpPr/>
          <p:nvPr/>
        </p:nvSpPr>
        <p:spPr>
          <a:xfrm>
            <a:off x="7498080" y="1463040"/>
            <a:ext cx="4114080" cy="1736640"/>
          </a:xfrm>
          <a:prstGeom prst="roundRect">
            <a:avLst>
              <a:gd name="adj" fmla="val 4211"/>
            </a:avLst>
          </a:prstGeom>
          <a:solidFill>
            <a:srgbClr val="F2F5EC"/>
          </a:solidFill>
          <a:ln w="12700">
            <a:solidFill>
              <a:srgbClr val="C9D3B8"/>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de-DE" sz="1800" b="0" u="none" strike="noStrike">
              <a:solidFill>
                <a:srgbClr val="000000"/>
              </a:solidFill>
              <a:effectLst/>
              <a:uFillTx/>
              <a:latin typeface="Arial"/>
            </a:endParaRPr>
          </a:p>
        </p:txBody>
      </p:sp>
      <p:sp>
        <p:nvSpPr>
          <p:cNvPr id="157" name="Text 38"/>
          <p:cNvSpPr/>
          <p:nvPr/>
        </p:nvSpPr>
        <p:spPr>
          <a:xfrm>
            <a:off x="7498080" y="1572840"/>
            <a:ext cx="4114080" cy="12337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b">
            <a:noAutofit/>
          </a:bodyPr>
          <a:lstStyle/>
          <a:p>
            <a:pPr algn="ctr" defTabSz="914400">
              <a:lnSpc>
                <a:spcPct val="100000"/>
              </a:lnSpc>
              <a:tabLst>
                <a:tab pos="0" algn="l"/>
              </a:tabLst>
            </a:pPr>
            <a:r>
              <a:rPr lang="en-US" sz="3000" b="1" u="none" strike="noStrike">
                <a:solidFill>
                  <a:srgbClr val="2C3F2B"/>
                </a:solidFill>
                <a:effectLst/>
                <a:uFillTx/>
                <a:latin typeface="Cambria"/>
                <a:ea typeface="Cambria"/>
              </a:rPr>
              <a:t>typ</a:t>
            </a:r>
            <a:endParaRPr lang="de-DE" sz="3000" b="0" u="none" strike="noStrike">
              <a:solidFill>
                <a:srgbClr val="000000"/>
              </a:solidFill>
              <a:effectLst/>
              <a:uFillTx/>
              <a:latin typeface="Arial"/>
            </a:endParaRPr>
          </a:p>
        </p:txBody>
      </p:sp>
      <p:sp>
        <p:nvSpPr>
          <p:cNvPr id="158" name="Text 39"/>
          <p:cNvSpPr/>
          <p:nvPr/>
        </p:nvSpPr>
        <p:spPr>
          <a:xfrm>
            <a:off x="7498080" y="2816280"/>
            <a:ext cx="4114080" cy="319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algn="ctr" defTabSz="914400">
              <a:lnSpc>
                <a:spcPct val="100000"/>
              </a:lnSpc>
              <a:tabLst>
                <a:tab pos="0" algn="l"/>
              </a:tabLst>
            </a:pPr>
            <a:r>
              <a:rPr lang="en-US" sz="1100" b="0" u="none" strike="noStrike">
                <a:solidFill>
                  <a:srgbClr val="5C6B57"/>
                </a:solidFill>
                <a:effectLst/>
                <a:uFillTx/>
                <a:latin typeface="Calibri"/>
                <a:ea typeface="Calibri"/>
              </a:rPr>
              <a:t>the one field every selection is built on</a:t>
            </a:r>
            <a:endParaRPr lang="de-DE" sz="1100" b="0" u="none" strike="noStrike">
              <a:solidFill>
                <a:srgbClr val="000000"/>
              </a:solidFill>
              <a:effectLst/>
              <a:uFillTx/>
              <a:latin typeface="Arial"/>
            </a:endParaRPr>
          </a:p>
        </p:txBody>
      </p:sp>
      <p:sp>
        <p:nvSpPr>
          <p:cNvPr id="159" name="Shape 20"/>
          <p:cNvSpPr/>
          <p:nvPr/>
        </p:nvSpPr>
        <p:spPr>
          <a:xfrm>
            <a:off x="7498080" y="3429000"/>
            <a:ext cx="4114080" cy="1965240"/>
          </a:xfrm>
          <a:prstGeom prst="roundRect">
            <a:avLst>
              <a:gd name="adj" fmla="val 3256"/>
            </a:avLst>
          </a:prstGeom>
          <a:solidFill>
            <a:srgbClr val="2C3F2B"/>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de-DE" sz="1800" b="0" u="none" strike="noStrike">
              <a:solidFill>
                <a:srgbClr val="FFFFFF"/>
              </a:solidFill>
              <a:effectLst/>
              <a:uFillTx/>
              <a:latin typeface="Arial"/>
            </a:endParaRPr>
          </a:p>
        </p:txBody>
      </p:sp>
      <p:sp>
        <p:nvSpPr>
          <p:cNvPr id="160" name="Text 40"/>
          <p:cNvSpPr/>
          <p:nvPr/>
        </p:nvSpPr>
        <p:spPr>
          <a:xfrm>
            <a:off x="7699320" y="3611880"/>
            <a:ext cx="3711600" cy="16452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25000"/>
              </a:lnSpc>
              <a:tabLst>
                <a:tab pos="0" algn="l"/>
              </a:tabLst>
            </a:pPr>
            <a:r>
              <a:rPr lang="en-US" sz="1500" b="0" i="1" u="none" strike="noStrike">
                <a:solidFill>
                  <a:srgbClr val="FFFFFF"/>
                </a:solidFill>
                <a:effectLst/>
                <a:uFillTx/>
                <a:latin typeface="Cambria"/>
                <a:ea typeface="Cambria"/>
              </a:rPr>
              <a:t>Select strings verbatim — no LIKE, no splitting.</a:t>
            </a:r>
            <a:endParaRPr lang="de-DE" sz="1500" b="0" u="none" strike="noStrike">
              <a:solidFill>
                <a:srgbClr val="000000"/>
              </a:solidFill>
              <a:effectLst/>
              <a:uFillTx/>
              <a:latin typeface="Arial"/>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61" name="Shape 15"/>
          <p:cNvSpPr/>
          <p:nvPr/>
        </p:nvSpPr>
        <p:spPr>
          <a:xfrm>
            <a:off x="457200" y="411480"/>
            <a:ext cx="566280" cy="566280"/>
          </a:xfrm>
          <a:prstGeom prst="ellipse">
            <a:avLst/>
          </a:prstGeom>
          <a:solidFill>
            <a:srgbClr val="C1652E"/>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de-DE" sz="1800" b="0" u="none" strike="noStrike">
              <a:solidFill>
                <a:srgbClr val="FFFFFF"/>
              </a:solidFill>
              <a:effectLst/>
              <a:uFillTx/>
              <a:latin typeface="Arial"/>
            </a:endParaRPr>
          </a:p>
        </p:txBody>
      </p:sp>
      <p:sp>
        <p:nvSpPr>
          <p:cNvPr id="162" name="Text 71"/>
          <p:cNvSpPr/>
          <p:nvPr/>
        </p:nvSpPr>
        <p:spPr>
          <a:xfrm>
            <a:off x="457200" y="411480"/>
            <a:ext cx="566280" cy="5662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2200" b="1" u="none" strike="noStrike">
                <a:solidFill>
                  <a:srgbClr val="FFFFFF"/>
                </a:solidFill>
                <a:effectLst/>
                <a:uFillTx/>
                <a:latin typeface="Calibri"/>
                <a:ea typeface="Calibri"/>
              </a:rPr>
              <a:t>2</a:t>
            </a:r>
            <a:endParaRPr lang="de-DE" sz="2200" b="0" u="none" strike="noStrike">
              <a:solidFill>
                <a:srgbClr val="000000"/>
              </a:solidFill>
              <a:effectLst/>
              <a:uFillTx/>
              <a:latin typeface="Arial"/>
            </a:endParaRPr>
          </a:p>
        </p:txBody>
      </p:sp>
      <p:sp>
        <p:nvSpPr>
          <p:cNvPr id="163" name="Text 72"/>
          <p:cNvSpPr/>
          <p:nvPr/>
        </p:nvSpPr>
        <p:spPr>
          <a:xfrm>
            <a:off x="1188720" y="438840"/>
            <a:ext cx="5485680" cy="255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100" b="1" u="none" strike="noStrike" spc="201">
                <a:solidFill>
                  <a:srgbClr val="C1652E"/>
                </a:solidFill>
                <a:effectLst/>
                <a:uFillTx/>
                <a:latin typeface="Calibri"/>
                <a:ea typeface="Calibri"/>
              </a:rPr>
              <a:t>STEP 2 OF 5</a:t>
            </a:r>
            <a:endParaRPr lang="de-DE" sz="1100" b="0" u="none" strike="noStrike">
              <a:solidFill>
                <a:srgbClr val="000000"/>
              </a:solidFill>
              <a:effectLst/>
              <a:uFillTx/>
              <a:latin typeface="Arial"/>
            </a:endParaRPr>
          </a:p>
        </p:txBody>
      </p:sp>
      <p:sp>
        <p:nvSpPr>
          <p:cNvPr id="164" name="Text 73"/>
          <p:cNvSpPr/>
          <p:nvPr/>
        </p:nvSpPr>
        <p:spPr>
          <a:xfrm>
            <a:off x="1170360" y="658440"/>
            <a:ext cx="7771680" cy="5022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2600" b="1" u="none" strike="noStrike">
                <a:solidFill>
                  <a:srgbClr val="2C3F2B"/>
                </a:solidFill>
                <a:effectLst/>
                <a:uFillTx/>
                <a:latin typeface="Cambria"/>
                <a:ea typeface="Cambria"/>
              </a:rPr>
              <a:t>Building the eleven safety buffers</a:t>
            </a:r>
            <a:endParaRPr lang="de-DE" sz="2600" b="0" u="none" strike="noStrike">
              <a:solidFill>
                <a:srgbClr val="000000"/>
              </a:solidFill>
              <a:effectLst/>
              <a:uFillTx/>
              <a:latin typeface="Arial"/>
            </a:endParaRPr>
          </a:p>
        </p:txBody>
      </p:sp>
      <p:sp>
        <p:nvSpPr>
          <p:cNvPr id="165" name="Text 74"/>
          <p:cNvSpPr/>
          <p:nvPr/>
        </p:nvSpPr>
        <p:spPr>
          <a:xfrm>
            <a:off x="548640" y="1371600"/>
            <a:ext cx="6308640" cy="42055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marL="228600" indent="-228600" defTabSz="914400">
              <a:lnSpc>
                <a:spcPct val="115000"/>
              </a:lnSpc>
              <a:spcAft>
                <a:spcPts val="1400"/>
              </a:spcAft>
              <a:buClr>
                <a:srgbClr val="3A3A3A"/>
              </a:buClr>
              <a:buFont typeface="Symbol" charset="2"/>
              <a:buChar char=""/>
            </a:pPr>
            <a:r>
              <a:rPr lang="en-US" sz="1450" b="0" u="none" strike="noStrike">
                <a:solidFill>
                  <a:srgbClr val="3A3A3A"/>
                </a:solidFill>
                <a:effectLst/>
                <a:uFillTx/>
                <a:latin typeface="Calibri"/>
                <a:ea typeface="Calibri"/>
              </a:rPr>
              <a:t>Straßennetz.shp keeps every road class in one field (typ) — I only buffered the three categories the assignment names (Kreis-, Bundes-/Landes-, Bundesautobahn) and left Gemeindestraße and Weg untouched.</a:t>
            </a:r>
            <a:endParaRPr lang="de-DE" sz="1450" b="0" u="none" strike="noStrike">
              <a:solidFill>
                <a:srgbClr val="000000"/>
              </a:solidFill>
              <a:effectLst/>
              <a:uFillTx/>
              <a:latin typeface="Arial"/>
            </a:endParaRPr>
          </a:p>
          <a:p>
            <a:pPr marL="228600" indent="-228600" defTabSz="914400">
              <a:lnSpc>
                <a:spcPct val="115000"/>
              </a:lnSpc>
              <a:spcAft>
                <a:spcPts val="1400"/>
              </a:spcAft>
              <a:buClr>
                <a:srgbClr val="3A3A3A"/>
              </a:buClr>
              <a:buFont typeface="Symbol" charset="2"/>
              <a:buChar char=""/>
            </a:pPr>
            <a:r>
              <a:rPr lang="en-US" sz="1450" b="0" u="none" strike="noStrike">
                <a:solidFill>
                  <a:srgbClr val="3A3A3A"/>
                </a:solidFill>
                <a:effectLst/>
                <a:uFillTx/>
                <a:latin typeface="Calibri"/>
                <a:ea typeface="Calibri"/>
              </a:rPr>
              <a:t>Distances range from 15 m for district roads up to 650 m for settlements — set with the Buffer tool, "dissolve result" switched on so same-class buffers merge automatically.</a:t>
            </a:r>
            <a:endParaRPr lang="de-DE" sz="1450" b="0" u="none" strike="noStrike">
              <a:solidFill>
                <a:srgbClr val="000000"/>
              </a:solidFill>
              <a:effectLst/>
              <a:uFillTx/>
              <a:latin typeface="Arial"/>
            </a:endParaRPr>
          </a:p>
          <a:p>
            <a:pPr marL="228600" indent="-228600" defTabSz="914400">
              <a:lnSpc>
                <a:spcPct val="115000"/>
              </a:lnSpc>
              <a:spcAft>
                <a:spcPts val="1400"/>
              </a:spcAft>
              <a:buClr>
                <a:srgbClr val="3A3A3A"/>
              </a:buClr>
              <a:buFont typeface="Symbol" charset="2"/>
              <a:buChar char=""/>
            </a:pPr>
            <a:r>
              <a:rPr lang="en-US" sz="1450" b="0" u="none" strike="noStrike">
                <a:solidFill>
                  <a:srgbClr val="3A3A3A"/>
                </a:solidFill>
                <a:effectLst/>
                <a:uFillTx/>
                <a:latin typeface="Calibri"/>
                <a:ea typeface="Calibri"/>
              </a:rPr>
              <a:t>Same settings on every run for consistency: 16 segments per quarter-circle, round caps and joins.</a:t>
            </a:r>
            <a:endParaRPr lang="de-DE" sz="1450" b="0" u="none" strike="noStrike">
              <a:solidFill>
                <a:srgbClr val="000000"/>
              </a:solidFill>
              <a:effectLst/>
              <a:uFillTx/>
              <a:latin typeface="Arial"/>
            </a:endParaRPr>
          </a:p>
          <a:p>
            <a:pPr marL="228600" indent="-228600" defTabSz="914400">
              <a:lnSpc>
                <a:spcPct val="115000"/>
              </a:lnSpc>
              <a:spcAft>
                <a:spcPts val="1400"/>
              </a:spcAft>
              <a:buClr>
                <a:srgbClr val="3A3A3A"/>
              </a:buClr>
              <a:buFont typeface="Symbol" charset="2"/>
              <a:buChar char=""/>
            </a:pPr>
            <a:r>
              <a:rPr lang="en-US" sz="1450" b="0" u="none" strike="noStrike">
                <a:solidFill>
                  <a:srgbClr val="3A3A3A"/>
                </a:solidFill>
                <a:effectLst/>
                <a:uFillTx/>
                <a:latin typeface="Calibri"/>
                <a:ea typeface="Calibri"/>
              </a:rPr>
              <a:t>Forest and oxbow arms (protected biotopes) both get a 200 m buffer; overhead power lines get 195 m — three times the 65 m rotor diameter.</a:t>
            </a:r>
            <a:endParaRPr lang="de-DE" sz="1450" b="0" u="none" strike="noStrike">
              <a:solidFill>
                <a:srgbClr val="000000"/>
              </a:solidFill>
              <a:effectLst/>
              <a:uFillTx/>
              <a:latin typeface="Arial"/>
            </a:endParaRPr>
          </a:p>
        </p:txBody>
      </p:sp>
      <p:sp>
        <p:nvSpPr>
          <p:cNvPr id="166" name="Shape 19"/>
          <p:cNvSpPr/>
          <p:nvPr/>
        </p:nvSpPr>
        <p:spPr>
          <a:xfrm>
            <a:off x="6805080" y="1344240"/>
            <a:ext cx="4880160" cy="3599640"/>
          </a:xfrm>
          <a:prstGeom prst="roundRect">
            <a:avLst>
              <a:gd name="adj" fmla="val 1425"/>
            </a:avLst>
          </a:prstGeom>
          <a:solidFill>
            <a:srgbClr val="FFFFFF"/>
          </a:solidFill>
          <a:ln w="12600">
            <a:solidFill>
              <a:srgbClr val="DADFD2"/>
            </a:solidFill>
            <a:round/>
          </a:ln>
          <a:effectLst>
            <a:outerShdw blurRad="101520" dist="38160" dir="5400000" rotWithShape="0">
              <a:srgbClr val="000000">
                <a:alpha val="18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de-DE" sz="1800" b="0" u="none" strike="noStrike">
              <a:solidFill>
                <a:srgbClr val="000000"/>
              </a:solidFill>
              <a:effectLst/>
              <a:uFillTx/>
              <a:latin typeface="Arial"/>
            </a:endParaRPr>
          </a:p>
        </p:txBody>
      </p:sp>
      <p:pic>
        <p:nvPicPr>
          <p:cNvPr id="167" name="Image 4" descr="buffers_map.png"/>
          <p:cNvPicPr/>
          <p:nvPr/>
        </p:nvPicPr>
        <p:blipFill>
          <a:blip r:embed="rId3"/>
          <a:stretch/>
        </p:blipFill>
        <p:spPr>
          <a:xfrm>
            <a:off x="6902280" y="1417320"/>
            <a:ext cx="4709880" cy="3340440"/>
          </a:xfrm>
          <a:prstGeom prst="rect">
            <a:avLst/>
          </a:prstGeom>
          <a:noFill/>
          <a:ln w="0">
            <a:noFill/>
          </a:ln>
        </p:spPr>
      </p:pic>
      <p:sp>
        <p:nvSpPr>
          <p:cNvPr id="168" name="Text 75"/>
          <p:cNvSpPr/>
          <p:nvPr/>
        </p:nvSpPr>
        <p:spPr>
          <a:xfrm>
            <a:off x="7178040" y="5094000"/>
            <a:ext cx="4434120" cy="273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chorCtr="1">
            <a:noAutofit/>
          </a:bodyPr>
          <a:lstStyle/>
          <a:p>
            <a:pPr algn="ctr" defTabSz="914400">
              <a:lnSpc>
                <a:spcPct val="100000"/>
              </a:lnSpc>
              <a:spcBef>
                <a:spcPts val="1191"/>
              </a:spcBef>
              <a:spcAft>
                <a:spcPts val="992"/>
              </a:spcAft>
              <a:tabLst>
                <a:tab pos="0" algn="l"/>
              </a:tabLst>
            </a:pPr>
            <a:r>
              <a:rPr lang="en-US" sz="1000" b="1" i="1" u="none" strike="noStrike">
                <a:solidFill>
                  <a:srgbClr val="6B6B6B"/>
                </a:solidFill>
                <a:effectLst/>
                <a:uFillTx/>
                <a:latin typeface="Calibri"/>
                <a:ea typeface="Calibri"/>
              </a:rPr>
              <a:t>All 11 buffers before merging </a:t>
            </a:r>
            <a:endParaRPr lang="de-DE" sz="1000" b="0" u="none" strike="noStrike">
              <a:solidFill>
                <a:srgbClr val="000000"/>
              </a:solidFill>
              <a:effectLst/>
              <a:uFillTx/>
              <a:latin typeface="Arial"/>
            </a:endParaRPr>
          </a:p>
        </p:txBody>
      </p:sp>
      <p:sp>
        <p:nvSpPr>
          <p:cNvPr id="169" name="Shape 31"/>
          <p:cNvSpPr/>
          <p:nvPr/>
        </p:nvSpPr>
        <p:spPr>
          <a:xfrm>
            <a:off x="548640" y="5760720"/>
            <a:ext cx="10880640" cy="776520"/>
          </a:xfrm>
          <a:prstGeom prst="roundRect">
            <a:avLst>
              <a:gd name="adj" fmla="val 9412"/>
            </a:avLst>
          </a:prstGeom>
          <a:solidFill>
            <a:srgbClr val="F2F5EC"/>
          </a:solidFill>
          <a:ln w="12600">
            <a:solidFill>
              <a:srgbClr val="C9D3B8"/>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de-DE" sz="1800" b="0" u="none" strike="noStrike">
              <a:solidFill>
                <a:srgbClr val="000000"/>
              </a:solidFill>
              <a:effectLst/>
              <a:uFillTx/>
              <a:latin typeface="Arial"/>
            </a:endParaRPr>
          </a:p>
        </p:txBody>
      </p:sp>
      <p:sp>
        <p:nvSpPr>
          <p:cNvPr id="170" name="Text 76"/>
          <p:cNvSpPr/>
          <p:nvPr/>
        </p:nvSpPr>
        <p:spPr>
          <a:xfrm>
            <a:off x="548640" y="5870520"/>
            <a:ext cx="10880640" cy="273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b">
            <a:noAutofit/>
          </a:bodyPr>
          <a:lstStyle/>
          <a:p>
            <a:pPr algn="ctr" defTabSz="914400">
              <a:lnSpc>
                <a:spcPct val="100000"/>
              </a:lnSpc>
              <a:tabLst>
                <a:tab pos="0" algn="l"/>
              </a:tabLst>
            </a:pPr>
            <a:r>
              <a:rPr lang="en-US" sz="3000" b="1" u="none" strike="noStrike">
                <a:solidFill>
                  <a:srgbClr val="2C3F2B"/>
                </a:solidFill>
                <a:effectLst/>
                <a:uFillTx/>
                <a:latin typeface="Cambria"/>
                <a:ea typeface="Cambria"/>
              </a:rPr>
              <a:t>11 buffers</a:t>
            </a:r>
            <a:endParaRPr lang="de-DE" sz="3000" b="0" u="none" strike="noStrike">
              <a:solidFill>
                <a:srgbClr val="000000"/>
              </a:solidFill>
              <a:effectLst/>
              <a:uFillTx/>
              <a:latin typeface="Arial"/>
            </a:endParaRPr>
          </a:p>
        </p:txBody>
      </p:sp>
      <p:sp>
        <p:nvSpPr>
          <p:cNvPr id="171" name="Text 77"/>
          <p:cNvSpPr/>
          <p:nvPr/>
        </p:nvSpPr>
        <p:spPr>
          <a:xfrm>
            <a:off x="548640" y="6153840"/>
            <a:ext cx="10880640" cy="319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algn="ctr" defTabSz="914400">
              <a:lnSpc>
                <a:spcPct val="100000"/>
              </a:lnSpc>
              <a:tabLst>
                <a:tab pos="0" algn="l"/>
              </a:tabLst>
            </a:pPr>
            <a:r>
              <a:rPr lang="en-US" sz="1100" b="0" u="none" strike="noStrike">
                <a:solidFill>
                  <a:srgbClr val="5C6B57"/>
                </a:solidFill>
                <a:effectLst/>
                <a:uFillTx/>
                <a:latin typeface="Calibri"/>
                <a:ea typeface="Calibri"/>
              </a:rPr>
              <a:t>one per constraint class, 15 m to 650 m</a:t>
            </a:r>
            <a:endParaRPr lang="de-DE" sz="1100" b="0" u="none" strike="noStrike">
              <a:solidFill>
                <a:srgbClr val="000000"/>
              </a:solidFill>
              <a:effectLst/>
              <a:uFillTx/>
              <a:latin typeface="Arial"/>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72" name="Text 26"/>
          <p:cNvSpPr/>
          <p:nvPr/>
        </p:nvSpPr>
        <p:spPr>
          <a:xfrm>
            <a:off x="1188720" y="438840"/>
            <a:ext cx="5485680" cy="255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100" b="1" u="none" strike="noStrike" spc="201">
                <a:solidFill>
                  <a:srgbClr val="C1652E"/>
                </a:solidFill>
                <a:effectLst/>
                <a:uFillTx/>
                <a:latin typeface="Calibri"/>
                <a:ea typeface="Calibri"/>
              </a:rPr>
              <a:t>STEP 2 OF 5</a:t>
            </a:r>
            <a:endParaRPr lang="de-DE" sz="1100" b="0" u="none" strike="noStrike">
              <a:solidFill>
                <a:srgbClr val="000000"/>
              </a:solidFill>
              <a:effectLst/>
              <a:uFillTx/>
              <a:latin typeface="Arial"/>
            </a:endParaRPr>
          </a:p>
        </p:txBody>
      </p:sp>
      <p:sp>
        <p:nvSpPr>
          <p:cNvPr id="173" name="Text 27"/>
          <p:cNvSpPr/>
          <p:nvPr/>
        </p:nvSpPr>
        <p:spPr>
          <a:xfrm>
            <a:off x="1108440" y="835560"/>
            <a:ext cx="7771680" cy="5022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2600" b="1" u="none" strike="noStrike">
                <a:solidFill>
                  <a:srgbClr val="2C3F2B"/>
                </a:solidFill>
                <a:effectLst/>
                <a:uFillTx/>
                <a:latin typeface="Cambria"/>
                <a:ea typeface="Cambria"/>
              </a:rPr>
              <a:t>Building the eleven safety buffers</a:t>
            </a:r>
            <a:endParaRPr lang="de-DE" sz="2600" b="0" u="none" strike="noStrike">
              <a:solidFill>
                <a:srgbClr val="000000"/>
              </a:solidFill>
              <a:effectLst/>
              <a:uFillTx/>
              <a:latin typeface="Arial"/>
            </a:endParaRPr>
          </a:p>
        </p:txBody>
      </p:sp>
      <p:sp>
        <p:nvSpPr>
          <p:cNvPr id="174" name="Shape 9"/>
          <p:cNvSpPr/>
          <p:nvPr/>
        </p:nvSpPr>
        <p:spPr>
          <a:xfrm>
            <a:off x="1878480" y="1495080"/>
            <a:ext cx="7079400" cy="4335480"/>
          </a:xfrm>
          <a:prstGeom prst="roundRect">
            <a:avLst>
              <a:gd name="adj" fmla="val 1425"/>
            </a:avLst>
          </a:prstGeom>
          <a:solidFill>
            <a:srgbClr val="FFFFFF"/>
          </a:solidFill>
          <a:ln w="12600">
            <a:solidFill>
              <a:srgbClr val="DADFD2"/>
            </a:solidFill>
            <a:round/>
          </a:ln>
          <a:effectLst>
            <a:outerShdw blurRad="101520" dist="38160" dir="5400000" rotWithShape="0">
              <a:srgbClr val="000000">
                <a:alpha val="18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de-DE" sz="1800" b="0" u="none" strike="noStrike">
              <a:solidFill>
                <a:srgbClr val="000000"/>
              </a:solidFill>
              <a:effectLst/>
              <a:uFillTx/>
              <a:latin typeface="Arial"/>
            </a:endParaRPr>
          </a:p>
        </p:txBody>
      </p:sp>
      <p:sp>
        <p:nvSpPr>
          <p:cNvPr id="175" name="Text 29"/>
          <p:cNvSpPr/>
          <p:nvPr/>
        </p:nvSpPr>
        <p:spPr>
          <a:xfrm>
            <a:off x="3394800" y="5838840"/>
            <a:ext cx="4434120" cy="273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000" b="0" i="1" u="none" strike="noStrike">
                <a:solidFill>
                  <a:srgbClr val="6B6B6B"/>
                </a:solidFill>
                <a:effectLst/>
                <a:uFillTx/>
                <a:latin typeface="Calibri"/>
                <a:ea typeface="Calibri"/>
              </a:rPr>
              <a:t>All 11 buffers merged, before Total_Exclusion_Area is built</a:t>
            </a:r>
            <a:endParaRPr lang="de-DE" sz="1000" b="0" u="none" strike="noStrike">
              <a:solidFill>
                <a:srgbClr val="000000"/>
              </a:solidFill>
              <a:effectLst/>
              <a:uFillTx/>
              <a:latin typeface="Arial"/>
            </a:endParaRPr>
          </a:p>
        </p:txBody>
      </p:sp>
      <p:pic>
        <p:nvPicPr>
          <p:cNvPr id="176" name="Hình ảnh 175"/>
          <p:cNvPicPr/>
          <p:nvPr/>
        </p:nvPicPr>
        <p:blipFill>
          <a:blip r:embed="rId3"/>
          <a:stretch/>
        </p:blipFill>
        <p:spPr>
          <a:xfrm>
            <a:off x="2061720" y="1645920"/>
            <a:ext cx="6666120" cy="3945600"/>
          </a:xfrm>
          <a:prstGeom prst="rect">
            <a:avLst/>
          </a:prstGeom>
          <a:noFill/>
          <a:ln w="0">
            <a:noFill/>
          </a:ln>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77" name="Shape 32"/>
          <p:cNvSpPr/>
          <p:nvPr/>
        </p:nvSpPr>
        <p:spPr>
          <a:xfrm>
            <a:off x="457200" y="411480"/>
            <a:ext cx="566280" cy="566280"/>
          </a:xfrm>
          <a:prstGeom prst="ellipse">
            <a:avLst/>
          </a:prstGeom>
          <a:solidFill>
            <a:srgbClr val="C1652E"/>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de-DE" sz="1800" b="0" u="none" strike="noStrike">
              <a:solidFill>
                <a:srgbClr val="FFFFFF"/>
              </a:solidFill>
              <a:effectLst/>
              <a:uFillTx/>
              <a:latin typeface="Arial"/>
            </a:endParaRPr>
          </a:p>
        </p:txBody>
      </p:sp>
      <p:sp>
        <p:nvSpPr>
          <p:cNvPr id="178" name="Text 78"/>
          <p:cNvSpPr/>
          <p:nvPr/>
        </p:nvSpPr>
        <p:spPr>
          <a:xfrm>
            <a:off x="457200" y="411480"/>
            <a:ext cx="566280" cy="5662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2200" b="1" u="none" strike="noStrike">
                <a:solidFill>
                  <a:srgbClr val="FFFFFF"/>
                </a:solidFill>
                <a:effectLst/>
                <a:uFillTx/>
                <a:latin typeface="Calibri"/>
                <a:ea typeface="Calibri"/>
              </a:rPr>
              <a:t>3</a:t>
            </a:r>
            <a:endParaRPr lang="de-DE" sz="2200" b="0" u="none" strike="noStrike">
              <a:solidFill>
                <a:srgbClr val="000000"/>
              </a:solidFill>
              <a:effectLst/>
              <a:uFillTx/>
              <a:latin typeface="Arial"/>
            </a:endParaRPr>
          </a:p>
        </p:txBody>
      </p:sp>
      <p:sp>
        <p:nvSpPr>
          <p:cNvPr id="179" name="Text 79"/>
          <p:cNvSpPr/>
          <p:nvPr/>
        </p:nvSpPr>
        <p:spPr>
          <a:xfrm>
            <a:off x="1188720" y="438840"/>
            <a:ext cx="5485680" cy="255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100" b="1" u="none" strike="noStrike" spc="201">
                <a:solidFill>
                  <a:srgbClr val="C1652E"/>
                </a:solidFill>
                <a:effectLst/>
                <a:uFillTx/>
                <a:latin typeface="Calibri"/>
                <a:ea typeface="Calibri"/>
              </a:rPr>
              <a:t>STEP 3 OF 5</a:t>
            </a:r>
            <a:endParaRPr lang="de-DE" sz="1100" b="0" u="none" strike="noStrike">
              <a:solidFill>
                <a:srgbClr val="000000"/>
              </a:solidFill>
              <a:effectLst/>
              <a:uFillTx/>
              <a:latin typeface="Arial"/>
            </a:endParaRPr>
          </a:p>
        </p:txBody>
      </p:sp>
      <p:sp>
        <p:nvSpPr>
          <p:cNvPr id="180" name="Text 80"/>
          <p:cNvSpPr/>
          <p:nvPr/>
        </p:nvSpPr>
        <p:spPr>
          <a:xfrm>
            <a:off x="1170360" y="658440"/>
            <a:ext cx="7771680" cy="5022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2600" b="1" u="none" strike="noStrike">
                <a:solidFill>
                  <a:srgbClr val="2C3F2B"/>
                </a:solidFill>
                <a:effectLst/>
                <a:uFillTx/>
                <a:latin typeface="Cambria"/>
                <a:ea typeface="Cambria"/>
              </a:rPr>
              <a:t>The settlement classification problem</a:t>
            </a:r>
            <a:endParaRPr lang="de-DE" sz="2600" b="0" u="none" strike="noStrike">
              <a:solidFill>
                <a:srgbClr val="000000"/>
              </a:solidFill>
              <a:effectLst/>
              <a:uFillTx/>
              <a:latin typeface="Arial"/>
            </a:endParaRPr>
          </a:p>
        </p:txBody>
      </p:sp>
      <p:sp>
        <p:nvSpPr>
          <p:cNvPr id="181" name="Text 81"/>
          <p:cNvSpPr/>
          <p:nvPr/>
        </p:nvSpPr>
        <p:spPr>
          <a:xfrm>
            <a:off x="548640" y="1371600"/>
            <a:ext cx="6491520" cy="42055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marL="228600" indent="-228600" defTabSz="914400">
              <a:lnSpc>
                <a:spcPct val="115000"/>
              </a:lnSpc>
              <a:spcAft>
                <a:spcPts val="1400"/>
              </a:spcAft>
              <a:buClr>
                <a:srgbClr val="3A3A3A"/>
              </a:buClr>
              <a:buFont typeface="Symbol" charset="2"/>
              <a:buChar char=""/>
            </a:pPr>
            <a:r>
              <a:rPr lang="en-US" sz="1450" b="0" u="none" strike="noStrike">
                <a:solidFill>
                  <a:srgbClr val="3A3A3A"/>
                </a:solidFill>
                <a:effectLst/>
                <a:uFillTx/>
                <a:latin typeface="Calibri"/>
                <a:ea typeface="Calibri"/>
              </a:rPr>
              <a:t>The assignment splits settlements into two classes with different distances: settlements 'assigned to a local location' (650 m) and individual houses or splinters that are not (450 m).</a:t>
            </a:r>
            <a:endParaRPr lang="de-DE" sz="1450" b="0" u="none" strike="noStrike">
              <a:solidFill>
                <a:srgbClr val="000000"/>
              </a:solidFill>
              <a:effectLst/>
              <a:uFillTx/>
              <a:latin typeface="Arial"/>
            </a:endParaRPr>
          </a:p>
          <a:p>
            <a:pPr marL="228600" indent="-228600" defTabSz="914400">
              <a:lnSpc>
                <a:spcPct val="115000"/>
              </a:lnSpc>
              <a:spcAft>
                <a:spcPts val="1400"/>
              </a:spcAft>
              <a:buClr>
                <a:srgbClr val="3A3A3A"/>
              </a:buClr>
              <a:buFont typeface="Symbol" charset="2"/>
              <a:buChar char=""/>
            </a:pPr>
            <a:r>
              <a:rPr lang="en-US" sz="1450" b="0" u="none" strike="noStrike">
                <a:solidFill>
                  <a:srgbClr val="3A3A3A"/>
                </a:solidFill>
                <a:effectLst/>
                <a:uFillTx/>
                <a:latin typeface="Calibri"/>
                <a:ea typeface="Calibri"/>
              </a:rPr>
              <a:t>Landnutzung.shp doesn't carry that distinction — every settlement patch is just typ = 'Siedlungsflaeche', with nothing to tell the two apart.</a:t>
            </a:r>
            <a:endParaRPr lang="de-DE" sz="1450" b="0" u="none" strike="noStrike">
              <a:solidFill>
                <a:srgbClr val="000000"/>
              </a:solidFill>
              <a:effectLst/>
              <a:uFillTx/>
              <a:latin typeface="Arial"/>
            </a:endParaRPr>
          </a:p>
          <a:p>
            <a:pPr marL="228600" indent="-228600" defTabSz="914400">
              <a:lnSpc>
                <a:spcPct val="115000"/>
              </a:lnSpc>
              <a:spcAft>
                <a:spcPts val="1400"/>
              </a:spcAft>
              <a:buClr>
                <a:srgbClr val="3A3A3A"/>
              </a:buClr>
              <a:buFont typeface="Symbol" charset="2"/>
              <a:buChar char=""/>
            </a:pPr>
            <a:r>
              <a:rPr lang="en-US" sz="1450" b="0" u="none" strike="noStrike">
                <a:solidFill>
                  <a:srgbClr val="3A3A3A"/>
                </a:solidFill>
                <a:effectLst/>
                <a:uFillTx/>
                <a:latin typeface="Calibri"/>
                <a:ea typeface="Calibri"/>
              </a:rPr>
              <a:t>Solved it spatially instead of by attribute: any Siedlungsflaeche polygon touching a named village in Ortslagen counts as assigned (650 m); anything that doesn't touch one is a splinter (450 m).</a:t>
            </a:r>
            <a:endParaRPr lang="de-DE" sz="1450" b="0" u="none" strike="noStrike">
              <a:solidFill>
                <a:srgbClr val="000000"/>
              </a:solidFill>
              <a:effectLst/>
              <a:uFillTx/>
              <a:latin typeface="Arial"/>
            </a:endParaRPr>
          </a:p>
          <a:p>
            <a:pPr marL="228600" indent="-228600" defTabSz="914400">
              <a:lnSpc>
                <a:spcPct val="115000"/>
              </a:lnSpc>
              <a:spcAft>
                <a:spcPts val="1400"/>
              </a:spcAft>
              <a:buClr>
                <a:srgbClr val="3A3A3A"/>
              </a:buClr>
              <a:buFont typeface="Symbol" charset="2"/>
              <a:buChar char=""/>
            </a:pPr>
            <a:r>
              <a:rPr lang="en-US" sz="1450" b="0" u="none" strike="noStrike">
                <a:solidFill>
                  <a:srgbClr val="3A3A3A"/>
                </a:solidFill>
                <a:effectLst/>
                <a:uFillTx/>
                <a:latin typeface="Calibri"/>
                <a:ea typeface="Calibri"/>
              </a:rPr>
              <a:t>Result: 1,640 of 1,771 settlement polygons (≈3,231 ha) sit inside a named village; 131 (≈118 ha) stand on their own.</a:t>
            </a:r>
            <a:endParaRPr lang="de-DE" sz="1450" b="0" u="none" strike="noStrike">
              <a:solidFill>
                <a:srgbClr val="000000"/>
              </a:solidFill>
              <a:effectLst/>
              <a:uFillTx/>
              <a:latin typeface="Arial"/>
            </a:endParaRPr>
          </a:p>
        </p:txBody>
      </p:sp>
      <p:sp>
        <p:nvSpPr>
          <p:cNvPr id="182" name="Shape 33"/>
          <p:cNvSpPr/>
          <p:nvPr/>
        </p:nvSpPr>
        <p:spPr>
          <a:xfrm>
            <a:off x="7360920" y="1417320"/>
            <a:ext cx="4251240" cy="1416600"/>
          </a:xfrm>
          <a:prstGeom prst="roundRect">
            <a:avLst>
              <a:gd name="adj" fmla="val 5161"/>
            </a:avLst>
          </a:prstGeom>
          <a:solidFill>
            <a:srgbClr val="F2F5EC"/>
          </a:solidFill>
          <a:ln w="12600">
            <a:solidFill>
              <a:srgbClr val="C9D3B8"/>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de-DE" sz="1800" b="0" u="none" strike="noStrike">
              <a:solidFill>
                <a:srgbClr val="000000"/>
              </a:solidFill>
              <a:effectLst/>
              <a:uFillTx/>
              <a:latin typeface="Arial"/>
            </a:endParaRPr>
          </a:p>
        </p:txBody>
      </p:sp>
      <p:sp>
        <p:nvSpPr>
          <p:cNvPr id="183" name="Text 82"/>
          <p:cNvSpPr/>
          <p:nvPr/>
        </p:nvSpPr>
        <p:spPr>
          <a:xfrm>
            <a:off x="7360920" y="1527120"/>
            <a:ext cx="4251240" cy="913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b">
            <a:noAutofit/>
          </a:bodyPr>
          <a:lstStyle/>
          <a:p>
            <a:pPr algn="ctr" defTabSz="914400">
              <a:lnSpc>
                <a:spcPct val="100000"/>
              </a:lnSpc>
              <a:tabLst>
                <a:tab pos="0" algn="l"/>
              </a:tabLst>
            </a:pPr>
            <a:r>
              <a:rPr lang="en-US" sz="3000" b="1" u="none" strike="noStrike">
                <a:solidFill>
                  <a:srgbClr val="2C3F2B"/>
                </a:solidFill>
                <a:effectLst/>
                <a:uFillTx/>
                <a:latin typeface="Cambria"/>
                <a:ea typeface="Cambria"/>
              </a:rPr>
              <a:t>1,640 / 131</a:t>
            </a:r>
            <a:endParaRPr lang="de-DE" sz="3000" b="0" u="none" strike="noStrike">
              <a:solidFill>
                <a:srgbClr val="000000"/>
              </a:solidFill>
              <a:effectLst/>
              <a:uFillTx/>
              <a:latin typeface="Arial"/>
            </a:endParaRPr>
          </a:p>
        </p:txBody>
      </p:sp>
      <p:sp>
        <p:nvSpPr>
          <p:cNvPr id="184" name="Text 83"/>
          <p:cNvSpPr/>
          <p:nvPr/>
        </p:nvSpPr>
        <p:spPr>
          <a:xfrm>
            <a:off x="7360920" y="2450520"/>
            <a:ext cx="4251240" cy="319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algn="ctr" defTabSz="914400">
              <a:lnSpc>
                <a:spcPct val="100000"/>
              </a:lnSpc>
              <a:tabLst>
                <a:tab pos="0" algn="l"/>
              </a:tabLst>
            </a:pPr>
            <a:r>
              <a:rPr lang="en-US" sz="1100" b="0" u="none" strike="noStrike">
                <a:solidFill>
                  <a:srgbClr val="5C6B57"/>
                </a:solidFill>
                <a:effectLst/>
                <a:uFillTx/>
                <a:latin typeface="Calibri"/>
                <a:ea typeface="Calibri"/>
              </a:rPr>
              <a:t>settlement patches: assigned vs. splinter</a:t>
            </a:r>
            <a:endParaRPr lang="de-DE" sz="1100" b="0" u="none" strike="noStrike">
              <a:solidFill>
                <a:srgbClr val="000000"/>
              </a:solidFill>
              <a:effectLst/>
              <a:uFillTx/>
              <a:latin typeface="Arial"/>
            </a:endParaRPr>
          </a:p>
        </p:txBody>
      </p:sp>
      <p:sp>
        <p:nvSpPr>
          <p:cNvPr id="185" name="Shape 34"/>
          <p:cNvSpPr/>
          <p:nvPr/>
        </p:nvSpPr>
        <p:spPr>
          <a:xfrm>
            <a:off x="7360920" y="2999160"/>
            <a:ext cx="4251240" cy="1416600"/>
          </a:xfrm>
          <a:prstGeom prst="roundRect">
            <a:avLst>
              <a:gd name="adj" fmla="val 5161"/>
            </a:avLst>
          </a:prstGeom>
          <a:solidFill>
            <a:srgbClr val="F2F5EC"/>
          </a:solidFill>
          <a:ln w="12600">
            <a:solidFill>
              <a:srgbClr val="C9D3B8"/>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de-DE" sz="1800" b="0" u="none" strike="noStrike">
              <a:solidFill>
                <a:srgbClr val="000000"/>
              </a:solidFill>
              <a:effectLst/>
              <a:uFillTx/>
              <a:latin typeface="Arial"/>
            </a:endParaRPr>
          </a:p>
        </p:txBody>
      </p:sp>
      <p:sp>
        <p:nvSpPr>
          <p:cNvPr id="186" name="Text 84"/>
          <p:cNvSpPr/>
          <p:nvPr/>
        </p:nvSpPr>
        <p:spPr>
          <a:xfrm>
            <a:off x="7360920" y="3108960"/>
            <a:ext cx="4251240" cy="913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b">
            <a:noAutofit/>
          </a:bodyPr>
          <a:lstStyle/>
          <a:p>
            <a:pPr algn="ctr" defTabSz="914400">
              <a:lnSpc>
                <a:spcPct val="100000"/>
              </a:lnSpc>
              <a:tabLst>
                <a:tab pos="0" algn="l"/>
              </a:tabLst>
            </a:pPr>
            <a:r>
              <a:rPr lang="en-US" sz="3000" b="1" u="none" strike="noStrike">
                <a:solidFill>
                  <a:srgbClr val="2C3F2B"/>
                </a:solidFill>
                <a:effectLst/>
                <a:uFillTx/>
                <a:latin typeface="Cambria"/>
                <a:ea typeface="Cambria"/>
              </a:rPr>
              <a:t>650 / 450 m</a:t>
            </a:r>
            <a:endParaRPr lang="de-DE" sz="3000" b="0" u="none" strike="noStrike">
              <a:solidFill>
                <a:srgbClr val="000000"/>
              </a:solidFill>
              <a:effectLst/>
              <a:uFillTx/>
              <a:latin typeface="Arial"/>
            </a:endParaRPr>
          </a:p>
        </p:txBody>
      </p:sp>
      <p:sp>
        <p:nvSpPr>
          <p:cNvPr id="187" name="Text 85"/>
          <p:cNvSpPr/>
          <p:nvPr/>
        </p:nvSpPr>
        <p:spPr>
          <a:xfrm>
            <a:off x="7360920" y="4032360"/>
            <a:ext cx="4251240" cy="319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algn="ctr" defTabSz="914400">
              <a:lnSpc>
                <a:spcPct val="100000"/>
              </a:lnSpc>
              <a:tabLst>
                <a:tab pos="0" algn="l"/>
              </a:tabLst>
            </a:pPr>
            <a:r>
              <a:rPr lang="en-US" sz="1100" b="0" u="none" strike="noStrike">
                <a:solidFill>
                  <a:srgbClr val="5C6B57"/>
                </a:solidFill>
                <a:effectLst/>
                <a:uFillTx/>
                <a:latin typeface="Calibri"/>
                <a:ea typeface="Calibri"/>
              </a:rPr>
              <a:t>buffer distance for each class</a:t>
            </a:r>
            <a:endParaRPr lang="de-DE" sz="1100" b="0" u="none" strike="noStrike">
              <a:solidFill>
                <a:srgbClr val="000000"/>
              </a:solidFill>
              <a:effectLst/>
              <a:uFillTx/>
              <a:latin typeface="Arial"/>
            </a:endParaRPr>
          </a:p>
        </p:txBody>
      </p:sp>
      <p:sp>
        <p:nvSpPr>
          <p:cNvPr id="188" name="Shape 35"/>
          <p:cNvSpPr/>
          <p:nvPr/>
        </p:nvSpPr>
        <p:spPr>
          <a:xfrm>
            <a:off x="7360920" y="4572000"/>
            <a:ext cx="4251240" cy="1370880"/>
          </a:xfrm>
          <a:prstGeom prst="roundRect">
            <a:avLst>
              <a:gd name="adj" fmla="val 4000"/>
            </a:avLst>
          </a:prstGeom>
          <a:solidFill>
            <a:srgbClr val="2C3F2B"/>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de-DE" sz="1800" b="0" u="none" strike="noStrike">
              <a:solidFill>
                <a:srgbClr val="FFFFFF"/>
              </a:solidFill>
              <a:effectLst/>
              <a:uFillTx/>
              <a:latin typeface="Arial"/>
            </a:endParaRPr>
          </a:p>
        </p:txBody>
      </p:sp>
      <p:sp>
        <p:nvSpPr>
          <p:cNvPr id="189" name="Text 86"/>
          <p:cNvSpPr/>
          <p:nvPr/>
        </p:nvSpPr>
        <p:spPr>
          <a:xfrm>
            <a:off x="7543800" y="4709160"/>
            <a:ext cx="3885480" cy="10965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20000"/>
              </a:lnSpc>
              <a:tabLst>
                <a:tab pos="0" algn="l"/>
              </a:tabLst>
            </a:pPr>
            <a:r>
              <a:rPr lang="en-US" sz="1450" b="0" i="1" u="none" strike="noStrike">
                <a:solidFill>
                  <a:srgbClr val="FFFFFF"/>
                </a:solidFill>
                <a:effectLst/>
                <a:uFillTx/>
                <a:latin typeface="Cambria"/>
                <a:ea typeface="Cambria"/>
              </a:rPr>
              <a:t>No attribute solved this — a spatial join with Ortslagen did.</a:t>
            </a:r>
            <a:endParaRPr lang="de-DE" sz="1450" b="0" u="none" strike="noStrike">
              <a:solidFill>
                <a:srgbClr val="000000"/>
              </a:solidFill>
              <a:effectLst/>
              <a:uFillTx/>
              <a:latin typeface="Arial"/>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90" name="Shape 36"/>
          <p:cNvSpPr/>
          <p:nvPr/>
        </p:nvSpPr>
        <p:spPr>
          <a:xfrm>
            <a:off x="457200" y="411480"/>
            <a:ext cx="566280" cy="566280"/>
          </a:xfrm>
          <a:prstGeom prst="ellipse">
            <a:avLst/>
          </a:prstGeom>
          <a:solidFill>
            <a:srgbClr val="C1652E"/>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de-DE" sz="1800" b="0" u="none" strike="noStrike">
              <a:solidFill>
                <a:srgbClr val="FFFFFF"/>
              </a:solidFill>
              <a:effectLst/>
              <a:uFillTx/>
              <a:latin typeface="Arial"/>
            </a:endParaRPr>
          </a:p>
        </p:txBody>
      </p:sp>
      <p:sp>
        <p:nvSpPr>
          <p:cNvPr id="191" name="Text 87"/>
          <p:cNvSpPr/>
          <p:nvPr/>
        </p:nvSpPr>
        <p:spPr>
          <a:xfrm>
            <a:off x="457200" y="411480"/>
            <a:ext cx="566280" cy="5662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2200" b="1" u="none" strike="noStrike">
                <a:solidFill>
                  <a:srgbClr val="FFFFFF"/>
                </a:solidFill>
                <a:effectLst/>
                <a:uFillTx/>
                <a:latin typeface="Calibri"/>
                <a:ea typeface="Calibri"/>
              </a:rPr>
              <a:t>4</a:t>
            </a:r>
            <a:endParaRPr lang="de-DE" sz="2200" b="0" u="none" strike="noStrike">
              <a:solidFill>
                <a:srgbClr val="000000"/>
              </a:solidFill>
              <a:effectLst/>
              <a:uFillTx/>
              <a:latin typeface="Arial"/>
            </a:endParaRPr>
          </a:p>
        </p:txBody>
      </p:sp>
      <p:sp>
        <p:nvSpPr>
          <p:cNvPr id="192" name="Text 88"/>
          <p:cNvSpPr/>
          <p:nvPr/>
        </p:nvSpPr>
        <p:spPr>
          <a:xfrm>
            <a:off x="1188720" y="438840"/>
            <a:ext cx="5485680" cy="255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100" b="1" u="none" strike="noStrike" spc="201">
                <a:solidFill>
                  <a:srgbClr val="C1652E"/>
                </a:solidFill>
                <a:effectLst/>
                <a:uFillTx/>
                <a:latin typeface="Calibri"/>
                <a:ea typeface="Calibri"/>
              </a:rPr>
              <a:t>STEP 4 OF 5</a:t>
            </a:r>
            <a:endParaRPr lang="de-DE" sz="1100" b="0" u="none" strike="noStrike">
              <a:solidFill>
                <a:srgbClr val="000000"/>
              </a:solidFill>
              <a:effectLst/>
              <a:uFillTx/>
              <a:latin typeface="Arial"/>
            </a:endParaRPr>
          </a:p>
        </p:txBody>
      </p:sp>
      <p:sp>
        <p:nvSpPr>
          <p:cNvPr id="193" name="Text 89"/>
          <p:cNvSpPr/>
          <p:nvPr/>
        </p:nvSpPr>
        <p:spPr>
          <a:xfrm>
            <a:off x="1170360" y="658440"/>
            <a:ext cx="7771680" cy="5022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2600" b="1" u="none" strike="noStrike">
                <a:solidFill>
                  <a:srgbClr val="2C3F2B"/>
                </a:solidFill>
                <a:effectLst/>
                <a:uFillTx/>
                <a:latin typeface="Cambria"/>
                <a:ea typeface="Cambria"/>
              </a:rPr>
              <a:t>Merging everything into one exclusion layer</a:t>
            </a:r>
            <a:endParaRPr lang="de-DE" sz="2600" b="0" u="none" strike="noStrike">
              <a:solidFill>
                <a:srgbClr val="000000"/>
              </a:solidFill>
              <a:effectLst/>
              <a:uFillTx/>
              <a:latin typeface="Arial"/>
            </a:endParaRPr>
          </a:p>
        </p:txBody>
      </p:sp>
      <p:sp>
        <p:nvSpPr>
          <p:cNvPr id="194" name="Shape 37"/>
          <p:cNvSpPr/>
          <p:nvPr/>
        </p:nvSpPr>
        <p:spPr>
          <a:xfrm>
            <a:off x="548640" y="1417320"/>
            <a:ext cx="383400" cy="383400"/>
          </a:xfrm>
          <a:prstGeom prst="roundRect">
            <a:avLst>
              <a:gd name="adj" fmla="val 14286"/>
            </a:avLst>
          </a:prstGeom>
          <a:solidFill>
            <a:srgbClr val="C1652E"/>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de-DE" sz="1800" b="0" u="none" strike="noStrike">
              <a:solidFill>
                <a:srgbClr val="FFFFFF"/>
              </a:solidFill>
              <a:effectLst/>
              <a:uFillTx/>
              <a:latin typeface="Arial"/>
            </a:endParaRPr>
          </a:p>
        </p:txBody>
      </p:sp>
      <p:sp>
        <p:nvSpPr>
          <p:cNvPr id="195" name="Text 90"/>
          <p:cNvSpPr/>
          <p:nvPr/>
        </p:nvSpPr>
        <p:spPr>
          <a:xfrm>
            <a:off x="548640" y="1417320"/>
            <a:ext cx="383400" cy="3834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400" b="1" u="none" strike="noStrike">
                <a:solidFill>
                  <a:srgbClr val="FFFFFF"/>
                </a:solidFill>
                <a:effectLst/>
                <a:uFillTx/>
                <a:latin typeface="Calibri"/>
                <a:ea typeface="Calibri"/>
              </a:rPr>
              <a:t>1</a:t>
            </a:r>
            <a:endParaRPr lang="de-DE" sz="1400" b="0" u="none" strike="noStrike">
              <a:solidFill>
                <a:srgbClr val="000000"/>
              </a:solidFill>
              <a:effectLst/>
              <a:uFillTx/>
              <a:latin typeface="Arial"/>
            </a:endParaRPr>
          </a:p>
        </p:txBody>
      </p:sp>
      <p:sp>
        <p:nvSpPr>
          <p:cNvPr id="196" name="Text 91"/>
          <p:cNvSpPr/>
          <p:nvPr/>
        </p:nvSpPr>
        <p:spPr>
          <a:xfrm>
            <a:off x="1097280" y="1389960"/>
            <a:ext cx="1919520" cy="3650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600" b="1" u="none" strike="noStrike">
                <a:solidFill>
                  <a:srgbClr val="2C3F2B"/>
                </a:solidFill>
                <a:effectLst/>
                <a:uFillTx/>
                <a:latin typeface="Cambria"/>
                <a:ea typeface="Cambria"/>
              </a:rPr>
              <a:t>Merge</a:t>
            </a:r>
            <a:endParaRPr lang="de-DE" sz="1600" b="0" u="none" strike="noStrike">
              <a:solidFill>
                <a:srgbClr val="000000"/>
              </a:solidFill>
              <a:effectLst/>
              <a:uFillTx/>
              <a:latin typeface="Arial"/>
            </a:endParaRPr>
          </a:p>
        </p:txBody>
      </p:sp>
      <p:sp>
        <p:nvSpPr>
          <p:cNvPr id="197" name="Text 92"/>
          <p:cNvSpPr/>
          <p:nvPr/>
        </p:nvSpPr>
        <p:spPr>
          <a:xfrm>
            <a:off x="3063240" y="1371600"/>
            <a:ext cx="3702600" cy="913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15000"/>
              </a:lnSpc>
              <a:tabLst>
                <a:tab pos="0" algn="l"/>
              </a:tabLst>
            </a:pPr>
            <a:r>
              <a:rPr lang="en-US" sz="1250" b="0" u="none" strike="noStrike">
                <a:solidFill>
                  <a:srgbClr val="3A3A3A"/>
                </a:solidFill>
                <a:effectLst/>
                <a:uFillTx/>
                <a:latin typeface="Calibri"/>
                <a:ea typeface="Calibri"/>
              </a:rPr>
              <a:t>all 11 buffer layers combined into a single layer</a:t>
            </a:r>
            <a:endParaRPr lang="de-DE" sz="1250" b="0" u="none" strike="noStrike">
              <a:solidFill>
                <a:srgbClr val="000000"/>
              </a:solidFill>
              <a:effectLst/>
              <a:uFillTx/>
              <a:latin typeface="Arial"/>
            </a:endParaRPr>
          </a:p>
        </p:txBody>
      </p:sp>
      <p:sp>
        <p:nvSpPr>
          <p:cNvPr id="198" name="Shape 38"/>
          <p:cNvSpPr/>
          <p:nvPr/>
        </p:nvSpPr>
        <p:spPr>
          <a:xfrm>
            <a:off x="548640" y="2441520"/>
            <a:ext cx="383400" cy="383400"/>
          </a:xfrm>
          <a:prstGeom prst="roundRect">
            <a:avLst>
              <a:gd name="adj" fmla="val 14286"/>
            </a:avLst>
          </a:prstGeom>
          <a:solidFill>
            <a:srgbClr val="C1652E"/>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de-DE" sz="1800" b="0" u="none" strike="noStrike">
              <a:solidFill>
                <a:srgbClr val="FFFFFF"/>
              </a:solidFill>
              <a:effectLst/>
              <a:uFillTx/>
              <a:latin typeface="Arial"/>
            </a:endParaRPr>
          </a:p>
        </p:txBody>
      </p:sp>
      <p:sp>
        <p:nvSpPr>
          <p:cNvPr id="199" name="Text 93"/>
          <p:cNvSpPr/>
          <p:nvPr/>
        </p:nvSpPr>
        <p:spPr>
          <a:xfrm>
            <a:off x="548640" y="2441520"/>
            <a:ext cx="383400" cy="3834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400" b="1" u="none" strike="noStrike">
                <a:solidFill>
                  <a:srgbClr val="FFFFFF"/>
                </a:solidFill>
                <a:effectLst/>
                <a:uFillTx/>
                <a:latin typeface="Calibri"/>
                <a:ea typeface="Calibri"/>
              </a:rPr>
              <a:t>2</a:t>
            </a:r>
            <a:endParaRPr lang="de-DE" sz="1400" b="0" u="none" strike="noStrike">
              <a:solidFill>
                <a:srgbClr val="000000"/>
              </a:solidFill>
              <a:effectLst/>
              <a:uFillTx/>
              <a:latin typeface="Arial"/>
            </a:endParaRPr>
          </a:p>
        </p:txBody>
      </p:sp>
      <p:sp>
        <p:nvSpPr>
          <p:cNvPr id="200" name="Text 94"/>
          <p:cNvSpPr/>
          <p:nvPr/>
        </p:nvSpPr>
        <p:spPr>
          <a:xfrm>
            <a:off x="1097280" y="2414160"/>
            <a:ext cx="1919520" cy="3650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600" b="1" u="none" strike="noStrike">
                <a:solidFill>
                  <a:srgbClr val="2C3F2B"/>
                </a:solidFill>
                <a:effectLst/>
                <a:uFillTx/>
                <a:latin typeface="Cambria"/>
                <a:ea typeface="Cambria"/>
              </a:rPr>
              <a:t>Fix geometries</a:t>
            </a:r>
            <a:endParaRPr lang="de-DE" sz="1600" b="0" u="none" strike="noStrike">
              <a:solidFill>
                <a:srgbClr val="000000"/>
              </a:solidFill>
              <a:effectLst/>
              <a:uFillTx/>
              <a:latin typeface="Arial"/>
            </a:endParaRPr>
          </a:p>
        </p:txBody>
      </p:sp>
      <p:sp>
        <p:nvSpPr>
          <p:cNvPr id="201" name="Text 95"/>
          <p:cNvSpPr/>
          <p:nvPr/>
        </p:nvSpPr>
        <p:spPr>
          <a:xfrm>
            <a:off x="3063240" y="2395800"/>
            <a:ext cx="3702600" cy="913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15000"/>
              </a:lnSpc>
              <a:tabLst>
                <a:tab pos="0" algn="l"/>
              </a:tabLst>
            </a:pPr>
            <a:r>
              <a:rPr lang="en-US" sz="1250" b="0" u="none" strike="noStrike">
                <a:solidFill>
                  <a:srgbClr val="3A3A3A"/>
                </a:solidFill>
                <a:effectLst/>
                <a:uFillTx/>
                <a:latin typeface="Calibri"/>
                <a:ea typeface="Calibri"/>
              </a:rPr>
              <a:t>cleaned up before dissolving, not after — repairing first keeps the topology clean going into the dissolve</a:t>
            </a:r>
            <a:endParaRPr lang="de-DE" sz="1250" b="0" u="none" strike="noStrike">
              <a:solidFill>
                <a:srgbClr val="000000"/>
              </a:solidFill>
              <a:effectLst/>
              <a:uFillTx/>
              <a:latin typeface="Arial"/>
            </a:endParaRPr>
          </a:p>
        </p:txBody>
      </p:sp>
      <p:sp>
        <p:nvSpPr>
          <p:cNvPr id="202" name="Shape 39"/>
          <p:cNvSpPr/>
          <p:nvPr/>
        </p:nvSpPr>
        <p:spPr>
          <a:xfrm>
            <a:off x="548640" y="3465720"/>
            <a:ext cx="383400" cy="383400"/>
          </a:xfrm>
          <a:prstGeom prst="roundRect">
            <a:avLst>
              <a:gd name="adj" fmla="val 14286"/>
            </a:avLst>
          </a:prstGeom>
          <a:solidFill>
            <a:srgbClr val="C1652E"/>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de-DE" sz="1800" b="0" u="none" strike="noStrike">
              <a:solidFill>
                <a:srgbClr val="FFFFFF"/>
              </a:solidFill>
              <a:effectLst/>
              <a:uFillTx/>
              <a:latin typeface="Arial"/>
            </a:endParaRPr>
          </a:p>
        </p:txBody>
      </p:sp>
      <p:sp>
        <p:nvSpPr>
          <p:cNvPr id="203" name="Text 96"/>
          <p:cNvSpPr/>
          <p:nvPr/>
        </p:nvSpPr>
        <p:spPr>
          <a:xfrm>
            <a:off x="548640" y="3465720"/>
            <a:ext cx="383400" cy="3834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400" b="1" u="none" strike="noStrike">
                <a:solidFill>
                  <a:srgbClr val="FFFFFF"/>
                </a:solidFill>
                <a:effectLst/>
                <a:uFillTx/>
                <a:latin typeface="Calibri"/>
                <a:ea typeface="Calibri"/>
              </a:rPr>
              <a:t>3</a:t>
            </a:r>
            <a:endParaRPr lang="de-DE" sz="1400" b="0" u="none" strike="noStrike">
              <a:solidFill>
                <a:srgbClr val="000000"/>
              </a:solidFill>
              <a:effectLst/>
              <a:uFillTx/>
              <a:latin typeface="Arial"/>
            </a:endParaRPr>
          </a:p>
        </p:txBody>
      </p:sp>
      <p:sp>
        <p:nvSpPr>
          <p:cNvPr id="204" name="Text 97"/>
          <p:cNvSpPr/>
          <p:nvPr/>
        </p:nvSpPr>
        <p:spPr>
          <a:xfrm>
            <a:off x="1097280" y="3438000"/>
            <a:ext cx="1919520" cy="3650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600" b="1" u="none" strike="noStrike">
                <a:solidFill>
                  <a:srgbClr val="2C3F2B"/>
                </a:solidFill>
                <a:effectLst/>
                <a:uFillTx/>
                <a:latin typeface="Cambria"/>
                <a:ea typeface="Cambria"/>
              </a:rPr>
              <a:t>Dissolve</a:t>
            </a:r>
            <a:endParaRPr lang="de-DE" sz="1600" b="0" u="none" strike="noStrike">
              <a:solidFill>
                <a:srgbClr val="000000"/>
              </a:solidFill>
              <a:effectLst/>
              <a:uFillTx/>
              <a:latin typeface="Arial"/>
            </a:endParaRPr>
          </a:p>
        </p:txBody>
      </p:sp>
      <p:sp>
        <p:nvSpPr>
          <p:cNvPr id="205" name="Text 98"/>
          <p:cNvSpPr/>
          <p:nvPr/>
        </p:nvSpPr>
        <p:spPr>
          <a:xfrm>
            <a:off x="3063240" y="3420000"/>
            <a:ext cx="3702600" cy="913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15000"/>
              </a:lnSpc>
              <a:tabLst>
                <a:tab pos="0" algn="l"/>
              </a:tabLst>
            </a:pPr>
            <a:r>
              <a:rPr lang="en-US" sz="1250" b="0" u="none" strike="noStrike">
                <a:solidFill>
                  <a:srgbClr val="3A3A3A"/>
                </a:solidFill>
                <a:effectLst/>
                <a:uFillTx/>
                <a:latin typeface="Calibri"/>
                <a:ea typeface="Calibri"/>
              </a:rPr>
              <a:t>no grouping field, so every touching buffer melts into one shape with no leftover internal lines</a:t>
            </a:r>
            <a:endParaRPr lang="de-DE" sz="1250" b="0" u="none" strike="noStrike">
              <a:solidFill>
                <a:srgbClr val="000000"/>
              </a:solidFill>
              <a:effectLst/>
              <a:uFillTx/>
              <a:latin typeface="Arial"/>
            </a:endParaRPr>
          </a:p>
        </p:txBody>
      </p:sp>
      <p:sp>
        <p:nvSpPr>
          <p:cNvPr id="206" name="Shape 40"/>
          <p:cNvSpPr/>
          <p:nvPr/>
        </p:nvSpPr>
        <p:spPr>
          <a:xfrm>
            <a:off x="548640" y="4489560"/>
            <a:ext cx="383400" cy="383400"/>
          </a:xfrm>
          <a:prstGeom prst="roundRect">
            <a:avLst>
              <a:gd name="adj" fmla="val 14286"/>
            </a:avLst>
          </a:prstGeom>
          <a:solidFill>
            <a:srgbClr val="C1652E"/>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de-DE" sz="1800" b="0" u="none" strike="noStrike">
              <a:solidFill>
                <a:srgbClr val="FFFFFF"/>
              </a:solidFill>
              <a:effectLst/>
              <a:uFillTx/>
              <a:latin typeface="Arial"/>
            </a:endParaRPr>
          </a:p>
        </p:txBody>
      </p:sp>
      <p:sp>
        <p:nvSpPr>
          <p:cNvPr id="207" name="Text 99"/>
          <p:cNvSpPr/>
          <p:nvPr/>
        </p:nvSpPr>
        <p:spPr>
          <a:xfrm>
            <a:off x="548640" y="4489560"/>
            <a:ext cx="383400" cy="3834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400" b="1" u="none" strike="noStrike">
                <a:solidFill>
                  <a:srgbClr val="FFFFFF"/>
                </a:solidFill>
                <a:effectLst/>
                <a:uFillTx/>
                <a:latin typeface="Calibri"/>
                <a:ea typeface="Calibri"/>
              </a:rPr>
              <a:t>4</a:t>
            </a:r>
            <a:endParaRPr lang="de-DE" sz="1400" b="0" u="none" strike="noStrike">
              <a:solidFill>
                <a:srgbClr val="000000"/>
              </a:solidFill>
              <a:effectLst/>
              <a:uFillTx/>
              <a:latin typeface="Arial"/>
            </a:endParaRPr>
          </a:p>
        </p:txBody>
      </p:sp>
      <p:sp>
        <p:nvSpPr>
          <p:cNvPr id="208" name="Text 100"/>
          <p:cNvSpPr/>
          <p:nvPr/>
        </p:nvSpPr>
        <p:spPr>
          <a:xfrm>
            <a:off x="1097280" y="4462200"/>
            <a:ext cx="1919520" cy="3650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600" b="1" u="none" strike="noStrike">
                <a:solidFill>
                  <a:srgbClr val="2C3F2B"/>
                </a:solidFill>
                <a:effectLst/>
                <a:uFillTx/>
                <a:latin typeface="Cambria"/>
                <a:ea typeface="Cambria"/>
              </a:rPr>
              <a:t>Clip</a:t>
            </a:r>
            <a:endParaRPr lang="de-DE" sz="1600" b="0" u="none" strike="noStrike">
              <a:solidFill>
                <a:srgbClr val="000000"/>
              </a:solidFill>
              <a:effectLst/>
              <a:uFillTx/>
              <a:latin typeface="Arial"/>
            </a:endParaRPr>
          </a:p>
        </p:txBody>
      </p:sp>
      <p:sp>
        <p:nvSpPr>
          <p:cNvPr id="209" name="Text 101"/>
          <p:cNvSpPr/>
          <p:nvPr/>
        </p:nvSpPr>
        <p:spPr>
          <a:xfrm>
            <a:off x="3063240" y="4443840"/>
            <a:ext cx="3702600" cy="913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15000"/>
              </a:lnSpc>
              <a:tabLst>
                <a:tab pos="0" algn="l"/>
              </a:tabLst>
            </a:pPr>
            <a:r>
              <a:rPr lang="en-US" sz="1250" b="0" u="none" strike="noStrike">
                <a:solidFill>
                  <a:srgbClr val="3A3A3A"/>
                </a:solidFill>
                <a:effectLst/>
                <a:uFillTx/>
                <a:latin typeface="Calibri"/>
                <a:ea typeface="Calibri"/>
              </a:rPr>
              <a:t>cut to the Frame boundary, so buffers sticking out past the study area don't count</a:t>
            </a:r>
            <a:endParaRPr lang="de-DE" sz="1250" b="0" u="none" strike="noStrike">
              <a:solidFill>
                <a:srgbClr val="000000"/>
              </a:solidFill>
              <a:effectLst/>
              <a:uFillTx/>
              <a:latin typeface="Arial"/>
            </a:endParaRPr>
          </a:p>
        </p:txBody>
      </p:sp>
      <p:sp>
        <p:nvSpPr>
          <p:cNvPr id="210" name="Shape 41"/>
          <p:cNvSpPr/>
          <p:nvPr/>
        </p:nvSpPr>
        <p:spPr>
          <a:xfrm>
            <a:off x="7104960" y="1344240"/>
            <a:ext cx="4580280" cy="3208680"/>
          </a:xfrm>
          <a:prstGeom prst="roundRect">
            <a:avLst>
              <a:gd name="adj" fmla="val 1425"/>
            </a:avLst>
          </a:prstGeom>
          <a:solidFill>
            <a:srgbClr val="FFFFFF"/>
          </a:solidFill>
          <a:ln w="12600">
            <a:solidFill>
              <a:srgbClr val="DADFD2"/>
            </a:solidFill>
            <a:round/>
          </a:ln>
          <a:effectLst>
            <a:outerShdw blurRad="101520" dist="38160" dir="5400000" rotWithShape="0">
              <a:srgbClr val="000000">
                <a:alpha val="18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de-DE" sz="1800" b="0" u="none" strike="noStrike">
              <a:solidFill>
                <a:srgbClr val="000000"/>
              </a:solidFill>
              <a:effectLst/>
              <a:uFillTx/>
              <a:latin typeface="Arial"/>
            </a:endParaRPr>
          </a:p>
        </p:txBody>
      </p:sp>
      <p:pic>
        <p:nvPicPr>
          <p:cNvPr id="211" name="Image 5" descr="exclusion_map.png"/>
          <p:cNvPicPr/>
          <p:nvPr/>
        </p:nvPicPr>
        <p:blipFill>
          <a:blip r:embed="rId3"/>
          <a:stretch/>
        </p:blipFill>
        <p:spPr>
          <a:xfrm>
            <a:off x="7178040" y="1417320"/>
            <a:ext cx="4434120" cy="3062520"/>
          </a:xfrm>
          <a:prstGeom prst="rect">
            <a:avLst/>
          </a:prstGeom>
          <a:noFill/>
          <a:ln w="0">
            <a:noFill/>
          </a:ln>
        </p:spPr>
      </p:pic>
      <p:sp>
        <p:nvSpPr>
          <p:cNvPr id="212" name="Text 102"/>
          <p:cNvSpPr/>
          <p:nvPr/>
        </p:nvSpPr>
        <p:spPr>
          <a:xfrm>
            <a:off x="7178040" y="4553640"/>
            <a:ext cx="4434120" cy="273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chorCtr="1">
            <a:noAutofit/>
          </a:bodyPr>
          <a:lstStyle/>
          <a:p>
            <a:pPr algn="ctr" defTabSz="914400">
              <a:lnSpc>
                <a:spcPct val="100000"/>
              </a:lnSpc>
              <a:tabLst>
                <a:tab pos="0" algn="l"/>
              </a:tabLst>
            </a:pPr>
            <a:r>
              <a:rPr lang="en-US" sz="1400" b="0" i="1" u="none" strike="noStrike" dirty="0" err="1">
                <a:solidFill>
                  <a:srgbClr val="6B6B6B"/>
                </a:solidFill>
                <a:effectLst/>
                <a:uFillTx/>
                <a:latin typeface="Calibri"/>
                <a:ea typeface="Calibri"/>
              </a:rPr>
              <a:t>Total_Exclusion_Area</a:t>
            </a:r>
            <a:endParaRPr lang="de-DE" sz="1400" b="0" u="none" strike="noStrike" dirty="0">
              <a:solidFill>
                <a:srgbClr val="000000"/>
              </a:solidFill>
              <a:effectLst/>
              <a:uFillTx/>
              <a:latin typeface="Arial"/>
            </a:endParaRPr>
          </a:p>
        </p:txBody>
      </p:sp>
      <p:sp>
        <p:nvSpPr>
          <p:cNvPr id="213" name="Shape 42"/>
          <p:cNvSpPr/>
          <p:nvPr/>
        </p:nvSpPr>
        <p:spPr>
          <a:xfrm>
            <a:off x="548640" y="5440680"/>
            <a:ext cx="7709040" cy="1050840"/>
          </a:xfrm>
          <a:prstGeom prst="roundRect">
            <a:avLst>
              <a:gd name="adj" fmla="val 6957"/>
            </a:avLst>
          </a:prstGeom>
          <a:solidFill>
            <a:srgbClr val="F2F5EC"/>
          </a:solidFill>
          <a:ln w="12600">
            <a:solidFill>
              <a:srgbClr val="C9D3B8"/>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de-DE" sz="1800" b="0" u="none" strike="noStrike">
              <a:solidFill>
                <a:srgbClr val="000000"/>
              </a:solidFill>
              <a:effectLst/>
              <a:uFillTx/>
              <a:latin typeface="Arial"/>
            </a:endParaRPr>
          </a:p>
        </p:txBody>
      </p:sp>
      <p:sp>
        <p:nvSpPr>
          <p:cNvPr id="214" name="Text 103"/>
          <p:cNvSpPr/>
          <p:nvPr/>
        </p:nvSpPr>
        <p:spPr>
          <a:xfrm>
            <a:off x="548640" y="5613120"/>
            <a:ext cx="7495920" cy="5479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b">
            <a:noAutofit/>
          </a:bodyPr>
          <a:lstStyle/>
          <a:p>
            <a:pPr algn="ctr" defTabSz="914400">
              <a:lnSpc>
                <a:spcPct val="100000"/>
              </a:lnSpc>
              <a:spcBef>
                <a:spcPts val="1191"/>
              </a:spcBef>
              <a:spcAft>
                <a:spcPts val="992"/>
              </a:spcAft>
              <a:tabLst>
                <a:tab pos="0" algn="l"/>
              </a:tabLst>
            </a:pPr>
            <a:r>
              <a:rPr lang="en-US" sz="3000" b="1" u="none" strike="noStrike">
                <a:solidFill>
                  <a:srgbClr val="2C3F2B"/>
                </a:solidFill>
                <a:effectLst/>
                <a:uFillTx/>
                <a:latin typeface="Cambria"/>
                <a:ea typeface="Cambria"/>
              </a:rPr>
              <a:t>One feature-a single MultiPolygon object </a:t>
            </a:r>
            <a:endParaRPr lang="de-DE" sz="3000" b="0" u="none" strike="noStrike">
              <a:solidFill>
                <a:srgbClr val="000000"/>
              </a:solidFill>
              <a:effectLst/>
              <a:uFillTx/>
              <a:latin typeface="Arial"/>
            </a:endParaRPr>
          </a:p>
        </p:txBody>
      </p:sp>
      <p:sp>
        <p:nvSpPr>
          <p:cNvPr id="215" name="Text 104"/>
          <p:cNvSpPr/>
          <p:nvPr/>
        </p:nvSpPr>
        <p:spPr>
          <a:xfrm>
            <a:off x="548640" y="6108120"/>
            <a:ext cx="6034320" cy="319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endParaRPr lang="de-DE" sz="1800" b="0" u="none" strike="noStrike">
              <a:solidFill>
                <a:srgbClr val="000000"/>
              </a:solidFill>
              <a:effectLst/>
              <a:uFillTx/>
              <a:latin typeface="Arial"/>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213720"/>
        </a:solidFill>
        <a:effectLst/>
      </p:bgPr>
    </p:bg>
    <p:spTree>
      <p:nvGrpSpPr>
        <p:cNvPr id="1" name=""/>
        <p:cNvGrpSpPr/>
        <p:nvPr/>
      </p:nvGrpSpPr>
      <p:grpSpPr>
        <a:xfrm>
          <a:off x="0" y="0"/>
          <a:ext cx="0" cy="0"/>
          <a:chOff x="0" y="0"/>
          <a:chExt cx="0" cy="0"/>
        </a:xfrm>
      </p:grpSpPr>
      <p:sp>
        <p:nvSpPr>
          <p:cNvPr id="216" name="Text 105"/>
          <p:cNvSpPr/>
          <p:nvPr/>
        </p:nvSpPr>
        <p:spPr>
          <a:xfrm>
            <a:off x="548640" y="502920"/>
            <a:ext cx="7314480" cy="5479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3000" b="1" u="none" strike="noStrike">
                <a:solidFill>
                  <a:srgbClr val="FFFFFF"/>
                </a:solidFill>
                <a:effectLst/>
                <a:uFillTx/>
                <a:latin typeface="Cambria"/>
                <a:ea typeface="Cambria"/>
              </a:rPr>
              <a:t>Results &amp; outputs</a:t>
            </a:r>
            <a:endParaRPr lang="de-DE" sz="3000" b="0" u="none" strike="noStrike">
              <a:solidFill>
                <a:srgbClr val="FFFFFF"/>
              </a:solidFill>
              <a:effectLst/>
              <a:uFillTx/>
              <a:latin typeface="Arial"/>
            </a:endParaRPr>
          </a:p>
        </p:txBody>
      </p:sp>
      <p:sp>
        <p:nvSpPr>
          <p:cNvPr id="217" name="Text 106"/>
          <p:cNvSpPr/>
          <p:nvPr/>
        </p:nvSpPr>
        <p:spPr>
          <a:xfrm>
            <a:off x="548640" y="1143000"/>
            <a:ext cx="10880640" cy="5022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20000"/>
              </a:lnSpc>
              <a:tabLst>
                <a:tab pos="0" algn="l"/>
              </a:tabLst>
            </a:pPr>
            <a:r>
              <a:rPr lang="en-US" sz="1350" b="0" u="none" strike="noStrike">
                <a:solidFill>
                  <a:srgbClr val="C9D3B8"/>
                </a:solidFill>
                <a:effectLst/>
                <a:uFillTx/>
                <a:latin typeface="Calibri"/>
                <a:ea typeface="Calibri"/>
              </a:rPr>
              <a:t>Being precise here mattered: the assignment's own '~200 km²' is a rough figure. The Frame boundary actually measures 181.78 km² — and that's the number the final percentage is built on.</a:t>
            </a:r>
            <a:endParaRPr lang="de-DE" sz="1350" b="0" u="none" strike="noStrike">
              <a:solidFill>
                <a:srgbClr val="FFFFFF"/>
              </a:solidFill>
              <a:effectLst/>
              <a:uFillTx/>
              <a:latin typeface="Arial"/>
            </a:endParaRPr>
          </a:p>
        </p:txBody>
      </p:sp>
      <p:sp>
        <p:nvSpPr>
          <p:cNvPr id="218" name="Shape 43"/>
          <p:cNvSpPr/>
          <p:nvPr/>
        </p:nvSpPr>
        <p:spPr>
          <a:xfrm>
            <a:off x="548640" y="1965960"/>
            <a:ext cx="2513880" cy="1599480"/>
          </a:xfrm>
          <a:prstGeom prst="roundRect">
            <a:avLst>
              <a:gd name="adj" fmla="val 4000"/>
            </a:avLst>
          </a:prstGeom>
          <a:solidFill>
            <a:srgbClr val="2C4229"/>
          </a:solidFill>
          <a:ln w="12600">
            <a:solidFill>
              <a:srgbClr val="3E5A3B"/>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de-DE" sz="1800" b="0" u="none" strike="noStrike">
              <a:solidFill>
                <a:srgbClr val="FFFFFF"/>
              </a:solidFill>
              <a:effectLst/>
              <a:uFillTx/>
              <a:latin typeface="Arial"/>
            </a:endParaRPr>
          </a:p>
        </p:txBody>
      </p:sp>
      <p:sp>
        <p:nvSpPr>
          <p:cNvPr id="219" name="Text 107"/>
          <p:cNvSpPr/>
          <p:nvPr/>
        </p:nvSpPr>
        <p:spPr>
          <a:xfrm>
            <a:off x="548640" y="2130480"/>
            <a:ext cx="2513880" cy="6850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2700" b="1" u="none" strike="noStrike">
                <a:solidFill>
                  <a:srgbClr val="C1652E"/>
                </a:solidFill>
                <a:effectLst/>
                <a:uFillTx/>
                <a:latin typeface="Cambria"/>
                <a:ea typeface="Cambria"/>
              </a:rPr>
              <a:t>181.78 km²</a:t>
            </a:r>
            <a:endParaRPr lang="de-DE" sz="2700" b="0" u="none" strike="noStrike">
              <a:solidFill>
                <a:srgbClr val="FFFFFF"/>
              </a:solidFill>
              <a:effectLst/>
              <a:uFillTx/>
              <a:latin typeface="Arial"/>
            </a:endParaRPr>
          </a:p>
        </p:txBody>
      </p:sp>
      <p:sp>
        <p:nvSpPr>
          <p:cNvPr id="220" name="Text 108"/>
          <p:cNvSpPr/>
          <p:nvPr/>
        </p:nvSpPr>
        <p:spPr>
          <a:xfrm>
            <a:off x="685800" y="2834640"/>
            <a:ext cx="2239560" cy="6393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15000"/>
              </a:lnSpc>
              <a:tabLst>
                <a:tab pos="0" algn="l"/>
              </a:tabLst>
            </a:pPr>
            <a:r>
              <a:rPr lang="en-US" sz="1050" b="0" u="none" strike="noStrike">
                <a:solidFill>
                  <a:srgbClr val="DCE4D5"/>
                </a:solidFill>
                <a:effectLst/>
                <a:uFillTx/>
                <a:latin typeface="Calibri"/>
                <a:ea typeface="Calibri"/>
              </a:rPr>
              <a:t>study area (Frame),</a:t>
            </a:r>
            <a:endParaRPr lang="de-DE" sz="1050" b="0" u="none" strike="noStrike">
              <a:solidFill>
                <a:srgbClr val="FFFFFF"/>
              </a:solidFill>
              <a:effectLst/>
              <a:uFillTx/>
              <a:latin typeface="Arial"/>
            </a:endParaRPr>
          </a:p>
          <a:p>
            <a:pPr algn="ctr" defTabSz="914400">
              <a:lnSpc>
                <a:spcPct val="115000"/>
              </a:lnSpc>
              <a:tabLst>
                <a:tab pos="0" algn="l"/>
              </a:tabLst>
            </a:pPr>
            <a:r>
              <a:rPr lang="en-US" sz="1050" b="0" u="none" strike="noStrike">
                <a:solidFill>
                  <a:srgbClr val="DCE4D5"/>
                </a:solidFill>
                <a:effectLst/>
                <a:uFillTx/>
                <a:latin typeface="Calibri"/>
                <a:ea typeface="Calibri"/>
              </a:rPr>
              <a:t>measured, not estimated</a:t>
            </a:r>
            <a:endParaRPr lang="de-DE" sz="1050" b="0" u="none" strike="noStrike">
              <a:solidFill>
                <a:srgbClr val="FFFFFF"/>
              </a:solidFill>
              <a:effectLst/>
              <a:uFillTx/>
              <a:latin typeface="Arial"/>
            </a:endParaRPr>
          </a:p>
        </p:txBody>
      </p:sp>
      <p:sp>
        <p:nvSpPr>
          <p:cNvPr id="221" name="Shape 44"/>
          <p:cNvSpPr/>
          <p:nvPr/>
        </p:nvSpPr>
        <p:spPr>
          <a:xfrm>
            <a:off x="3264480" y="1965960"/>
            <a:ext cx="2513880" cy="1599480"/>
          </a:xfrm>
          <a:prstGeom prst="roundRect">
            <a:avLst>
              <a:gd name="adj" fmla="val 4000"/>
            </a:avLst>
          </a:prstGeom>
          <a:solidFill>
            <a:srgbClr val="2C4229"/>
          </a:solidFill>
          <a:ln w="12600">
            <a:solidFill>
              <a:srgbClr val="3E5A3B"/>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de-DE" sz="1800" b="0" u="none" strike="noStrike">
              <a:solidFill>
                <a:srgbClr val="FFFFFF"/>
              </a:solidFill>
              <a:effectLst/>
              <a:uFillTx/>
              <a:latin typeface="Arial"/>
            </a:endParaRPr>
          </a:p>
        </p:txBody>
      </p:sp>
      <p:sp>
        <p:nvSpPr>
          <p:cNvPr id="222" name="Text 109"/>
          <p:cNvSpPr/>
          <p:nvPr/>
        </p:nvSpPr>
        <p:spPr>
          <a:xfrm>
            <a:off x="3264480" y="2130480"/>
            <a:ext cx="2513880" cy="6850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2700" b="1" u="none" strike="noStrike">
                <a:solidFill>
                  <a:srgbClr val="C1652E"/>
                </a:solidFill>
                <a:effectLst/>
                <a:uFillTx/>
                <a:latin typeface="Cambria"/>
                <a:ea typeface="Cambria"/>
              </a:rPr>
              <a:t>96.4%</a:t>
            </a:r>
            <a:endParaRPr lang="de-DE" sz="2700" b="0" u="none" strike="noStrike">
              <a:solidFill>
                <a:srgbClr val="FFFFFF"/>
              </a:solidFill>
              <a:effectLst/>
              <a:uFillTx/>
              <a:latin typeface="Arial"/>
            </a:endParaRPr>
          </a:p>
        </p:txBody>
      </p:sp>
      <p:sp>
        <p:nvSpPr>
          <p:cNvPr id="223" name="Text 110"/>
          <p:cNvSpPr/>
          <p:nvPr/>
        </p:nvSpPr>
        <p:spPr>
          <a:xfrm>
            <a:off x="3401640" y="2834640"/>
            <a:ext cx="2239560" cy="6393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15000"/>
              </a:lnSpc>
              <a:tabLst>
                <a:tab pos="0" algn="l"/>
              </a:tabLst>
            </a:pPr>
            <a:r>
              <a:rPr lang="en-US" sz="1050" b="0" u="none" strike="noStrike">
                <a:solidFill>
                  <a:srgbClr val="DCE4D5"/>
                </a:solidFill>
                <a:effectLst/>
                <a:uFillTx/>
                <a:latin typeface="Calibri"/>
                <a:ea typeface="Calibri"/>
              </a:rPr>
              <a:t>of the area excluded</a:t>
            </a:r>
            <a:endParaRPr lang="de-DE" sz="1050" b="0" u="none" strike="noStrike">
              <a:solidFill>
                <a:srgbClr val="FFFFFF"/>
              </a:solidFill>
              <a:effectLst/>
              <a:uFillTx/>
              <a:latin typeface="Arial"/>
            </a:endParaRPr>
          </a:p>
          <a:p>
            <a:pPr algn="ctr" defTabSz="914400">
              <a:lnSpc>
                <a:spcPct val="115000"/>
              </a:lnSpc>
              <a:tabLst>
                <a:tab pos="0" algn="l"/>
              </a:tabLst>
            </a:pPr>
            <a:r>
              <a:rPr lang="en-US" sz="1050" b="0" u="none" strike="noStrike">
                <a:solidFill>
                  <a:srgbClr val="DCE4D5"/>
                </a:solidFill>
                <a:effectLst/>
                <a:uFillTx/>
                <a:latin typeface="Calibri"/>
                <a:ea typeface="Calibri"/>
              </a:rPr>
              <a:t>once every buffer applies</a:t>
            </a:r>
            <a:endParaRPr lang="de-DE" sz="1050" b="0" u="none" strike="noStrike">
              <a:solidFill>
                <a:srgbClr val="FFFFFF"/>
              </a:solidFill>
              <a:effectLst/>
              <a:uFillTx/>
              <a:latin typeface="Arial"/>
            </a:endParaRPr>
          </a:p>
        </p:txBody>
      </p:sp>
      <p:sp>
        <p:nvSpPr>
          <p:cNvPr id="224" name="Shape 45"/>
          <p:cNvSpPr/>
          <p:nvPr/>
        </p:nvSpPr>
        <p:spPr>
          <a:xfrm>
            <a:off x="5980320" y="1965960"/>
            <a:ext cx="2513880" cy="1599480"/>
          </a:xfrm>
          <a:prstGeom prst="roundRect">
            <a:avLst>
              <a:gd name="adj" fmla="val 4000"/>
            </a:avLst>
          </a:prstGeom>
          <a:solidFill>
            <a:srgbClr val="2C4229"/>
          </a:solidFill>
          <a:ln w="12600">
            <a:solidFill>
              <a:srgbClr val="3E5A3B"/>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de-DE" sz="1800" b="0" u="none" strike="noStrike">
              <a:solidFill>
                <a:srgbClr val="FFFFFF"/>
              </a:solidFill>
              <a:effectLst/>
              <a:uFillTx/>
              <a:latin typeface="Arial"/>
            </a:endParaRPr>
          </a:p>
        </p:txBody>
      </p:sp>
      <p:sp>
        <p:nvSpPr>
          <p:cNvPr id="225" name="Text 111"/>
          <p:cNvSpPr/>
          <p:nvPr/>
        </p:nvSpPr>
        <p:spPr>
          <a:xfrm>
            <a:off x="5980320" y="2130480"/>
            <a:ext cx="2513880" cy="6850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2700" b="1" u="none" strike="noStrike">
                <a:solidFill>
                  <a:srgbClr val="C1652E"/>
                </a:solidFill>
                <a:effectLst/>
                <a:uFillTx/>
                <a:latin typeface="Cambria"/>
                <a:ea typeface="Cambria"/>
              </a:rPr>
              <a:t>658 ha</a:t>
            </a:r>
            <a:endParaRPr lang="de-DE" sz="2700" b="0" u="none" strike="noStrike">
              <a:solidFill>
                <a:srgbClr val="FFFFFF"/>
              </a:solidFill>
              <a:effectLst/>
              <a:uFillTx/>
              <a:latin typeface="Arial"/>
            </a:endParaRPr>
          </a:p>
        </p:txBody>
      </p:sp>
      <p:sp>
        <p:nvSpPr>
          <p:cNvPr id="226" name="Text 112"/>
          <p:cNvSpPr/>
          <p:nvPr/>
        </p:nvSpPr>
        <p:spPr>
          <a:xfrm>
            <a:off x="6117480" y="2834640"/>
            <a:ext cx="2239560" cy="6393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15000"/>
              </a:lnSpc>
              <a:tabLst>
                <a:tab pos="0" algn="l"/>
              </a:tabLst>
            </a:pPr>
            <a:r>
              <a:rPr lang="en-US" sz="1050" b="0" u="none" strike="noStrike">
                <a:solidFill>
                  <a:srgbClr val="DCE4D5"/>
                </a:solidFill>
                <a:effectLst/>
                <a:uFillTx/>
                <a:latin typeface="Calibri"/>
                <a:ea typeface="Calibri"/>
              </a:rPr>
              <a:t>left over — scattered</a:t>
            </a:r>
            <a:endParaRPr lang="de-DE" sz="1050" b="0" u="none" strike="noStrike">
              <a:solidFill>
                <a:srgbClr val="FFFFFF"/>
              </a:solidFill>
              <a:effectLst/>
              <a:uFillTx/>
              <a:latin typeface="Arial"/>
            </a:endParaRPr>
          </a:p>
          <a:p>
            <a:pPr algn="ctr" defTabSz="914400">
              <a:lnSpc>
                <a:spcPct val="115000"/>
              </a:lnSpc>
              <a:tabLst>
                <a:tab pos="0" algn="l"/>
              </a:tabLst>
            </a:pPr>
            <a:r>
              <a:rPr lang="en-US" sz="1050" b="0" u="none" strike="noStrike">
                <a:solidFill>
                  <a:srgbClr val="DCE4D5"/>
                </a:solidFill>
                <a:effectLst/>
                <a:uFillTx/>
                <a:latin typeface="Calibri"/>
                <a:ea typeface="Calibri"/>
              </a:rPr>
              <a:t>candidate patches for Person 3</a:t>
            </a:r>
            <a:endParaRPr lang="de-DE" sz="1050" b="0" u="none" strike="noStrike">
              <a:solidFill>
                <a:srgbClr val="FFFFFF"/>
              </a:solidFill>
              <a:effectLst/>
              <a:uFillTx/>
              <a:latin typeface="Arial"/>
            </a:endParaRPr>
          </a:p>
        </p:txBody>
      </p:sp>
      <p:sp>
        <p:nvSpPr>
          <p:cNvPr id="227" name="Shape 46"/>
          <p:cNvSpPr/>
          <p:nvPr/>
        </p:nvSpPr>
        <p:spPr>
          <a:xfrm>
            <a:off x="8695800" y="1965960"/>
            <a:ext cx="2513880" cy="1599480"/>
          </a:xfrm>
          <a:prstGeom prst="roundRect">
            <a:avLst>
              <a:gd name="adj" fmla="val 4000"/>
            </a:avLst>
          </a:prstGeom>
          <a:solidFill>
            <a:srgbClr val="2C4229"/>
          </a:solidFill>
          <a:ln w="12600">
            <a:solidFill>
              <a:srgbClr val="3E5A3B"/>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de-DE" sz="1800" b="0" u="none" strike="noStrike">
              <a:solidFill>
                <a:srgbClr val="FFFFFF"/>
              </a:solidFill>
              <a:effectLst/>
              <a:uFillTx/>
              <a:latin typeface="Arial"/>
            </a:endParaRPr>
          </a:p>
        </p:txBody>
      </p:sp>
      <p:sp>
        <p:nvSpPr>
          <p:cNvPr id="228" name="Text 113"/>
          <p:cNvSpPr/>
          <p:nvPr/>
        </p:nvSpPr>
        <p:spPr>
          <a:xfrm>
            <a:off x="8695800" y="2130480"/>
            <a:ext cx="2513880" cy="6850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2700" b="1" u="none" strike="noStrike">
                <a:solidFill>
                  <a:srgbClr val="C1652E"/>
                </a:solidFill>
                <a:effectLst/>
                <a:uFillTx/>
                <a:latin typeface="Cambria"/>
                <a:ea typeface="Cambria"/>
              </a:rPr>
              <a:t>1</a:t>
            </a:r>
            <a:endParaRPr lang="de-DE" sz="2700" b="0" u="none" strike="noStrike">
              <a:solidFill>
                <a:srgbClr val="FFFFFF"/>
              </a:solidFill>
              <a:effectLst/>
              <a:uFillTx/>
              <a:latin typeface="Arial"/>
            </a:endParaRPr>
          </a:p>
        </p:txBody>
      </p:sp>
      <p:sp>
        <p:nvSpPr>
          <p:cNvPr id="229" name="Text 114"/>
          <p:cNvSpPr/>
          <p:nvPr/>
        </p:nvSpPr>
        <p:spPr>
          <a:xfrm>
            <a:off x="8832960" y="2834640"/>
            <a:ext cx="2239560" cy="6393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15000"/>
              </a:lnSpc>
              <a:tabLst>
                <a:tab pos="0" algn="l"/>
              </a:tabLst>
            </a:pPr>
            <a:r>
              <a:rPr lang="en-US" sz="1050" b="0" u="none" strike="noStrike">
                <a:solidFill>
                  <a:srgbClr val="DCE4D5"/>
                </a:solidFill>
                <a:effectLst/>
                <a:uFillTx/>
                <a:latin typeface="Calibri"/>
                <a:ea typeface="Calibri"/>
              </a:rPr>
              <a:t>final exclusion feature,</a:t>
            </a:r>
            <a:endParaRPr lang="de-DE" sz="1050" b="0" u="none" strike="noStrike">
              <a:solidFill>
                <a:srgbClr val="FFFFFF"/>
              </a:solidFill>
              <a:effectLst/>
              <a:uFillTx/>
              <a:latin typeface="Arial"/>
            </a:endParaRPr>
          </a:p>
          <a:p>
            <a:pPr algn="ctr" defTabSz="914400">
              <a:lnSpc>
                <a:spcPct val="115000"/>
              </a:lnSpc>
              <a:tabLst>
                <a:tab pos="0" algn="l"/>
              </a:tabLst>
            </a:pPr>
            <a:r>
              <a:rPr lang="en-US" sz="1050" b="0" u="none" strike="noStrike">
                <a:solidFill>
                  <a:srgbClr val="DCE4D5"/>
                </a:solidFill>
                <a:effectLst/>
                <a:uFillTx/>
                <a:latin typeface="Calibri"/>
                <a:ea typeface="Calibri"/>
              </a:rPr>
              <a:t>clipped to the Frame</a:t>
            </a:r>
            <a:endParaRPr lang="de-DE" sz="1050" b="0" u="none" strike="noStrike">
              <a:solidFill>
                <a:srgbClr val="FFFFFF"/>
              </a:solidFill>
              <a:effectLst/>
              <a:uFillTx/>
              <a:latin typeface="Arial"/>
            </a:endParaRPr>
          </a:p>
        </p:txBody>
      </p:sp>
      <p:sp>
        <p:nvSpPr>
          <p:cNvPr id="230" name="Text 115"/>
          <p:cNvSpPr/>
          <p:nvPr/>
        </p:nvSpPr>
        <p:spPr>
          <a:xfrm>
            <a:off x="548640" y="3886200"/>
            <a:ext cx="5485680" cy="3650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300" b="1" u="none" strike="noStrike" spc="99">
                <a:solidFill>
                  <a:srgbClr val="97BC62"/>
                </a:solidFill>
                <a:effectLst/>
                <a:uFillTx/>
                <a:latin typeface="Calibri"/>
                <a:ea typeface="Calibri"/>
              </a:rPr>
              <a:t>Files produced</a:t>
            </a:r>
            <a:endParaRPr lang="de-DE" sz="1300" b="0" u="none" strike="noStrike">
              <a:solidFill>
                <a:srgbClr val="FFFFFF"/>
              </a:solidFill>
              <a:effectLst/>
              <a:uFillTx/>
              <a:latin typeface="Arial"/>
            </a:endParaRPr>
          </a:p>
        </p:txBody>
      </p:sp>
      <p:sp>
        <p:nvSpPr>
          <p:cNvPr id="231" name="Text 116"/>
          <p:cNvSpPr/>
          <p:nvPr/>
        </p:nvSpPr>
        <p:spPr>
          <a:xfrm>
            <a:off x="548640" y="4316040"/>
            <a:ext cx="7863120" cy="328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250" b="1" u="none" strike="noStrike">
                <a:solidFill>
                  <a:srgbClr val="FFFFFF"/>
                </a:solidFill>
                <a:effectLst/>
                <a:uFillTx/>
                <a:latin typeface="Calibri"/>
                <a:ea typeface="Calibri"/>
              </a:rPr>
              <a:t>Total_Exclusion_Area.gpkg  </a:t>
            </a:r>
            <a:r>
              <a:rPr lang="en-US" sz="1250" b="0" u="none" strike="noStrike">
                <a:solidFill>
                  <a:srgbClr val="AEBFA6"/>
                </a:solidFill>
                <a:effectLst/>
                <a:uFillTx/>
                <a:latin typeface="Calibri"/>
                <a:ea typeface="Calibri"/>
              </a:rPr>
              <a:t>— final exclusion layer — main deliverable</a:t>
            </a:r>
            <a:endParaRPr lang="de-DE" sz="1250" b="0" u="none" strike="noStrike">
              <a:solidFill>
                <a:srgbClr val="FFFFFF"/>
              </a:solidFill>
              <a:effectLst/>
              <a:uFillTx/>
              <a:latin typeface="Arial"/>
            </a:endParaRPr>
          </a:p>
        </p:txBody>
      </p:sp>
      <p:sp>
        <p:nvSpPr>
          <p:cNvPr id="232" name="Text 117"/>
          <p:cNvSpPr/>
          <p:nvPr/>
        </p:nvSpPr>
        <p:spPr>
          <a:xfrm>
            <a:off x="548640" y="4681800"/>
            <a:ext cx="7863120" cy="328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250" b="1" u="none" strike="noStrike">
                <a:solidFill>
                  <a:srgbClr val="FFFFFF"/>
                </a:solidFill>
                <a:effectLst/>
                <a:uFillTx/>
                <a:latin typeface="Calibri"/>
                <a:ea typeface="Calibri"/>
              </a:rPr>
              <a:t>Buffer.gpkg  </a:t>
            </a:r>
            <a:r>
              <a:rPr lang="en-US" sz="1250" b="0" u="none" strike="noStrike">
                <a:solidFill>
                  <a:srgbClr val="AEBFA6"/>
                </a:solidFill>
                <a:effectLst/>
                <a:uFillTx/>
                <a:latin typeface="Calibri"/>
                <a:ea typeface="Calibri"/>
              </a:rPr>
              <a:t>— all 11 buffers + merged/dissolved intermediates, kept for traceability</a:t>
            </a:r>
            <a:endParaRPr lang="de-DE" sz="1250" b="0" u="none" strike="noStrike">
              <a:solidFill>
                <a:srgbClr val="FFFFFF"/>
              </a:solidFill>
              <a:effectLst/>
              <a:uFillTx/>
              <a:latin typeface="Arial"/>
            </a:endParaRPr>
          </a:p>
        </p:txBody>
      </p:sp>
      <p:sp>
        <p:nvSpPr>
          <p:cNvPr id="233" name="Text 118"/>
          <p:cNvSpPr/>
          <p:nvPr/>
        </p:nvSpPr>
        <p:spPr>
          <a:xfrm>
            <a:off x="548640" y="5047560"/>
            <a:ext cx="7863120" cy="328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250" b="1" u="none" strike="noStrike">
                <a:solidFill>
                  <a:srgbClr val="FFFFFF"/>
                </a:solidFill>
                <a:effectLst/>
                <a:uFillTx/>
                <a:latin typeface="Calibri"/>
                <a:ea typeface="Calibri"/>
              </a:rPr>
              <a:t>Altwasser.gpkg / Luftbild_georef.tif  </a:t>
            </a:r>
            <a:r>
              <a:rPr lang="en-US" sz="1250" b="0" u="none" strike="noStrike">
                <a:solidFill>
                  <a:srgbClr val="AEBFA6"/>
                </a:solidFill>
                <a:effectLst/>
                <a:uFillTx/>
                <a:latin typeface="Calibri"/>
                <a:ea typeface="Calibri"/>
              </a:rPr>
              <a:t>— carried over from Person 1</a:t>
            </a:r>
            <a:endParaRPr lang="de-DE" sz="1250" b="0" u="none" strike="noStrike">
              <a:solidFill>
                <a:srgbClr val="FFFFFF"/>
              </a:solidFill>
              <a:effectLst/>
              <a:uFillTx/>
              <a:latin typeface="Arial"/>
            </a:endParaRPr>
          </a:p>
        </p:txBody>
      </p:sp>
      <p:sp>
        <p:nvSpPr>
          <p:cNvPr id="234" name="Shape 6"/>
          <p:cNvSpPr/>
          <p:nvPr/>
        </p:nvSpPr>
        <p:spPr>
          <a:xfrm>
            <a:off x="11045880" y="305280"/>
            <a:ext cx="566280" cy="566280"/>
          </a:xfrm>
          <a:prstGeom prst="ellipse">
            <a:avLst/>
          </a:prstGeom>
          <a:solidFill>
            <a:srgbClr val="C1652E"/>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de-DE" sz="1800" b="0" u="none" strike="noStrike">
              <a:solidFill>
                <a:srgbClr val="FFFFFF"/>
              </a:solidFill>
              <a:effectLst/>
              <a:uFillTx/>
              <a:latin typeface="Arial"/>
            </a:endParaRPr>
          </a:p>
        </p:txBody>
      </p:sp>
      <p:sp>
        <p:nvSpPr>
          <p:cNvPr id="235" name="Text 25"/>
          <p:cNvSpPr/>
          <p:nvPr/>
        </p:nvSpPr>
        <p:spPr>
          <a:xfrm>
            <a:off x="11045880" y="305280"/>
            <a:ext cx="566280" cy="5662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2200" b="1" u="none" strike="noStrike">
                <a:solidFill>
                  <a:srgbClr val="FFFFFF"/>
                </a:solidFill>
                <a:effectLst/>
                <a:uFillTx/>
                <a:latin typeface="Calibri"/>
                <a:ea typeface="Calibri"/>
              </a:rPr>
              <a:t>5</a:t>
            </a:r>
            <a:endParaRPr lang="de-DE" sz="2200" b="0" u="none" strike="noStrike">
              <a:solidFill>
                <a:srgbClr val="FFFFFF"/>
              </a:solidFill>
              <a:effectLst/>
              <a:uFillTx/>
              <a:latin typeface="Arial"/>
            </a:endParaRPr>
          </a:p>
        </p:txBody>
      </p:sp>
      <p:sp>
        <p:nvSpPr>
          <p:cNvPr id="236" name="Hộp Văn bản 235"/>
          <p:cNvSpPr txBox="1"/>
          <p:nvPr/>
        </p:nvSpPr>
        <p:spPr>
          <a:xfrm>
            <a:off x="9767880" y="363240"/>
            <a:ext cx="1109880" cy="230760"/>
          </a:xfrm>
          <a:prstGeom prst="rect">
            <a:avLst/>
          </a:prstGeom>
          <a:noFill/>
          <a:ln w="0">
            <a:noFill/>
          </a:ln>
        </p:spPr>
        <p:txBody>
          <a:bodyPr lIns="90000" tIns="45000" rIns="90000" bIns="45000" anchor="t">
            <a:spAutoFit/>
          </a:bodyPr>
          <a:lstStyle/>
          <a:p>
            <a:r>
              <a:rPr lang="en-US" sz="1100" b="1" u="none" strike="noStrike" spc="201">
                <a:solidFill>
                  <a:srgbClr val="C1652E"/>
                </a:solidFill>
                <a:effectLst/>
                <a:uFillTx/>
                <a:latin typeface="Calibri"/>
                <a:ea typeface="Calibri"/>
              </a:rPr>
              <a:t>STEP 5 OF 5</a:t>
            </a:r>
            <a:endParaRPr lang="de-DE" sz="1100" b="0" u="none" strike="noStrike">
              <a:solidFill>
                <a:srgbClr val="FFFFFF"/>
              </a:solidFill>
              <a:effectLst/>
              <a:uFillTx/>
              <a:latin typeface="Arial"/>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37" name="Text 41"/>
          <p:cNvSpPr/>
          <p:nvPr/>
        </p:nvSpPr>
        <p:spPr>
          <a:xfrm>
            <a:off x="548640" y="457200"/>
            <a:ext cx="8228880" cy="5022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2700" b="1" u="none" strike="noStrike">
                <a:solidFill>
                  <a:srgbClr val="2C3F2B"/>
                </a:solidFill>
                <a:effectLst/>
                <a:uFillTx/>
                <a:latin typeface="Cambria"/>
                <a:ea typeface="Cambria"/>
              </a:rPr>
              <a:t>Key expressions &amp; formulas</a:t>
            </a:r>
            <a:endParaRPr lang="de-DE" sz="2700" b="0" u="none" strike="noStrike">
              <a:solidFill>
                <a:srgbClr val="000000"/>
              </a:solidFill>
              <a:effectLst/>
              <a:uFillTx/>
              <a:latin typeface="Arial"/>
            </a:endParaRPr>
          </a:p>
        </p:txBody>
      </p:sp>
      <p:sp>
        <p:nvSpPr>
          <p:cNvPr id="238" name="Text 42"/>
          <p:cNvSpPr/>
          <p:nvPr/>
        </p:nvSpPr>
        <p:spPr>
          <a:xfrm>
            <a:off x="548640" y="960120"/>
            <a:ext cx="8228880" cy="319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300" b="0" i="1" u="none" strike="noStrike">
                <a:solidFill>
                  <a:srgbClr val="5C6B57"/>
                </a:solidFill>
                <a:effectLst/>
                <a:uFillTx/>
                <a:latin typeface="Calibri"/>
                <a:ea typeface="Calibri"/>
              </a:rPr>
              <a:t>Copy-ready, and verified against the data before use</a:t>
            </a:r>
            <a:endParaRPr lang="de-DE" sz="1300" b="0" u="none" strike="noStrike">
              <a:solidFill>
                <a:srgbClr val="000000"/>
              </a:solidFill>
              <a:effectLst/>
              <a:uFillTx/>
              <a:latin typeface="Arial"/>
            </a:endParaRPr>
          </a:p>
        </p:txBody>
      </p:sp>
      <p:sp>
        <p:nvSpPr>
          <p:cNvPr id="239" name="Shape 21"/>
          <p:cNvSpPr/>
          <p:nvPr/>
        </p:nvSpPr>
        <p:spPr>
          <a:xfrm>
            <a:off x="548640" y="1417320"/>
            <a:ext cx="6262920" cy="2148120"/>
          </a:xfrm>
          <a:prstGeom prst="roundRect">
            <a:avLst>
              <a:gd name="adj" fmla="val 2553"/>
            </a:avLst>
          </a:prstGeom>
          <a:solidFill>
            <a:srgbClr val="F5F5F0"/>
          </a:solidFill>
          <a:ln w="12700">
            <a:solidFill>
              <a:srgbClr val="C9D3B8"/>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de-DE" sz="1800" b="0" u="none" strike="noStrike">
              <a:solidFill>
                <a:srgbClr val="000000"/>
              </a:solidFill>
              <a:effectLst/>
              <a:uFillTx/>
              <a:latin typeface="Arial"/>
            </a:endParaRPr>
          </a:p>
        </p:txBody>
      </p:sp>
      <p:sp>
        <p:nvSpPr>
          <p:cNvPr id="240" name="Text 46"/>
          <p:cNvSpPr/>
          <p:nvPr/>
        </p:nvSpPr>
        <p:spPr>
          <a:xfrm>
            <a:off x="713160" y="1508760"/>
            <a:ext cx="5933880" cy="273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150" b="1" u="none" strike="noStrike">
                <a:solidFill>
                  <a:srgbClr val="2C3F2B"/>
                </a:solidFill>
                <a:effectLst/>
                <a:uFillTx/>
                <a:latin typeface="Calibri"/>
                <a:ea typeface="Calibri"/>
              </a:rPr>
              <a:t>1 · Selection expressions</a:t>
            </a:r>
            <a:endParaRPr lang="de-DE" sz="1150" b="0" u="none" strike="noStrike">
              <a:solidFill>
                <a:srgbClr val="000000"/>
              </a:solidFill>
              <a:effectLst/>
              <a:uFillTx/>
              <a:latin typeface="Arial"/>
            </a:endParaRPr>
          </a:p>
        </p:txBody>
      </p:sp>
      <p:sp>
        <p:nvSpPr>
          <p:cNvPr id="241" name="Text 47"/>
          <p:cNvSpPr/>
          <p:nvPr/>
        </p:nvSpPr>
        <p:spPr>
          <a:xfrm>
            <a:off x="713160" y="1801440"/>
            <a:ext cx="5933880" cy="16452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20000"/>
              </a:lnSpc>
              <a:tabLst>
                <a:tab pos="0" algn="l"/>
              </a:tabLst>
            </a:pPr>
            <a:r>
              <a:rPr lang="en-US" sz="1050" b="0" u="none" strike="noStrike">
                <a:solidFill>
                  <a:srgbClr val="2B2B2B"/>
                </a:solidFill>
                <a:effectLst/>
                <a:uFillTx/>
                <a:latin typeface="Consolas"/>
                <a:ea typeface="Consolas"/>
              </a:rPr>
              <a:t>"typ" = 'Kreisstraße'                                    → 15 m</a:t>
            </a:r>
            <a:endParaRPr lang="de-DE" sz="1050" b="0" u="none" strike="noStrike">
              <a:solidFill>
                <a:srgbClr val="000000"/>
              </a:solidFill>
              <a:effectLst/>
              <a:uFillTx/>
              <a:latin typeface="Arial"/>
            </a:endParaRPr>
          </a:p>
          <a:p>
            <a:pPr defTabSz="914400">
              <a:lnSpc>
                <a:spcPct val="120000"/>
              </a:lnSpc>
              <a:tabLst>
                <a:tab pos="0" algn="l"/>
              </a:tabLst>
            </a:pPr>
            <a:r>
              <a:rPr lang="en-US" sz="1050" b="0" u="none" strike="noStrike">
                <a:solidFill>
                  <a:srgbClr val="2B2B2B"/>
                </a:solidFill>
                <a:effectLst/>
                <a:uFillTx/>
                <a:latin typeface="Consolas"/>
                <a:ea typeface="Consolas"/>
              </a:rPr>
              <a:t>"typ" IN ('Bundestraße','Landesstraße, Staatsstraße')    → 20 m</a:t>
            </a:r>
            <a:endParaRPr lang="de-DE" sz="1050" b="0" u="none" strike="noStrike">
              <a:solidFill>
                <a:srgbClr val="000000"/>
              </a:solidFill>
              <a:effectLst/>
              <a:uFillTx/>
              <a:latin typeface="Arial"/>
            </a:endParaRPr>
          </a:p>
          <a:p>
            <a:pPr defTabSz="914400">
              <a:lnSpc>
                <a:spcPct val="120000"/>
              </a:lnSpc>
              <a:tabLst>
                <a:tab pos="0" algn="l"/>
              </a:tabLst>
            </a:pPr>
            <a:r>
              <a:rPr lang="en-US" sz="1050" b="0" u="none" strike="noStrike">
                <a:solidFill>
                  <a:srgbClr val="2B2B2B"/>
                </a:solidFill>
                <a:effectLst/>
                <a:uFillTx/>
                <a:latin typeface="Consolas"/>
                <a:ea typeface="Consolas"/>
              </a:rPr>
              <a:t>"typ" = 'Bundesautobahn'                                 → 40 m</a:t>
            </a:r>
            <a:endParaRPr lang="de-DE" sz="1050" b="0" u="none" strike="noStrike">
              <a:solidFill>
                <a:srgbClr val="000000"/>
              </a:solidFill>
              <a:effectLst/>
              <a:uFillTx/>
              <a:latin typeface="Arial"/>
            </a:endParaRPr>
          </a:p>
          <a:p>
            <a:pPr defTabSz="914400">
              <a:lnSpc>
                <a:spcPct val="120000"/>
              </a:lnSpc>
              <a:tabLst>
                <a:tab pos="0" algn="l"/>
              </a:tabLst>
            </a:pPr>
            <a:r>
              <a:rPr lang="en-US" sz="1050" b="0" u="none" strike="noStrike">
                <a:solidFill>
                  <a:srgbClr val="2B2B2B"/>
                </a:solidFill>
                <a:effectLst/>
                <a:uFillTx/>
                <a:latin typeface="Consolas"/>
                <a:ea typeface="Consolas"/>
              </a:rPr>
              <a:t>"typ" = 'Wald; Forst'                                    → 200 m</a:t>
            </a:r>
            <a:endParaRPr lang="de-DE" sz="1050" b="0" u="none" strike="noStrike">
              <a:solidFill>
                <a:srgbClr val="000000"/>
              </a:solidFill>
              <a:effectLst/>
              <a:uFillTx/>
              <a:latin typeface="Arial"/>
            </a:endParaRPr>
          </a:p>
          <a:p>
            <a:pPr defTabSz="914400">
              <a:lnSpc>
                <a:spcPct val="120000"/>
              </a:lnSpc>
              <a:tabLst>
                <a:tab pos="0" algn="l"/>
              </a:tabLst>
            </a:pPr>
            <a:r>
              <a:rPr lang="en-US" sz="1050" b="0" u="none" strike="noStrike">
                <a:solidFill>
                  <a:srgbClr val="2B2B2B"/>
                </a:solidFill>
                <a:effectLst/>
                <a:uFillTx/>
                <a:latin typeface="Consolas"/>
                <a:ea typeface="Consolas"/>
              </a:rPr>
              <a:t>"typ" IN ('Indus.-Gew.-Fl.','Fl. fkt. Praeg.')           → 650 m</a:t>
            </a:r>
            <a:endParaRPr lang="de-DE" sz="1050" b="0" u="none" strike="noStrike">
              <a:solidFill>
                <a:srgbClr val="000000"/>
              </a:solidFill>
              <a:effectLst/>
              <a:uFillTx/>
              <a:latin typeface="Arial"/>
            </a:endParaRPr>
          </a:p>
          <a:p>
            <a:pPr defTabSz="914400">
              <a:lnSpc>
                <a:spcPct val="120000"/>
              </a:lnSpc>
              <a:tabLst>
                <a:tab pos="0" algn="l"/>
              </a:tabLst>
            </a:pPr>
            <a:r>
              <a:rPr lang="en-US" sz="1050" b="0" u="none" strike="noStrike">
                <a:solidFill>
                  <a:srgbClr val="2B2B2B"/>
                </a:solidFill>
                <a:effectLst/>
                <a:uFillTx/>
                <a:latin typeface="Consolas"/>
                <a:ea typeface="Consolas"/>
              </a:rPr>
              <a:t>"typ" = 'Siedlungsflaeche'                              → extract</a:t>
            </a:r>
            <a:endParaRPr lang="de-DE" sz="1050" b="0" u="none" strike="noStrike">
              <a:solidFill>
                <a:srgbClr val="000000"/>
              </a:solidFill>
              <a:effectLst/>
              <a:uFillTx/>
              <a:latin typeface="Arial"/>
            </a:endParaRPr>
          </a:p>
        </p:txBody>
      </p:sp>
      <p:sp>
        <p:nvSpPr>
          <p:cNvPr id="242" name="Shape 22"/>
          <p:cNvSpPr/>
          <p:nvPr/>
        </p:nvSpPr>
        <p:spPr>
          <a:xfrm>
            <a:off x="6995160" y="1417320"/>
            <a:ext cx="4617000" cy="1279440"/>
          </a:xfrm>
          <a:prstGeom prst="roundRect">
            <a:avLst>
              <a:gd name="adj" fmla="val 4286"/>
            </a:avLst>
          </a:prstGeom>
          <a:solidFill>
            <a:srgbClr val="F5F5F0"/>
          </a:solidFill>
          <a:ln w="12700">
            <a:solidFill>
              <a:srgbClr val="C9D3B8"/>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de-DE" sz="1800" b="0" u="none" strike="noStrike">
              <a:solidFill>
                <a:srgbClr val="000000"/>
              </a:solidFill>
              <a:effectLst/>
              <a:uFillTx/>
              <a:latin typeface="Arial"/>
            </a:endParaRPr>
          </a:p>
        </p:txBody>
      </p:sp>
      <p:sp>
        <p:nvSpPr>
          <p:cNvPr id="243" name="Text 48"/>
          <p:cNvSpPr/>
          <p:nvPr/>
        </p:nvSpPr>
        <p:spPr>
          <a:xfrm>
            <a:off x="7159680" y="1508760"/>
            <a:ext cx="4287960" cy="273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150" b="1" u="none" strike="noStrike">
                <a:solidFill>
                  <a:srgbClr val="2C3F2B"/>
                </a:solidFill>
                <a:effectLst/>
                <a:uFillTx/>
                <a:latin typeface="Calibri"/>
                <a:ea typeface="Calibri"/>
              </a:rPr>
              <a:t>2 · Spatial split (Extract by location)</a:t>
            </a:r>
            <a:endParaRPr lang="de-DE" sz="1150" b="0" u="none" strike="noStrike">
              <a:solidFill>
                <a:srgbClr val="000000"/>
              </a:solidFill>
              <a:effectLst/>
              <a:uFillTx/>
              <a:latin typeface="Arial"/>
            </a:endParaRPr>
          </a:p>
        </p:txBody>
      </p:sp>
      <p:sp>
        <p:nvSpPr>
          <p:cNvPr id="244" name="Text 49"/>
          <p:cNvSpPr/>
          <p:nvPr/>
        </p:nvSpPr>
        <p:spPr>
          <a:xfrm>
            <a:off x="7159680" y="1801440"/>
            <a:ext cx="4287960" cy="776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20000"/>
              </a:lnSpc>
              <a:tabLst>
                <a:tab pos="0" algn="l"/>
              </a:tabLst>
            </a:pPr>
            <a:r>
              <a:rPr lang="en-US" sz="1050" b="0" u="none" strike="noStrike">
                <a:solidFill>
                  <a:srgbClr val="2B2B2B"/>
                </a:solidFill>
                <a:effectLst/>
                <a:uFillTx/>
                <a:latin typeface="Consolas"/>
                <a:ea typeface="Consolas"/>
              </a:rPr>
              <a:t>Siedlungsflaeche ∩ Ortslagen   (intersects) → 650 m</a:t>
            </a:r>
            <a:endParaRPr lang="de-DE" sz="1050" b="0" u="none" strike="noStrike">
              <a:solidFill>
                <a:srgbClr val="000000"/>
              </a:solidFill>
              <a:effectLst/>
              <a:uFillTx/>
              <a:latin typeface="Arial"/>
            </a:endParaRPr>
          </a:p>
          <a:p>
            <a:pPr defTabSz="914400">
              <a:lnSpc>
                <a:spcPct val="120000"/>
              </a:lnSpc>
              <a:tabLst>
                <a:tab pos="0" algn="l"/>
              </a:tabLst>
            </a:pPr>
            <a:r>
              <a:rPr lang="en-US" sz="1050" b="0" u="none" strike="noStrike">
                <a:solidFill>
                  <a:srgbClr val="2B2B2B"/>
                </a:solidFill>
                <a:effectLst/>
                <a:uFillTx/>
                <a:latin typeface="Consolas"/>
                <a:ea typeface="Consolas"/>
              </a:rPr>
              <a:t>Siedlungsflaeche \ Ortslagen   (disjoint)   → 450 m</a:t>
            </a:r>
            <a:endParaRPr lang="de-DE" sz="1050" b="0" u="none" strike="noStrike">
              <a:solidFill>
                <a:srgbClr val="000000"/>
              </a:solidFill>
              <a:effectLst/>
              <a:uFillTx/>
              <a:latin typeface="Arial"/>
            </a:endParaRPr>
          </a:p>
        </p:txBody>
      </p:sp>
      <p:sp>
        <p:nvSpPr>
          <p:cNvPr id="245" name="Shape 23"/>
          <p:cNvSpPr/>
          <p:nvPr/>
        </p:nvSpPr>
        <p:spPr>
          <a:xfrm>
            <a:off x="6995160" y="2880360"/>
            <a:ext cx="4617000" cy="1416600"/>
          </a:xfrm>
          <a:prstGeom prst="roundRect">
            <a:avLst>
              <a:gd name="adj" fmla="val 3871"/>
            </a:avLst>
          </a:prstGeom>
          <a:solidFill>
            <a:srgbClr val="F5F5F0"/>
          </a:solidFill>
          <a:ln w="12700">
            <a:solidFill>
              <a:srgbClr val="C9D3B8"/>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de-DE" sz="1800" b="0" u="none" strike="noStrike">
              <a:solidFill>
                <a:srgbClr val="000000"/>
              </a:solidFill>
              <a:effectLst/>
              <a:uFillTx/>
              <a:latin typeface="Arial"/>
            </a:endParaRPr>
          </a:p>
        </p:txBody>
      </p:sp>
      <p:sp>
        <p:nvSpPr>
          <p:cNvPr id="246" name="Text 50"/>
          <p:cNvSpPr/>
          <p:nvPr/>
        </p:nvSpPr>
        <p:spPr>
          <a:xfrm>
            <a:off x="7159680" y="2971800"/>
            <a:ext cx="4287960" cy="273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150" b="1" u="none" strike="noStrike">
                <a:solidFill>
                  <a:srgbClr val="2C3F2B"/>
                </a:solidFill>
                <a:effectLst/>
                <a:uFillTx/>
                <a:latin typeface="Calibri"/>
                <a:ea typeface="Calibri"/>
              </a:rPr>
              <a:t>3 · Area &amp; exclusion rate</a:t>
            </a:r>
            <a:endParaRPr lang="de-DE" sz="1150" b="0" u="none" strike="noStrike">
              <a:solidFill>
                <a:srgbClr val="000000"/>
              </a:solidFill>
              <a:effectLst/>
              <a:uFillTx/>
              <a:latin typeface="Arial"/>
            </a:endParaRPr>
          </a:p>
        </p:txBody>
      </p:sp>
      <p:sp>
        <p:nvSpPr>
          <p:cNvPr id="247" name="Text 51"/>
          <p:cNvSpPr/>
          <p:nvPr/>
        </p:nvSpPr>
        <p:spPr>
          <a:xfrm>
            <a:off x="7159680" y="3264480"/>
            <a:ext cx="4287960" cy="913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20000"/>
              </a:lnSpc>
              <a:tabLst>
                <a:tab pos="0" algn="l"/>
              </a:tabLst>
            </a:pPr>
            <a:r>
              <a:rPr lang="en-US" sz="1050" b="0" u="none" strike="noStrike">
                <a:solidFill>
                  <a:srgbClr val="2B2B2B"/>
                </a:solidFill>
                <a:effectLst/>
                <a:uFillTx/>
                <a:latin typeface="Consolas"/>
                <a:ea typeface="Consolas"/>
              </a:rPr>
              <a:t>A_ha = $area / 10000</a:t>
            </a:r>
            <a:endParaRPr lang="de-DE" sz="1050" b="0" u="none" strike="noStrike">
              <a:solidFill>
                <a:srgbClr val="000000"/>
              </a:solidFill>
              <a:effectLst/>
              <a:uFillTx/>
              <a:latin typeface="Arial"/>
            </a:endParaRPr>
          </a:p>
          <a:p>
            <a:pPr defTabSz="914400">
              <a:lnSpc>
                <a:spcPct val="120000"/>
              </a:lnSpc>
              <a:tabLst>
                <a:tab pos="0" algn="l"/>
              </a:tabLst>
            </a:pPr>
            <a:r>
              <a:rPr lang="en-US" sz="1050" b="0" u="none" strike="noStrike">
                <a:solidFill>
                  <a:srgbClr val="2B2B2B"/>
                </a:solidFill>
                <a:effectLst/>
                <a:uFillTx/>
                <a:latin typeface="Consolas"/>
                <a:ea typeface="Consolas"/>
              </a:rPr>
              <a:t>P_ex = (17,519.48 / 18,177.8) × 100 ≈ 96.4%</a:t>
            </a:r>
            <a:endParaRPr lang="de-DE" sz="1050" b="0" u="none" strike="noStrike">
              <a:solidFill>
                <a:srgbClr val="000000"/>
              </a:solidFill>
              <a:effectLst/>
              <a:uFillTx/>
              <a:latin typeface="Arial"/>
            </a:endParaRPr>
          </a:p>
        </p:txBody>
      </p:sp>
      <p:sp>
        <p:nvSpPr>
          <p:cNvPr id="248" name="Shape 24"/>
          <p:cNvSpPr/>
          <p:nvPr/>
        </p:nvSpPr>
        <p:spPr>
          <a:xfrm>
            <a:off x="548640" y="3749040"/>
            <a:ext cx="6262920" cy="1690920"/>
          </a:xfrm>
          <a:prstGeom prst="roundRect">
            <a:avLst>
              <a:gd name="adj" fmla="val 3243"/>
            </a:avLst>
          </a:prstGeom>
          <a:solidFill>
            <a:srgbClr val="F5F5F0"/>
          </a:solidFill>
          <a:ln w="12700">
            <a:solidFill>
              <a:srgbClr val="C9D3B8"/>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de-DE" sz="1800" b="0" u="none" strike="noStrike">
              <a:solidFill>
                <a:srgbClr val="000000"/>
              </a:solidFill>
              <a:effectLst/>
              <a:uFillTx/>
              <a:latin typeface="Arial"/>
            </a:endParaRPr>
          </a:p>
        </p:txBody>
      </p:sp>
      <p:sp>
        <p:nvSpPr>
          <p:cNvPr id="249" name="Text 58"/>
          <p:cNvSpPr/>
          <p:nvPr/>
        </p:nvSpPr>
        <p:spPr>
          <a:xfrm>
            <a:off x="713160" y="3840480"/>
            <a:ext cx="5933880" cy="273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150" b="1" u="none" strike="noStrike">
                <a:solidFill>
                  <a:srgbClr val="2C3F2B"/>
                </a:solidFill>
                <a:effectLst/>
                <a:uFillTx/>
                <a:latin typeface="Calibri"/>
                <a:ea typeface="Calibri"/>
              </a:rPr>
              <a:t>4 · Tested, then removed — no effect</a:t>
            </a:r>
            <a:endParaRPr lang="de-DE" sz="1150" b="0" u="none" strike="noStrike">
              <a:solidFill>
                <a:srgbClr val="000000"/>
              </a:solidFill>
              <a:effectLst/>
              <a:uFillTx/>
              <a:latin typeface="Arial"/>
            </a:endParaRPr>
          </a:p>
        </p:txBody>
      </p:sp>
      <p:sp>
        <p:nvSpPr>
          <p:cNvPr id="250" name="Text 59"/>
          <p:cNvSpPr/>
          <p:nvPr/>
        </p:nvSpPr>
        <p:spPr>
          <a:xfrm>
            <a:off x="713160" y="4133160"/>
            <a:ext cx="5933880" cy="11880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20000"/>
              </a:lnSpc>
              <a:tabLst>
                <a:tab pos="0" algn="l"/>
              </a:tabLst>
            </a:pPr>
            <a:r>
              <a:rPr lang="en-US" sz="1050" b="0" u="none" strike="noStrike">
                <a:solidFill>
                  <a:srgbClr val="2B2B2B"/>
                </a:solidFill>
                <a:effectLst/>
                <a:uFillTx/>
                <a:latin typeface="Consolas"/>
                <a:ea typeface="Consolas"/>
              </a:rPr>
              <a:t>$area &lt; 10,000,000</a:t>
            </a:r>
            <a:endParaRPr lang="de-DE" sz="1050" b="0" u="none" strike="noStrike">
              <a:solidFill>
                <a:srgbClr val="000000"/>
              </a:solidFill>
              <a:effectLst/>
              <a:uFillTx/>
              <a:latin typeface="Arial"/>
            </a:endParaRPr>
          </a:p>
          <a:p>
            <a:pPr defTabSz="914400">
              <a:lnSpc>
                <a:spcPct val="120000"/>
              </a:lnSpc>
              <a:tabLst>
                <a:tab pos="0" algn="l"/>
              </a:tabLst>
            </a:pPr>
            <a:r>
              <a:rPr lang="en-US" sz="1050" b="0" u="none" strike="noStrike">
                <a:solidFill>
                  <a:srgbClr val="2B2B2B"/>
                </a:solidFill>
                <a:effectLst/>
                <a:uFillTx/>
                <a:latin typeface="Consolas"/>
                <a:ea typeface="Consolas"/>
              </a:rPr>
              <a:t>→ largest forest polygon: 261.8 ha</a:t>
            </a:r>
            <a:endParaRPr lang="de-DE" sz="1050" b="0" u="none" strike="noStrike">
              <a:solidFill>
                <a:srgbClr val="000000"/>
              </a:solidFill>
              <a:effectLst/>
              <a:uFillTx/>
              <a:latin typeface="Arial"/>
            </a:endParaRPr>
          </a:p>
          <a:p>
            <a:pPr defTabSz="914400">
              <a:lnSpc>
                <a:spcPct val="120000"/>
              </a:lnSpc>
              <a:tabLst>
                <a:tab pos="0" algn="l"/>
              </a:tabLst>
            </a:pPr>
            <a:r>
              <a:rPr lang="en-US" sz="1050" b="0" u="none" strike="noStrike">
                <a:solidFill>
                  <a:srgbClr val="2B2B2B"/>
                </a:solidFill>
                <a:effectLst/>
                <a:uFillTx/>
                <a:latin typeface="Consolas"/>
                <a:ea typeface="Consolas"/>
              </a:rPr>
              <a:t>→ largest settlement polygon: 22.0 ha</a:t>
            </a:r>
            <a:endParaRPr lang="de-DE" sz="1050" b="0" u="none" strike="noStrike">
              <a:solidFill>
                <a:srgbClr val="000000"/>
              </a:solidFill>
              <a:effectLst/>
              <a:uFillTx/>
              <a:latin typeface="Arial"/>
            </a:endParaRPr>
          </a:p>
          <a:p>
            <a:pPr defTabSz="914400">
              <a:lnSpc>
                <a:spcPct val="120000"/>
              </a:lnSpc>
              <a:tabLst>
                <a:tab pos="0" algn="l"/>
              </a:tabLst>
            </a:pPr>
            <a:r>
              <a:rPr lang="en-US" sz="1050" b="0" u="none" strike="noStrike">
                <a:solidFill>
                  <a:srgbClr val="2B2B2B"/>
                </a:solidFill>
                <a:effectLst/>
                <a:uFillTx/>
                <a:latin typeface="Consolas"/>
                <a:ea typeface="Consolas"/>
              </a:rPr>
              <a:t>→ both far below the threshold, so the filter excluded nothing</a:t>
            </a:r>
            <a:endParaRPr lang="de-DE" sz="1050" b="0" u="none" strike="noStrike">
              <a:solidFill>
                <a:srgbClr val="000000"/>
              </a:solidFill>
              <a:effectLst/>
              <a:uFillTx/>
              <a:latin typeface="Arial"/>
            </a:endParaRPr>
          </a:p>
        </p:txBody>
      </p:sp>
      <p:sp>
        <p:nvSpPr>
          <p:cNvPr id="251" name="Shape 25"/>
          <p:cNvSpPr/>
          <p:nvPr/>
        </p:nvSpPr>
        <p:spPr>
          <a:xfrm>
            <a:off x="548640" y="5623560"/>
            <a:ext cx="11063520" cy="913680"/>
          </a:xfrm>
          <a:prstGeom prst="roundRect">
            <a:avLst>
              <a:gd name="adj" fmla="val 8000"/>
            </a:avLst>
          </a:prstGeom>
          <a:solidFill>
            <a:srgbClr val="F2F5EC"/>
          </a:solidFill>
          <a:ln w="12700">
            <a:solidFill>
              <a:srgbClr val="C9D3B8"/>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de-DE" sz="1800" b="0" u="none" strike="noStrike">
              <a:solidFill>
                <a:srgbClr val="000000"/>
              </a:solidFill>
              <a:effectLst/>
              <a:uFillTx/>
              <a:latin typeface="Arial"/>
            </a:endParaRPr>
          </a:p>
        </p:txBody>
      </p:sp>
      <p:sp>
        <p:nvSpPr>
          <p:cNvPr id="252" name="Text 60"/>
          <p:cNvSpPr/>
          <p:nvPr/>
        </p:nvSpPr>
        <p:spPr>
          <a:xfrm>
            <a:off x="548640" y="5733360"/>
            <a:ext cx="11063520" cy="4107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b">
            <a:noAutofit/>
          </a:bodyPr>
          <a:lstStyle/>
          <a:p>
            <a:pPr algn="ctr" defTabSz="914400">
              <a:lnSpc>
                <a:spcPct val="100000"/>
              </a:lnSpc>
              <a:tabLst>
                <a:tab pos="0" algn="l"/>
              </a:tabLst>
            </a:pPr>
            <a:r>
              <a:rPr lang="en-US" sz="3000" b="1" u="none" strike="noStrike">
                <a:solidFill>
                  <a:srgbClr val="2C3F2B"/>
                </a:solidFill>
                <a:effectLst/>
                <a:uFillTx/>
                <a:latin typeface="Cambria"/>
                <a:ea typeface="Cambria"/>
              </a:rPr>
              <a:t>Verbatim strings only</a:t>
            </a:r>
            <a:endParaRPr lang="de-DE" sz="3000" b="0" u="none" strike="noStrike">
              <a:solidFill>
                <a:srgbClr val="000000"/>
              </a:solidFill>
              <a:effectLst/>
              <a:uFillTx/>
              <a:latin typeface="Arial"/>
            </a:endParaRPr>
          </a:p>
        </p:txBody>
      </p:sp>
      <p:sp>
        <p:nvSpPr>
          <p:cNvPr id="253" name="Text 61"/>
          <p:cNvSpPr/>
          <p:nvPr/>
        </p:nvSpPr>
        <p:spPr>
          <a:xfrm>
            <a:off x="548640" y="6153840"/>
            <a:ext cx="11063520" cy="319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algn="ctr" defTabSz="914400">
              <a:lnSpc>
                <a:spcPct val="100000"/>
              </a:lnSpc>
              <a:tabLst>
                <a:tab pos="0" algn="l"/>
              </a:tabLst>
            </a:pPr>
            <a:r>
              <a:rPr lang="en-US" sz="1100" b="0" u="none" strike="noStrike">
                <a:solidFill>
                  <a:srgbClr val="5C6B57"/>
                </a:solidFill>
                <a:effectLst/>
                <a:uFillTx/>
                <a:latin typeface="Calibri"/>
                <a:ea typeface="Calibri"/>
              </a:rPr>
              <a:t>no LIKE, no wildcards, no splitting on ';' or ','</a:t>
            </a:r>
            <a:endParaRPr lang="de-DE" sz="1100" b="0" u="none" strike="noStrike">
              <a:solidFill>
                <a:srgbClr val="000000"/>
              </a:solidFill>
              <a:effectLst/>
              <a:uFillTx/>
              <a:latin typeface="Arial"/>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28">
            <a:extLst>
              <a:ext uri="{FF2B5EF4-FFF2-40B4-BE49-F238E27FC236}">
                <a16:creationId xmlns:a16="http://schemas.microsoft.com/office/drawing/2014/main" id="{A97F6D68-8C23-2DE7-E9ED-F96D3CF8446C}"/>
              </a:ext>
            </a:extLst>
          </p:cNvPr>
          <p:cNvSpPr/>
          <p:nvPr/>
        </p:nvSpPr>
        <p:spPr>
          <a:xfrm>
            <a:off x="548640" y="457200"/>
            <a:ext cx="9143280" cy="5479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3000" b="1" u="none" strike="noStrike" dirty="0">
                <a:solidFill>
                  <a:srgbClr val="2C3F2B"/>
                </a:solidFill>
                <a:effectLst/>
                <a:uFillTx/>
                <a:latin typeface="Cambria"/>
                <a:ea typeface="Cambria"/>
              </a:rPr>
              <a:t>The task, and my part in it</a:t>
            </a:r>
            <a:endParaRPr lang="de-DE" sz="3000" b="0" u="none" strike="noStrike" dirty="0">
              <a:solidFill>
                <a:srgbClr val="000000"/>
              </a:solidFill>
              <a:effectLst/>
              <a:uFillTx/>
              <a:latin typeface="Arial"/>
            </a:endParaRPr>
          </a:p>
        </p:txBody>
      </p:sp>
      <p:sp>
        <p:nvSpPr>
          <p:cNvPr id="5" name="Shape 48">
            <a:extLst>
              <a:ext uri="{FF2B5EF4-FFF2-40B4-BE49-F238E27FC236}">
                <a16:creationId xmlns:a16="http://schemas.microsoft.com/office/drawing/2014/main" id="{FF5727B4-380D-8937-77E1-C1B835300674}"/>
              </a:ext>
            </a:extLst>
          </p:cNvPr>
          <p:cNvSpPr/>
          <p:nvPr/>
        </p:nvSpPr>
        <p:spPr>
          <a:xfrm>
            <a:off x="497840" y="1352550"/>
            <a:ext cx="1992600" cy="1508040"/>
          </a:xfrm>
          <a:prstGeom prst="roundRect">
            <a:avLst>
              <a:gd name="adj" fmla="val 3636"/>
            </a:avLst>
          </a:prstGeom>
          <a:solidFill>
            <a:srgbClr val="F2F5EC"/>
          </a:solidFill>
          <a:ln w="12700">
            <a:solidFill>
              <a:srgbClr val="C9D3B8"/>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de-DE" sz="1800" b="0" u="none" strike="noStrike">
              <a:solidFill>
                <a:srgbClr val="000000"/>
              </a:solidFill>
              <a:effectLst/>
              <a:uFillTx/>
              <a:latin typeface="Arial"/>
            </a:endParaRPr>
          </a:p>
        </p:txBody>
      </p:sp>
      <p:sp>
        <p:nvSpPr>
          <p:cNvPr id="7" name="Shape 49">
            <a:extLst>
              <a:ext uri="{FF2B5EF4-FFF2-40B4-BE49-F238E27FC236}">
                <a16:creationId xmlns:a16="http://schemas.microsoft.com/office/drawing/2014/main" id="{96815CA6-D409-BAAF-F02F-BF242BEB38E4}"/>
              </a:ext>
            </a:extLst>
          </p:cNvPr>
          <p:cNvSpPr/>
          <p:nvPr/>
        </p:nvSpPr>
        <p:spPr>
          <a:xfrm>
            <a:off x="662360" y="1535430"/>
            <a:ext cx="383400" cy="383400"/>
          </a:xfrm>
          <a:prstGeom prst="ellipse">
            <a:avLst/>
          </a:prstGeom>
          <a:solidFill>
            <a:srgbClr val="C1652E"/>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de-DE" sz="1800" b="0" u="none" strike="noStrike">
              <a:solidFill>
                <a:srgbClr val="FFFFFF"/>
              </a:solidFill>
              <a:effectLst/>
              <a:uFillTx/>
              <a:latin typeface="Arial"/>
            </a:endParaRPr>
          </a:p>
        </p:txBody>
      </p:sp>
      <p:sp>
        <p:nvSpPr>
          <p:cNvPr id="9" name="Text 31">
            <a:extLst>
              <a:ext uri="{FF2B5EF4-FFF2-40B4-BE49-F238E27FC236}">
                <a16:creationId xmlns:a16="http://schemas.microsoft.com/office/drawing/2014/main" id="{93FCBF7E-2D31-6160-1BE2-3D97FB040ECF}"/>
              </a:ext>
            </a:extLst>
          </p:cNvPr>
          <p:cNvSpPr/>
          <p:nvPr/>
        </p:nvSpPr>
        <p:spPr>
          <a:xfrm>
            <a:off x="662360" y="1535430"/>
            <a:ext cx="383400" cy="3834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400" b="1" u="none" strike="noStrike">
                <a:solidFill>
                  <a:srgbClr val="FFFFFF"/>
                </a:solidFill>
                <a:effectLst/>
                <a:uFillTx/>
                <a:latin typeface="Calibri"/>
                <a:ea typeface="Calibri"/>
              </a:rPr>
              <a:t>1</a:t>
            </a:r>
            <a:endParaRPr lang="de-DE" sz="1400" b="0" u="none" strike="noStrike">
              <a:solidFill>
                <a:srgbClr val="000000"/>
              </a:solidFill>
              <a:effectLst/>
              <a:uFillTx/>
              <a:latin typeface="Arial"/>
            </a:endParaRPr>
          </a:p>
        </p:txBody>
      </p:sp>
      <p:sp>
        <p:nvSpPr>
          <p:cNvPr id="11" name="Text 33">
            <a:extLst>
              <a:ext uri="{FF2B5EF4-FFF2-40B4-BE49-F238E27FC236}">
                <a16:creationId xmlns:a16="http://schemas.microsoft.com/office/drawing/2014/main" id="{AF7F273B-2FAA-CCC9-7718-851F84116C45}"/>
              </a:ext>
            </a:extLst>
          </p:cNvPr>
          <p:cNvSpPr/>
          <p:nvPr/>
        </p:nvSpPr>
        <p:spPr>
          <a:xfrm>
            <a:off x="662360" y="2010990"/>
            <a:ext cx="1663560" cy="5022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tabLst>
                <a:tab pos="0" algn="l"/>
              </a:tabLst>
            </a:pPr>
            <a:r>
              <a:rPr lang="en-DE" sz="1400" dirty="0"/>
              <a:t>Filter the grassland and arable land areas</a:t>
            </a:r>
            <a:endParaRPr lang="de-DE" sz="1250" b="0" u="none" strike="noStrike" dirty="0">
              <a:solidFill>
                <a:srgbClr val="000000"/>
              </a:solidFill>
              <a:effectLst/>
              <a:uFillTx/>
              <a:latin typeface="Arial"/>
            </a:endParaRPr>
          </a:p>
        </p:txBody>
      </p:sp>
      <p:sp>
        <p:nvSpPr>
          <p:cNvPr id="15" name="Shape 50">
            <a:extLst>
              <a:ext uri="{FF2B5EF4-FFF2-40B4-BE49-F238E27FC236}">
                <a16:creationId xmlns:a16="http://schemas.microsoft.com/office/drawing/2014/main" id="{E28DEF09-4914-6C3B-EFEA-AB47773EDB02}"/>
              </a:ext>
            </a:extLst>
          </p:cNvPr>
          <p:cNvSpPr/>
          <p:nvPr/>
        </p:nvSpPr>
        <p:spPr>
          <a:xfrm>
            <a:off x="2633000" y="1352550"/>
            <a:ext cx="1992600" cy="1508040"/>
          </a:xfrm>
          <a:prstGeom prst="roundRect">
            <a:avLst>
              <a:gd name="adj" fmla="val 3636"/>
            </a:avLst>
          </a:prstGeom>
          <a:solidFill>
            <a:srgbClr val="F2F5EC"/>
          </a:solidFill>
          <a:ln w="12700">
            <a:solidFill>
              <a:srgbClr val="C9D3B8"/>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de-DE" sz="1800" b="0" u="none" strike="noStrike">
              <a:solidFill>
                <a:srgbClr val="000000"/>
              </a:solidFill>
              <a:effectLst/>
              <a:uFillTx/>
              <a:latin typeface="Arial"/>
            </a:endParaRPr>
          </a:p>
        </p:txBody>
      </p:sp>
      <p:sp>
        <p:nvSpPr>
          <p:cNvPr id="17" name="Shape 51">
            <a:extLst>
              <a:ext uri="{FF2B5EF4-FFF2-40B4-BE49-F238E27FC236}">
                <a16:creationId xmlns:a16="http://schemas.microsoft.com/office/drawing/2014/main" id="{1B2D8FB5-F88D-7990-3D8A-DBB4B4589EC4}"/>
              </a:ext>
            </a:extLst>
          </p:cNvPr>
          <p:cNvSpPr/>
          <p:nvPr/>
        </p:nvSpPr>
        <p:spPr>
          <a:xfrm>
            <a:off x="2797520" y="1535430"/>
            <a:ext cx="383400" cy="383400"/>
          </a:xfrm>
          <a:prstGeom prst="ellipse">
            <a:avLst/>
          </a:prstGeom>
          <a:solidFill>
            <a:srgbClr val="C1652E"/>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de-DE" sz="1800" b="0" u="none" strike="noStrike">
              <a:solidFill>
                <a:srgbClr val="FFFFFF"/>
              </a:solidFill>
              <a:effectLst/>
              <a:uFillTx/>
              <a:latin typeface="Arial"/>
            </a:endParaRPr>
          </a:p>
        </p:txBody>
      </p:sp>
      <p:sp>
        <p:nvSpPr>
          <p:cNvPr id="19" name="Text 43">
            <a:extLst>
              <a:ext uri="{FF2B5EF4-FFF2-40B4-BE49-F238E27FC236}">
                <a16:creationId xmlns:a16="http://schemas.microsoft.com/office/drawing/2014/main" id="{F8A084F2-AC2B-0ECD-32F3-D596F93261DF}"/>
              </a:ext>
            </a:extLst>
          </p:cNvPr>
          <p:cNvSpPr/>
          <p:nvPr/>
        </p:nvSpPr>
        <p:spPr>
          <a:xfrm>
            <a:off x="2797520" y="1535430"/>
            <a:ext cx="383400" cy="3834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400" b="1" u="none" strike="noStrike">
                <a:solidFill>
                  <a:srgbClr val="FFFFFF"/>
                </a:solidFill>
                <a:effectLst/>
                <a:uFillTx/>
                <a:latin typeface="Calibri"/>
                <a:ea typeface="Calibri"/>
              </a:rPr>
              <a:t>2</a:t>
            </a:r>
            <a:endParaRPr lang="de-DE" sz="1400" b="0" u="none" strike="noStrike">
              <a:solidFill>
                <a:srgbClr val="000000"/>
              </a:solidFill>
              <a:effectLst/>
              <a:uFillTx/>
              <a:latin typeface="Arial"/>
            </a:endParaRPr>
          </a:p>
        </p:txBody>
      </p:sp>
      <p:sp>
        <p:nvSpPr>
          <p:cNvPr id="21" name="Text 44">
            <a:extLst>
              <a:ext uri="{FF2B5EF4-FFF2-40B4-BE49-F238E27FC236}">
                <a16:creationId xmlns:a16="http://schemas.microsoft.com/office/drawing/2014/main" id="{B1F029DA-F0E4-B4CA-E1FC-469D4B256085}"/>
              </a:ext>
            </a:extLst>
          </p:cNvPr>
          <p:cNvSpPr/>
          <p:nvPr/>
        </p:nvSpPr>
        <p:spPr>
          <a:xfrm>
            <a:off x="2797520" y="2010990"/>
            <a:ext cx="1663560" cy="5022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tabLst>
                <a:tab pos="0" algn="l"/>
              </a:tabLst>
            </a:pPr>
            <a:r>
              <a:rPr lang="en-DE" sz="1400" dirty="0"/>
              <a:t>Merge adjacent polygons into a single continuous area</a:t>
            </a:r>
            <a:endParaRPr lang="de-DE" sz="1250" b="0" u="none" strike="noStrike" dirty="0">
              <a:solidFill>
                <a:srgbClr val="000000"/>
              </a:solidFill>
              <a:effectLst/>
              <a:uFillTx/>
              <a:latin typeface="Arial"/>
            </a:endParaRPr>
          </a:p>
        </p:txBody>
      </p:sp>
      <p:sp>
        <p:nvSpPr>
          <p:cNvPr id="25" name="Shape 52">
            <a:extLst>
              <a:ext uri="{FF2B5EF4-FFF2-40B4-BE49-F238E27FC236}">
                <a16:creationId xmlns:a16="http://schemas.microsoft.com/office/drawing/2014/main" id="{523061FB-FFF1-E5D5-007B-C70BA13543DE}"/>
              </a:ext>
            </a:extLst>
          </p:cNvPr>
          <p:cNvSpPr/>
          <p:nvPr/>
        </p:nvSpPr>
        <p:spPr>
          <a:xfrm>
            <a:off x="4746200" y="1352550"/>
            <a:ext cx="1992600" cy="1508040"/>
          </a:xfrm>
          <a:prstGeom prst="roundRect">
            <a:avLst>
              <a:gd name="adj" fmla="val 3636"/>
            </a:avLst>
          </a:prstGeom>
          <a:solidFill>
            <a:srgbClr val="F2F5EC"/>
          </a:solidFill>
          <a:ln w="12700">
            <a:solidFill>
              <a:srgbClr val="C9D3B8"/>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de-DE" sz="1800" b="0" u="none" strike="noStrike">
              <a:solidFill>
                <a:srgbClr val="000000"/>
              </a:solidFill>
              <a:effectLst/>
              <a:uFillTx/>
              <a:latin typeface="Arial"/>
            </a:endParaRPr>
          </a:p>
        </p:txBody>
      </p:sp>
      <p:sp>
        <p:nvSpPr>
          <p:cNvPr id="27" name="Shape 53">
            <a:extLst>
              <a:ext uri="{FF2B5EF4-FFF2-40B4-BE49-F238E27FC236}">
                <a16:creationId xmlns:a16="http://schemas.microsoft.com/office/drawing/2014/main" id="{52188AFB-DD99-F8D2-61C1-077BE6687A32}"/>
              </a:ext>
            </a:extLst>
          </p:cNvPr>
          <p:cNvSpPr/>
          <p:nvPr/>
        </p:nvSpPr>
        <p:spPr>
          <a:xfrm>
            <a:off x="4932680" y="1535430"/>
            <a:ext cx="383400" cy="383400"/>
          </a:xfrm>
          <a:prstGeom prst="ellipse">
            <a:avLst/>
          </a:prstGeom>
          <a:solidFill>
            <a:srgbClr val="C1652E"/>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de-DE" sz="1800" b="0" u="none" strike="noStrike">
              <a:solidFill>
                <a:srgbClr val="FFFFFF"/>
              </a:solidFill>
              <a:effectLst/>
              <a:uFillTx/>
              <a:latin typeface="Arial"/>
            </a:endParaRPr>
          </a:p>
        </p:txBody>
      </p:sp>
      <p:sp>
        <p:nvSpPr>
          <p:cNvPr id="29" name="Text 122">
            <a:extLst>
              <a:ext uri="{FF2B5EF4-FFF2-40B4-BE49-F238E27FC236}">
                <a16:creationId xmlns:a16="http://schemas.microsoft.com/office/drawing/2014/main" id="{2BFC7BAD-E3E8-D054-BA4D-A2261A075215}"/>
              </a:ext>
            </a:extLst>
          </p:cNvPr>
          <p:cNvSpPr/>
          <p:nvPr/>
        </p:nvSpPr>
        <p:spPr>
          <a:xfrm>
            <a:off x="4932680" y="1535430"/>
            <a:ext cx="383400" cy="3834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400" b="1" u="none" strike="noStrike">
                <a:solidFill>
                  <a:srgbClr val="FFFFFF"/>
                </a:solidFill>
                <a:effectLst/>
                <a:uFillTx/>
                <a:latin typeface="Calibri"/>
                <a:ea typeface="Calibri"/>
              </a:rPr>
              <a:t>3</a:t>
            </a:r>
            <a:endParaRPr lang="de-DE" sz="1400" b="0" u="none" strike="noStrike">
              <a:solidFill>
                <a:srgbClr val="000000"/>
              </a:solidFill>
              <a:effectLst/>
              <a:uFillTx/>
              <a:latin typeface="Arial"/>
            </a:endParaRPr>
          </a:p>
        </p:txBody>
      </p:sp>
      <p:sp>
        <p:nvSpPr>
          <p:cNvPr id="31" name="Text 123">
            <a:extLst>
              <a:ext uri="{FF2B5EF4-FFF2-40B4-BE49-F238E27FC236}">
                <a16:creationId xmlns:a16="http://schemas.microsoft.com/office/drawing/2014/main" id="{B226E8FC-CC6A-B9B8-B5DC-E18E5C50FFA1}"/>
              </a:ext>
            </a:extLst>
          </p:cNvPr>
          <p:cNvSpPr/>
          <p:nvPr/>
        </p:nvSpPr>
        <p:spPr>
          <a:xfrm>
            <a:off x="4932680" y="2010990"/>
            <a:ext cx="1663560" cy="5022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tabLst>
                <a:tab pos="0" algn="l"/>
              </a:tabLst>
            </a:pPr>
            <a:r>
              <a:rPr lang="en-DE" sz="1400" dirty="0"/>
              <a:t>Remove</a:t>
            </a:r>
            <a:r>
              <a:rPr lang="en-US" sz="1400" dirty="0"/>
              <a:t> </a:t>
            </a:r>
            <a:r>
              <a:rPr lang="en-DE" sz="1400" dirty="0"/>
              <a:t>restricted zones</a:t>
            </a:r>
            <a:endParaRPr lang="de-DE" sz="1250" u="none" strike="noStrike" dirty="0">
              <a:solidFill>
                <a:srgbClr val="000000"/>
              </a:solidFill>
              <a:effectLst/>
              <a:uFillTx/>
              <a:latin typeface="Arial"/>
            </a:endParaRPr>
          </a:p>
        </p:txBody>
      </p:sp>
      <p:sp>
        <p:nvSpPr>
          <p:cNvPr id="35" name="Shape 54">
            <a:extLst>
              <a:ext uri="{FF2B5EF4-FFF2-40B4-BE49-F238E27FC236}">
                <a16:creationId xmlns:a16="http://schemas.microsoft.com/office/drawing/2014/main" id="{13F547C6-27FA-5628-E462-E2D6905A3866}"/>
              </a:ext>
            </a:extLst>
          </p:cNvPr>
          <p:cNvSpPr/>
          <p:nvPr/>
        </p:nvSpPr>
        <p:spPr>
          <a:xfrm>
            <a:off x="6903320" y="1352550"/>
            <a:ext cx="1992600" cy="1508040"/>
          </a:xfrm>
          <a:prstGeom prst="roundRect">
            <a:avLst>
              <a:gd name="adj" fmla="val 3636"/>
            </a:avLst>
          </a:prstGeom>
          <a:solidFill>
            <a:srgbClr val="F2F5EC"/>
          </a:solidFill>
          <a:ln w="12700">
            <a:solidFill>
              <a:srgbClr val="C9D3B8"/>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de-DE" sz="1800" b="0" u="none" strike="noStrike">
              <a:solidFill>
                <a:srgbClr val="000000"/>
              </a:solidFill>
              <a:effectLst/>
              <a:uFillTx/>
              <a:latin typeface="Arial"/>
            </a:endParaRPr>
          </a:p>
        </p:txBody>
      </p:sp>
      <p:sp>
        <p:nvSpPr>
          <p:cNvPr id="37" name="Shape 55">
            <a:extLst>
              <a:ext uri="{FF2B5EF4-FFF2-40B4-BE49-F238E27FC236}">
                <a16:creationId xmlns:a16="http://schemas.microsoft.com/office/drawing/2014/main" id="{D5F7E402-BA0B-3268-9815-A7FAC54E8CD6}"/>
              </a:ext>
            </a:extLst>
          </p:cNvPr>
          <p:cNvSpPr/>
          <p:nvPr/>
        </p:nvSpPr>
        <p:spPr>
          <a:xfrm>
            <a:off x="7067840" y="1535430"/>
            <a:ext cx="383400" cy="383400"/>
          </a:xfrm>
          <a:prstGeom prst="ellipse">
            <a:avLst/>
          </a:prstGeom>
          <a:solidFill>
            <a:srgbClr val="C1652E"/>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de-DE" sz="1800" b="0" u="none" strike="noStrike">
              <a:solidFill>
                <a:srgbClr val="FFFFFF"/>
              </a:solidFill>
              <a:effectLst/>
              <a:uFillTx/>
              <a:latin typeface="Arial"/>
            </a:endParaRPr>
          </a:p>
        </p:txBody>
      </p:sp>
      <p:sp>
        <p:nvSpPr>
          <p:cNvPr id="39" name="Text 125">
            <a:extLst>
              <a:ext uri="{FF2B5EF4-FFF2-40B4-BE49-F238E27FC236}">
                <a16:creationId xmlns:a16="http://schemas.microsoft.com/office/drawing/2014/main" id="{F0B8C2E4-3E16-5C9B-3076-487A0FBF1A82}"/>
              </a:ext>
            </a:extLst>
          </p:cNvPr>
          <p:cNvSpPr/>
          <p:nvPr/>
        </p:nvSpPr>
        <p:spPr>
          <a:xfrm>
            <a:off x="7067840" y="1535430"/>
            <a:ext cx="383400" cy="3834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400" b="1" u="none" strike="noStrike">
                <a:solidFill>
                  <a:srgbClr val="FFFFFF"/>
                </a:solidFill>
                <a:effectLst/>
                <a:uFillTx/>
                <a:latin typeface="Calibri"/>
                <a:ea typeface="Calibri"/>
              </a:rPr>
              <a:t>4</a:t>
            </a:r>
            <a:endParaRPr lang="de-DE" sz="1400" b="0" u="none" strike="noStrike">
              <a:solidFill>
                <a:srgbClr val="000000"/>
              </a:solidFill>
              <a:effectLst/>
              <a:uFillTx/>
              <a:latin typeface="Arial"/>
            </a:endParaRPr>
          </a:p>
        </p:txBody>
      </p:sp>
      <p:sp>
        <p:nvSpPr>
          <p:cNvPr id="41" name="Text 126">
            <a:extLst>
              <a:ext uri="{FF2B5EF4-FFF2-40B4-BE49-F238E27FC236}">
                <a16:creationId xmlns:a16="http://schemas.microsoft.com/office/drawing/2014/main" id="{C389ACD7-619E-7E05-2539-C1C4948AD57F}"/>
              </a:ext>
            </a:extLst>
          </p:cNvPr>
          <p:cNvSpPr/>
          <p:nvPr/>
        </p:nvSpPr>
        <p:spPr>
          <a:xfrm>
            <a:off x="7067840" y="2010990"/>
            <a:ext cx="1663560" cy="5022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tabLst>
                <a:tab pos="0" algn="l"/>
              </a:tabLst>
            </a:pPr>
            <a:r>
              <a:rPr lang="en-DE" sz="1400" dirty="0"/>
              <a:t>Filter the areas with an area greater than </a:t>
            </a:r>
            <a:r>
              <a:rPr lang="en-DE" sz="1400" b="1" dirty="0"/>
              <a:t>18 ha</a:t>
            </a:r>
            <a:endParaRPr lang="de-DE" sz="1250" b="0" u="none" strike="noStrike" dirty="0">
              <a:solidFill>
                <a:srgbClr val="000000"/>
              </a:solidFill>
              <a:effectLst/>
              <a:uFillTx/>
              <a:latin typeface="Arial"/>
            </a:endParaRPr>
          </a:p>
        </p:txBody>
      </p:sp>
      <p:sp>
        <p:nvSpPr>
          <p:cNvPr id="45" name="Shape 56">
            <a:extLst>
              <a:ext uri="{FF2B5EF4-FFF2-40B4-BE49-F238E27FC236}">
                <a16:creationId xmlns:a16="http://schemas.microsoft.com/office/drawing/2014/main" id="{EED44D03-544D-8BFA-A2C2-7EBA8CC603C8}"/>
              </a:ext>
            </a:extLst>
          </p:cNvPr>
          <p:cNvSpPr/>
          <p:nvPr/>
        </p:nvSpPr>
        <p:spPr>
          <a:xfrm>
            <a:off x="9038480" y="1352550"/>
            <a:ext cx="1992600" cy="1508040"/>
          </a:xfrm>
          <a:prstGeom prst="roundRect">
            <a:avLst>
              <a:gd name="adj" fmla="val 3636"/>
            </a:avLst>
          </a:prstGeom>
          <a:solidFill>
            <a:srgbClr val="F2F5EC"/>
          </a:solidFill>
          <a:ln w="12700">
            <a:solidFill>
              <a:srgbClr val="C9D3B8"/>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de-DE" sz="1800" b="0" u="none" strike="noStrike">
              <a:solidFill>
                <a:srgbClr val="000000"/>
              </a:solidFill>
              <a:effectLst/>
              <a:uFillTx/>
              <a:latin typeface="Arial"/>
            </a:endParaRPr>
          </a:p>
        </p:txBody>
      </p:sp>
      <p:sp>
        <p:nvSpPr>
          <p:cNvPr id="47" name="Shape 57">
            <a:extLst>
              <a:ext uri="{FF2B5EF4-FFF2-40B4-BE49-F238E27FC236}">
                <a16:creationId xmlns:a16="http://schemas.microsoft.com/office/drawing/2014/main" id="{09C3BB3B-4FD7-A68F-B904-F9A67C1CB443}"/>
              </a:ext>
            </a:extLst>
          </p:cNvPr>
          <p:cNvSpPr/>
          <p:nvPr/>
        </p:nvSpPr>
        <p:spPr>
          <a:xfrm>
            <a:off x="9203000" y="1535430"/>
            <a:ext cx="383400" cy="383400"/>
          </a:xfrm>
          <a:prstGeom prst="ellipse">
            <a:avLst/>
          </a:prstGeom>
          <a:solidFill>
            <a:srgbClr val="C1652E"/>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de-DE" sz="1800" b="0" u="none" strike="noStrike">
              <a:solidFill>
                <a:srgbClr val="FFFFFF"/>
              </a:solidFill>
              <a:effectLst/>
              <a:uFillTx/>
              <a:latin typeface="Arial"/>
            </a:endParaRPr>
          </a:p>
        </p:txBody>
      </p:sp>
      <p:sp>
        <p:nvSpPr>
          <p:cNvPr id="49" name="Text 128">
            <a:extLst>
              <a:ext uri="{FF2B5EF4-FFF2-40B4-BE49-F238E27FC236}">
                <a16:creationId xmlns:a16="http://schemas.microsoft.com/office/drawing/2014/main" id="{F08B3FE8-55BA-6D0C-9448-9553D1ECB8A3}"/>
              </a:ext>
            </a:extLst>
          </p:cNvPr>
          <p:cNvSpPr/>
          <p:nvPr/>
        </p:nvSpPr>
        <p:spPr>
          <a:xfrm>
            <a:off x="9203000" y="1535430"/>
            <a:ext cx="383400" cy="3834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400" b="1" u="none" strike="noStrike">
                <a:solidFill>
                  <a:srgbClr val="FFFFFF"/>
                </a:solidFill>
                <a:effectLst/>
                <a:uFillTx/>
                <a:latin typeface="Calibri"/>
                <a:ea typeface="Calibri"/>
              </a:rPr>
              <a:t>5</a:t>
            </a:r>
            <a:endParaRPr lang="de-DE" sz="1400" b="0" u="none" strike="noStrike">
              <a:solidFill>
                <a:srgbClr val="000000"/>
              </a:solidFill>
              <a:effectLst/>
              <a:uFillTx/>
              <a:latin typeface="Arial"/>
            </a:endParaRPr>
          </a:p>
        </p:txBody>
      </p:sp>
      <p:sp>
        <p:nvSpPr>
          <p:cNvPr id="51" name="Text 129">
            <a:extLst>
              <a:ext uri="{FF2B5EF4-FFF2-40B4-BE49-F238E27FC236}">
                <a16:creationId xmlns:a16="http://schemas.microsoft.com/office/drawing/2014/main" id="{CF55FF03-6685-4B7A-CFDA-80B3C74F6CC0}"/>
              </a:ext>
            </a:extLst>
          </p:cNvPr>
          <p:cNvSpPr/>
          <p:nvPr/>
        </p:nvSpPr>
        <p:spPr>
          <a:xfrm>
            <a:off x="9203000" y="2010990"/>
            <a:ext cx="1663560" cy="5022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tabLst>
                <a:tab pos="0" algn="l"/>
              </a:tabLst>
            </a:pPr>
            <a:r>
              <a:rPr lang="en-DE" sz="1400" dirty="0"/>
              <a:t>created the map</a:t>
            </a:r>
            <a:endParaRPr lang="de-DE" sz="1250" u="none" strike="noStrike" dirty="0">
              <a:solidFill>
                <a:srgbClr val="000000"/>
              </a:solidFill>
              <a:effectLst/>
              <a:uFillTx/>
              <a:latin typeface="Arial"/>
            </a:endParaRPr>
          </a:p>
        </p:txBody>
      </p:sp>
    </p:spTree>
    <p:extLst>
      <p:ext uri="{BB962C8B-B14F-4D97-AF65-F5344CB8AC3E}">
        <p14:creationId xmlns:p14="http://schemas.microsoft.com/office/powerpoint/2010/main" val="91902211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3DC3BD-91B6-3FA8-6F42-D2C4B70C34EC}"/>
            </a:ext>
          </a:extLst>
        </p:cNvPr>
        <p:cNvGrpSpPr/>
        <p:nvPr/>
      </p:nvGrpSpPr>
      <p:grpSpPr>
        <a:xfrm>
          <a:off x="0" y="0"/>
          <a:ext cx="0" cy="0"/>
          <a:chOff x="0" y="0"/>
          <a:chExt cx="0" cy="0"/>
        </a:xfrm>
      </p:grpSpPr>
      <p:sp>
        <p:nvSpPr>
          <p:cNvPr id="43" name="Shape 0">
            <a:extLst>
              <a:ext uri="{FF2B5EF4-FFF2-40B4-BE49-F238E27FC236}">
                <a16:creationId xmlns:a16="http://schemas.microsoft.com/office/drawing/2014/main" id="{02BD6F20-98E3-5EC9-4FAC-7CECEF7D733E}"/>
              </a:ext>
            </a:extLst>
          </p:cNvPr>
          <p:cNvSpPr/>
          <p:nvPr/>
        </p:nvSpPr>
        <p:spPr>
          <a:xfrm>
            <a:off x="548640" y="475560"/>
            <a:ext cx="602640" cy="602640"/>
          </a:xfrm>
          <a:prstGeom prst="ellipse">
            <a:avLst/>
          </a:prstGeom>
          <a:solidFill>
            <a:srgbClr val="C2762A"/>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de-DE" sz="1800" b="0" u="none" strike="noStrike">
              <a:solidFill>
                <a:schemeClr val="dk1"/>
              </a:solidFill>
              <a:effectLst/>
              <a:uFillTx/>
              <a:latin typeface="Calibri"/>
            </a:endParaRPr>
          </a:p>
        </p:txBody>
      </p:sp>
      <p:sp>
        <p:nvSpPr>
          <p:cNvPr id="44" name="Text 1">
            <a:extLst>
              <a:ext uri="{FF2B5EF4-FFF2-40B4-BE49-F238E27FC236}">
                <a16:creationId xmlns:a16="http://schemas.microsoft.com/office/drawing/2014/main" id="{9B6E610F-C4DB-596C-B253-1B7134B2E645}"/>
              </a:ext>
            </a:extLst>
          </p:cNvPr>
          <p:cNvSpPr/>
          <p:nvPr/>
        </p:nvSpPr>
        <p:spPr>
          <a:xfrm>
            <a:off x="548640" y="475560"/>
            <a:ext cx="602640" cy="602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2700" b="1" u="none" strike="noStrike">
                <a:solidFill>
                  <a:srgbClr val="FFFFFF"/>
                </a:solidFill>
                <a:effectLst/>
                <a:uFillTx/>
                <a:latin typeface="Calibri"/>
                <a:ea typeface="Calibri"/>
              </a:rPr>
              <a:t>1</a:t>
            </a:r>
            <a:endParaRPr lang="de-DE" sz="2700" b="0" u="none" strike="noStrike">
              <a:solidFill>
                <a:srgbClr val="000000"/>
              </a:solidFill>
              <a:effectLst/>
              <a:uFillTx/>
              <a:latin typeface="Arial"/>
            </a:endParaRPr>
          </a:p>
        </p:txBody>
      </p:sp>
      <p:sp>
        <p:nvSpPr>
          <p:cNvPr id="45" name="Text 2">
            <a:extLst>
              <a:ext uri="{FF2B5EF4-FFF2-40B4-BE49-F238E27FC236}">
                <a16:creationId xmlns:a16="http://schemas.microsoft.com/office/drawing/2014/main" id="{9B9D4991-EA12-6595-C68E-D2B4C2E8BC79}"/>
              </a:ext>
            </a:extLst>
          </p:cNvPr>
          <p:cNvSpPr/>
          <p:nvPr/>
        </p:nvSpPr>
        <p:spPr>
          <a:xfrm>
            <a:off x="1298520" y="457200"/>
            <a:ext cx="5485680" cy="236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100" b="1" u="none" strike="noStrike" spc="201">
                <a:solidFill>
                  <a:srgbClr val="C2762A"/>
                </a:solidFill>
                <a:effectLst/>
                <a:uFillTx/>
                <a:latin typeface="Calibri"/>
                <a:ea typeface="Calibri"/>
              </a:rPr>
              <a:t>STEP 1 OF 5</a:t>
            </a:r>
            <a:endParaRPr lang="de-DE" sz="1100" b="0" u="none" strike="noStrike">
              <a:solidFill>
                <a:srgbClr val="000000"/>
              </a:solidFill>
              <a:effectLst/>
              <a:uFillTx/>
              <a:latin typeface="Arial"/>
            </a:endParaRPr>
          </a:p>
        </p:txBody>
      </p:sp>
      <p:sp>
        <p:nvSpPr>
          <p:cNvPr id="46" name="Text 3">
            <a:extLst>
              <a:ext uri="{FF2B5EF4-FFF2-40B4-BE49-F238E27FC236}">
                <a16:creationId xmlns:a16="http://schemas.microsoft.com/office/drawing/2014/main" id="{00F8D2A6-0EFB-AE2E-E8CA-84C295F34B8B}"/>
              </a:ext>
            </a:extLst>
          </p:cNvPr>
          <p:cNvSpPr/>
          <p:nvPr/>
        </p:nvSpPr>
        <p:spPr>
          <a:xfrm>
            <a:off x="1298520" y="694800"/>
            <a:ext cx="10332000" cy="5662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tabLst>
                <a:tab pos="0" algn="l"/>
              </a:tabLst>
            </a:pPr>
            <a:r>
              <a:rPr lang="en-DE" sz="2800" dirty="0"/>
              <a:t>Filter the grassland and arable land areas</a:t>
            </a:r>
            <a:endParaRPr lang="de-DE" sz="2700" b="0" u="none" strike="noStrike" dirty="0">
              <a:solidFill>
                <a:srgbClr val="000000"/>
              </a:solidFill>
              <a:effectLst/>
              <a:uFillTx/>
              <a:latin typeface="Arial"/>
            </a:endParaRPr>
          </a:p>
        </p:txBody>
      </p:sp>
      <p:sp>
        <p:nvSpPr>
          <p:cNvPr id="47" name="Text 4">
            <a:extLst>
              <a:ext uri="{FF2B5EF4-FFF2-40B4-BE49-F238E27FC236}">
                <a16:creationId xmlns:a16="http://schemas.microsoft.com/office/drawing/2014/main" id="{88BEB05A-8CB6-CE93-576E-BD2241304B1D}"/>
              </a:ext>
            </a:extLst>
          </p:cNvPr>
          <p:cNvSpPr/>
          <p:nvPr/>
        </p:nvSpPr>
        <p:spPr>
          <a:xfrm>
            <a:off x="548640" y="1600200"/>
            <a:ext cx="5257080" cy="3656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marL="203040" indent="-203040">
              <a:lnSpc>
                <a:spcPct val="104000"/>
              </a:lnSpc>
              <a:spcAft>
                <a:spcPts val="1100"/>
              </a:spcAft>
              <a:buClr>
                <a:srgbClr val="2A3324"/>
              </a:buClr>
              <a:buFont typeface="Symbol" charset="2"/>
              <a:buChar char=""/>
            </a:pPr>
            <a:r>
              <a:rPr lang="en-US" sz="1500" dirty="0">
                <a:solidFill>
                  <a:srgbClr val="2A3324"/>
                </a:solidFill>
                <a:latin typeface="Calibri"/>
                <a:ea typeface="Calibri"/>
              </a:rPr>
              <a:t>Input: </a:t>
            </a:r>
            <a:r>
              <a:rPr lang="en-DE" sz="1600" b="1" dirty="0" err="1"/>
              <a:t>Landnutzung</a:t>
            </a:r>
            <a:r>
              <a:rPr lang="en-US" sz="1600" b="1" dirty="0"/>
              <a:t> </a:t>
            </a:r>
            <a:r>
              <a:rPr lang="en-US" sz="1600" dirty="0"/>
              <a:t>layer</a:t>
            </a:r>
            <a:endParaRPr lang="de-DE" sz="1500" u="none" strike="noStrike" dirty="0">
              <a:solidFill>
                <a:srgbClr val="000000"/>
              </a:solidFill>
              <a:effectLst/>
              <a:uFillTx/>
              <a:latin typeface="Arial"/>
            </a:endParaRPr>
          </a:p>
          <a:p>
            <a:pPr marL="203040" indent="-203040">
              <a:lnSpc>
                <a:spcPct val="104000"/>
              </a:lnSpc>
              <a:spcAft>
                <a:spcPts val="1100"/>
              </a:spcAft>
              <a:buClr>
                <a:srgbClr val="2A3324"/>
              </a:buClr>
              <a:buFont typeface="Symbol" charset="2"/>
              <a:buChar char=""/>
            </a:pPr>
            <a:r>
              <a:rPr lang="en-US" sz="1500" b="0" u="none" strike="noStrike" dirty="0">
                <a:solidFill>
                  <a:srgbClr val="2A3324"/>
                </a:solidFill>
                <a:effectLst/>
                <a:uFillTx/>
                <a:latin typeface="Calibri"/>
                <a:ea typeface="Calibri"/>
              </a:rPr>
              <a:t>Tool:</a:t>
            </a:r>
            <a:r>
              <a:rPr lang="en-US" sz="1500" dirty="0">
                <a:solidFill>
                  <a:srgbClr val="2A3324"/>
                </a:solidFill>
                <a:latin typeface="Calibri"/>
                <a:ea typeface="Calibri"/>
              </a:rPr>
              <a:t> </a:t>
            </a:r>
            <a:r>
              <a:rPr lang="en-DE" sz="1600" b="1" dirty="0"/>
              <a:t>Extract by Expression</a:t>
            </a:r>
            <a:endParaRPr lang="en-US" sz="1600" b="1" dirty="0"/>
          </a:p>
          <a:p>
            <a:pPr marL="203040" indent="-203040">
              <a:lnSpc>
                <a:spcPct val="104000"/>
              </a:lnSpc>
              <a:spcAft>
                <a:spcPts val="1100"/>
              </a:spcAft>
              <a:buClr>
                <a:srgbClr val="2A3324"/>
              </a:buClr>
              <a:buFont typeface="Symbol" charset="2"/>
              <a:buChar char=""/>
            </a:pPr>
            <a:r>
              <a:rPr lang="en-US" sz="1600" dirty="0"/>
              <a:t>E</a:t>
            </a:r>
            <a:r>
              <a:rPr lang="en-DE" sz="1600" dirty="0" err="1"/>
              <a:t>xpression</a:t>
            </a:r>
            <a:r>
              <a:rPr lang="en-US" sz="1600" dirty="0"/>
              <a:t>: </a:t>
            </a:r>
            <a:r>
              <a:rPr lang="en-DE" sz="1600" dirty="0"/>
              <a:t>"</a:t>
            </a:r>
            <a:r>
              <a:rPr lang="en-DE" sz="1600" dirty="0" err="1"/>
              <a:t>typ</a:t>
            </a:r>
            <a:r>
              <a:rPr lang="en-DE" sz="1600" dirty="0"/>
              <a:t>" IN ('Ackerland', '</a:t>
            </a:r>
            <a:r>
              <a:rPr lang="en-DE" sz="1600" dirty="0" err="1"/>
              <a:t>Gruenland</a:t>
            </a:r>
            <a:r>
              <a:rPr lang="en-DE" sz="1600" dirty="0"/>
              <a:t>') </a:t>
            </a:r>
            <a:endParaRPr lang="de-DE" sz="1500" b="0" u="none" strike="noStrike" dirty="0">
              <a:solidFill>
                <a:srgbClr val="000000"/>
              </a:solidFill>
              <a:effectLst/>
              <a:uFillTx/>
              <a:latin typeface="Arial"/>
            </a:endParaRPr>
          </a:p>
        </p:txBody>
      </p:sp>
      <p:pic>
        <p:nvPicPr>
          <p:cNvPr id="3" name="Hình ảnh 2">
            <a:extLst>
              <a:ext uri="{FF2B5EF4-FFF2-40B4-BE49-F238E27FC236}">
                <a16:creationId xmlns:a16="http://schemas.microsoft.com/office/drawing/2014/main" id="{88F3A7AE-FA58-BB06-A1C0-537BDFDC392D}"/>
              </a:ext>
            </a:extLst>
          </p:cNvPr>
          <p:cNvPicPr>
            <a:picLocks noChangeAspect="1"/>
          </p:cNvPicPr>
          <p:nvPr/>
        </p:nvPicPr>
        <p:blipFill>
          <a:blip r:embed="rId3"/>
          <a:stretch>
            <a:fillRect/>
          </a:stretch>
        </p:blipFill>
        <p:spPr>
          <a:xfrm>
            <a:off x="5981701" y="1788935"/>
            <a:ext cx="5789400" cy="2865615"/>
          </a:xfrm>
          <a:prstGeom prst="rect">
            <a:avLst/>
          </a:prstGeom>
        </p:spPr>
      </p:pic>
      <p:sp>
        <p:nvSpPr>
          <p:cNvPr id="5" name="Hộp Văn bản 4">
            <a:extLst>
              <a:ext uri="{FF2B5EF4-FFF2-40B4-BE49-F238E27FC236}">
                <a16:creationId xmlns:a16="http://schemas.microsoft.com/office/drawing/2014/main" id="{AF8DB342-B1B2-25D4-FFE2-FBD22BB4BFFE}"/>
              </a:ext>
            </a:extLst>
          </p:cNvPr>
          <p:cNvSpPr txBox="1"/>
          <p:nvPr/>
        </p:nvSpPr>
        <p:spPr>
          <a:xfrm>
            <a:off x="7268698" y="4764978"/>
            <a:ext cx="6096000" cy="338554"/>
          </a:xfrm>
          <a:prstGeom prst="rect">
            <a:avLst/>
          </a:prstGeom>
          <a:noFill/>
        </p:spPr>
        <p:txBody>
          <a:bodyPr wrap="square">
            <a:spAutoFit/>
          </a:bodyPr>
          <a:lstStyle/>
          <a:p>
            <a:r>
              <a:rPr lang="en-DE" sz="1600" dirty="0"/>
              <a:t>the grassland and arable land areas</a:t>
            </a:r>
          </a:p>
        </p:txBody>
      </p:sp>
    </p:spTree>
    <p:extLst>
      <p:ext uri="{BB962C8B-B14F-4D97-AF65-F5344CB8AC3E}">
        <p14:creationId xmlns:p14="http://schemas.microsoft.com/office/powerpoint/2010/main" val="147302178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A91CF1-2ABD-6EFC-6301-DC3CA080444F}"/>
            </a:ext>
          </a:extLst>
        </p:cNvPr>
        <p:cNvGrpSpPr/>
        <p:nvPr/>
      </p:nvGrpSpPr>
      <p:grpSpPr>
        <a:xfrm>
          <a:off x="0" y="0"/>
          <a:ext cx="0" cy="0"/>
          <a:chOff x="0" y="0"/>
          <a:chExt cx="0" cy="0"/>
        </a:xfrm>
      </p:grpSpPr>
      <p:sp>
        <p:nvSpPr>
          <p:cNvPr id="52" name="Shape 0">
            <a:extLst>
              <a:ext uri="{FF2B5EF4-FFF2-40B4-BE49-F238E27FC236}">
                <a16:creationId xmlns:a16="http://schemas.microsoft.com/office/drawing/2014/main" id="{ABA83748-D49F-F699-D152-0989A093D9CB}"/>
              </a:ext>
            </a:extLst>
          </p:cNvPr>
          <p:cNvSpPr/>
          <p:nvPr/>
        </p:nvSpPr>
        <p:spPr>
          <a:xfrm>
            <a:off x="548640" y="475560"/>
            <a:ext cx="602640" cy="602640"/>
          </a:xfrm>
          <a:prstGeom prst="ellipse">
            <a:avLst/>
          </a:prstGeom>
          <a:solidFill>
            <a:srgbClr val="C2762A"/>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de-DE" sz="1800" b="0" u="none" strike="noStrike">
              <a:solidFill>
                <a:schemeClr val="dk1"/>
              </a:solidFill>
              <a:effectLst/>
              <a:uFillTx/>
              <a:latin typeface="Calibri"/>
            </a:endParaRPr>
          </a:p>
        </p:txBody>
      </p:sp>
      <p:sp>
        <p:nvSpPr>
          <p:cNvPr id="53" name="Text 1">
            <a:extLst>
              <a:ext uri="{FF2B5EF4-FFF2-40B4-BE49-F238E27FC236}">
                <a16:creationId xmlns:a16="http://schemas.microsoft.com/office/drawing/2014/main" id="{B6DC2699-942C-31EE-776B-75802C931C07}"/>
              </a:ext>
            </a:extLst>
          </p:cNvPr>
          <p:cNvSpPr/>
          <p:nvPr/>
        </p:nvSpPr>
        <p:spPr>
          <a:xfrm>
            <a:off x="548640" y="475560"/>
            <a:ext cx="602640" cy="602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2700" b="1" u="none" strike="noStrike">
                <a:solidFill>
                  <a:srgbClr val="FFFFFF"/>
                </a:solidFill>
                <a:effectLst/>
                <a:uFillTx/>
                <a:latin typeface="Calibri"/>
                <a:ea typeface="Calibri"/>
              </a:rPr>
              <a:t>2</a:t>
            </a:r>
            <a:endParaRPr lang="de-DE" sz="2700" b="0" u="none" strike="noStrike">
              <a:solidFill>
                <a:srgbClr val="000000"/>
              </a:solidFill>
              <a:effectLst/>
              <a:uFillTx/>
              <a:latin typeface="Arial"/>
            </a:endParaRPr>
          </a:p>
        </p:txBody>
      </p:sp>
      <p:sp>
        <p:nvSpPr>
          <p:cNvPr id="54" name="Text 2">
            <a:extLst>
              <a:ext uri="{FF2B5EF4-FFF2-40B4-BE49-F238E27FC236}">
                <a16:creationId xmlns:a16="http://schemas.microsoft.com/office/drawing/2014/main" id="{C8B74361-7E31-3C45-769D-562E729E6452}"/>
              </a:ext>
            </a:extLst>
          </p:cNvPr>
          <p:cNvSpPr/>
          <p:nvPr/>
        </p:nvSpPr>
        <p:spPr>
          <a:xfrm>
            <a:off x="1298520" y="457200"/>
            <a:ext cx="5485680" cy="236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100" b="1" u="none" strike="noStrike" spc="201">
                <a:solidFill>
                  <a:srgbClr val="C2762A"/>
                </a:solidFill>
                <a:effectLst/>
                <a:uFillTx/>
                <a:latin typeface="Calibri"/>
                <a:ea typeface="Calibri"/>
              </a:rPr>
              <a:t>STEP 2 OF 5</a:t>
            </a:r>
            <a:endParaRPr lang="de-DE" sz="1100" b="0" u="none" strike="noStrike">
              <a:solidFill>
                <a:srgbClr val="000000"/>
              </a:solidFill>
              <a:effectLst/>
              <a:uFillTx/>
              <a:latin typeface="Arial"/>
            </a:endParaRPr>
          </a:p>
        </p:txBody>
      </p:sp>
      <p:sp>
        <p:nvSpPr>
          <p:cNvPr id="55" name="Text 3">
            <a:extLst>
              <a:ext uri="{FF2B5EF4-FFF2-40B4-BE49-F238E27FC236}">
                <a16:creationId xmlns:a16="http://schemas.microsoft.com/office/drawing/2014/main" id="{9AFE3135-3CF0-EC6B-ADF4-56E16B6B4C9F}"/>
              </a:ext>
            </a:extLst>
          </p:cNvPr>
          <p:cNvSpPr/>
          <p:nvPr/>
        </p:nvSpPr>
        <p:spPr>
          <a:xfrm>
            <a:off x="1298520" y="694800"/>
            <a:ext cx="10332000" cy="5662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tabLst>
                <a:tab pos="0" algn="l"/>
              </a:tabLst>
            </a:pPr>
            <a:r>
              <a:rPr lang="en-DE" sz="2800" dirty="0"/>
              <a:t>Merge adjacent polygons into a single continuous area and remove the internal boundaries between them.</a:t>
            </a:r>
            <a:endParaRPr lang="de-DE" sz="2700" b="0" u="none" strike="noStrike" dirty="0">
              <a:solidFill>
                <a:srgbClr val="000000"/>
              </a:solidFill>
              <a:effectLst/>
              <a:uFillTx/>
              <a:latin typeface="Arial"/>
            </a:endParaRPr>
          </a:p>
        </p:txBody>
      </p:sp>
      <p:cxnSp>
        <p:nvCxnSpPr>
          <p:cNvPr id="2" name="Đường kết nối Mũi tên Thẳng 1">
            <a:extLst>
              <a:ext uri="{FF2B5EF4-FFF2-40B4-BE49-F238E27FC236}">
                <a16:creationId xmlns:a16="http://schemas.microsoft.com/office/drawing/2014/main" id="{BEB74257-2CA8-B24C-2F0B-F6340AF8DDC6}"/>
              </a:ext>
            </a:extLst>
          </p:cNvPr>
          <p:cNvCxnSpPr>
            <a:cxnSpLocks/>
          </p:cNvCxnSpPr>
          <p:nvPr/>
        </p:nvCxnSpPr>
        <p:spPr>
          <a:xfrm>
            <a:off x="5633403" y="3847333"/>
            <a:ext cx="335280"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pic>
        <p:nvPicPr>
          <p:cNvPr id="3" name="Hình ảnh 2">
            <a:extLst>
              <a:ext uri="{FF2B5EF4-FFF2-40B4-BE49-F238E27FC236}">
                <a16:creationId xmlns:a16="http://schemas.microsoft.com/office/drawing/2014/main" id="{69232294-8573-6472-2A5C-0177A53A350B}"/>
              </a:ext>
            </a:extLst>
          </p:cNvPr>
          <p:cNvPicPr>
            <a:picLocks noChangeAspect="1"/>
          </p:cNvPicPr>
          <p:nvPr/>
        </p:nvPicPr>
        <p:blipFill>
          <a:blip r:embed="rId3"/>
          <a:stretch>
            <a:fillRect/>
          </a:stretch>
        </p:blipFill>
        <p:spPr>
          <a:xfrm>
            <a:off x="154624" y="2515916"/>
            <a:ext cx="5379720" cy="2662833"/>
          </a:xfrm>
          <a:prstGeom prst="rect">
            <a:avLst/>
          </a:prstGeom>
        </p:spPr>
      </p:pic>
      <p:pic>
        <p:nvPicPr>
          <p:cNvPr id="4" name="Hình ảnh 3">
            <a:extLst>
              <a:ext uri="{FF2B5EF4-FFF2-40B4-BE49-F238E27FC236}">
                <a16:creationId xmlns:a16="http://schemas.microsoft.com/office/drawing/2014/main" id="{634A400D-DDEC-95BC-6318-3699DBA8BCE2}"/>
              </a:ext>
            </a:extLst>
          </p:cNvPr>
          <p:cNvPicPr>
            <a:picLocks noChangeAspect="1"/>
          </p:cNvPicPr>
          <p:nvPr/>
        </p:nvPicPr>
        <p:blipFill>
          <a:blip r:embed="rId4"/>
          <a:stretch>
            <a:fillRect/>
          </a:stretch>
        </p:blipFill>
        <p:spPr>
          <a:xfrm>
            <a:off x="6243003" y="2515916"/>
            <a:ext cx="5345467" cy="2662829"/>
          </a:xfrm>
          <a:prstGeom prst="rect">
            <a:avLst/>
          </a:prstGeom>
        </p:spPr>
      </p:pic>
      <p:sp>
        <p:nvSpPr>
          <p:cNvPr id="5" name="Hộp Văn bản 4">
            <a:extLst>
              <a:ext uri="{FF2B5EF4-FFF2-40B4-BE49-F238E27FC236}">
                <a16:creationId xmlns:a16="http://schemas.microsoft.com/office/drawing/2014/main" id="{FE220068-6FC5-03C2-281F-7CF34ED5D059}"/>
              </a:ext>
            </a:extLst>
          </p:cNvPr>
          <p:cNvSpPr txBox="1"/>
          <p:nvPr/>
        </p:nvSpPr>
        <p:spPr>
          <a:xfrm>
            <a:off x="1485778" y="5319201"/>
            <a:ext cx="6096000" cy="276999"/>
          </a:xfrm>
          <a:prstGeom prst="rect">
            <a:avLst/>
          </a:prstGeom>
          <a:noFill/>
        </p:spPr>
        <p:txBody>
          <a:bodyPr wrap="square">
            <a:spAutoFit/>
          </a:bodyPr>
          <a:lstStyle/>
          <a:p>
            <a:r>
              <a:rPr lang="en-DE" sz="1200" dirty="0"/>
              <a:t>the grassland and arable land areas</a:t>
            </a:r>
          </a:p>
        </p:txBody>
      </p:sp>
      <p:sp>
        <p:nvSpPr>
          <p:cNvPr id="7" name="Hộp Văn bản 6">
            <a:extLst>
              <a:ext uri="{FF2B5EF4-FFF2-40B4-BE49-F238E27FC236}">
                <a16:creationId xmlns:a16="http://schemas.microsoft.com/office/drawing/2014/main" id="{D9B5D5B7-D0A2-9630-9934-B3273CC80BD9}"/>
              </a:ext>
            </a:extLst>
          </p:cNvPr>
          <p:cNvSpPr txBox="1"/>
          <p:nvPr/>
        </p:nvSpPr>
        <p:spPr>
          <a:xfrm>
            <a:off x="6784200" y="5178745"/>
            <a:ext cx="6096000" cy="276999"/>
          </a:xfrm>
          <a:prstGeom prst="rect">
            <a:avLst/>
          </a:prstGeom>
          <a:noFill/>
        </p:spPr>
        <p:txBody>
          <a:bodyPr wrap="square">
            <a:spAutoFit/>
          </a:bodyPr>
          <a:lstStyle/>
          <a:p>
            <a:r>
              <a:rPr lang="en-DE" sz="1200" dirty="0"/>
              <a:t>the grassland and arable land areas</a:t>
            </a:r>
            <a:r>
              <a:rPr lang="en-US" sz="1200" dirty="0"/>
              <a:t> after remove boundary</a:t>
            </a:r>
            <a:endParaRPr lang="en-DE" sz="1200" dirty="0"/>
          </a:p>
        </p:txBody>
      </p:sp>
      <p:sp>
        <p:nvSpPr>
          <p:cNvPr id="9" name="Text 4">
            <a:extLst>
              <a:ext uri="{FF2B5EF4-FFF2-40B4-BE49-F238E27FC236}">
                <a16:creationId xmlns:a16="http://schemas.microsoft.com/office/drawing/2014/main" id="{BB91DB87-FEF2-6896-D567-C76D7BB6ADEF}"/>
              </a:ext>
            </a:extLst>
          </p:cNvPr>
          <p:cNvSpPr/>
          <p:nvPr/>
        </p:nvSpPr>
        <p:spPr>
          <a:xfrm>
            <a:off x="548640" y="1600200"/>
            <a:ext cx="5257080" cy="3656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marL="203040" indent="-203040">
              <a:lnSpc>
                <a:spcPct val="104000"/>
              </a:lnSpc>
              <a:spcAft>
                <a:spcPts val="1100"/>
              </a:spcAft>
              <a:buClr>
                <a:srgbClr val="2A3324"/>
              </a:buClr>
              <a:buFont typeface="Symbol" charset="2"/>
              <a:buChar char=""/>
            </a:pPr>
            <a:r>
              <a:rPr lang="en-US" sz="1500" dirty="0">
                <a:solidFill>
                  <a:srgbClr val="2A3324"/>
                </a:solidFill>
                <a:latin typeface="Calibri"/>
                <a:ea typeface="Calibri"/>
              </a:rPr>
              <a:t>Input: </a:t>
            </a:r>
            <a:r>
              <a:rPr lang="en-US" sz="1600" dirty="0"/>
              <a:t>layer of </a:t>
            </a:r>
            <a:r>
              <a:rPr lang="en-DE" sz="1600" dirty="0"/>
              <a:t>the grassland and arable land areas</a:t>
            </a:r>
            <a:endParaRPr lang="de-DE" sz="1500" u="none" strike="noStrike" dirty="0">
              <a:solidFill>
                <a:srgbClr val="000000"/>
              </a:solidFill>
              <a:effectLst/>
              <a:uFillTx/>
              <a:latin typeface="Arial"/>
            </a:endParaRPr>
          </a:p>
          <a:p>
            <a:pPr marL="203040" indent="-203040">
              <a:lnSpc>
                <a:spcPct val="104000"/>
              </a:lnSpc>
              <a:spcAft>
                <a:spcPts val="1100"/>
              </a:spcAft>
              <a:buClr>
                <a:srgbClr val="2A3324"/>
              </a:buClr>
              <a:buFont typeface="Symbol" charset="2"/>
              <a:buChar char=""/>
            </a:pPr>
            <a:r>
              <a:rPr lang="en-US" sz="1500" b="0" u="none" strike="noStrike" dirty="0">
                <a:solidFill>
                  <a:srgbClr val="2A3324"/>
                </a:solidFill>
                <a:effectLst/>
                <a:uFillTx/>
                <a:latin typeface="Calibri"/>
                <a:ea typeface="Calibri"/>
              </a:rPr>
              <a:t>Tool:</a:t>
            </a:r>
            <a:r>
              <a:rPr lang="en-US" sz="1500" dirty="0">
                <a:solidFill>
                  <a:srgbClr val="2A3324"/>
                </a:solidFill>
                <a:latin typeface="Calibri"/>
                <a:ea typeface="Calibri"/>
              </a:rPr>
              <a:t> </a:t>
            </a:r>
            <a:r>
              <a:rPr lang="en-DE" sz="1600" b="1" dirty="0"/>
              <a:t>Dissolve</a:t>
            </a:r>
            <a:endParaRPr lang="en-US" sz="1600" b="1" dirty="0"/>
          </a:p>
        </p:txBody>
      </p:sp>
    </p:spTree>
    <p:extLst>
      <p:ext uri="{BB962C8B-B14F-4D97-AF65-F5344CB8AC3E}">
        <p14:creationId xmlns:p14="http://schemas.microsoft.com/office/powerpoint/2010/main" val="76072014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F88A7C-B2ED-7B3F-68CC-6A0DE17BB0A5}"/>
            </a:ext>
          </a:extLst>
        </p:cNvPr>
        <p:cNvGrpSpPr/>
        <p:nvPr/>
      </p:nvGrpSpPr>
      <p:grpSpPr>
        <a:xfrm>
          <a:off x="0" y="0"/>
          <a:ext cx="0" cy="0"/>
          <a:chOff x="0" y="0"/>
          <a:chExt cx="0" cy="0"/>
        </a:xfrm>
      </p:grpSpPr>
      <p:sp>
        <p:nvSpPr>
          <p:cNvPr id="58" name="Shape 0">
            <a:extLst>
              <a:ext uri="{FF2B5EF4-FFF2-40B4-BE49-F238E27FC236}">
                <a16:creationId xmlns:a16="http://schemas.microsoft.com/office/drawing/2014/main" id="{ED739C31-5D01-CEE4-FC44-56BCB105F74F}"/>
              </a:ext>
            </a:extLst>
          </p:cNvPr>
          <p:cNvSpPr/>
          <p:nvPr/>
        </p:nvSpPr>
        <p:spPr>
          <a:xfrm>
            <a:off x="548640" y="475560"/>
            <a:ext cx="602640" cy="602640"/>
          </a:xfrm>
          <a:prstGeom prst="ellipse">
            <a:avLst/>
          </a:prstGeom>
          <a:solidFill>
            <a:srgbClr val="C2762A"/>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de-DE" sz="1800" b="0" u="none" strike="noStrike">
              <a:solidFill>
                <a:schemeClr val="dk1"/>
              </a:solidFill>
              <a:effectLst/>
              <a:uFillTx/>
              <a:latin typeface="Calibri"/>
            </a:endParaRPr>
          </a:p>
        </p:txBody>
      </p:sp>
      <p:sp>
        <p:nvSpPr>
          <p:cNvPr id="59" name="Text 1">
            <a:extLst>
              <a:ext uri="{FF2B5EF4-FFF2-40B4-BE49-F238E27FC236}">
                <a16:creationId xmlns:a16="http://schemas.microsoft.com/office/drawing/2014/main" id="{755702BC-47A5-DCE0-39B0-670A4237BBA4}"/>
              </a:ext>
            </a:extLst>
          </p:cNvPr>
          <p:cNvSpPr/>
          <p:nvPr/>
        </p:nvSpPr>
        <p:spPr>
          <a:xfrm>
            <a:off x="548640" y="475560"/>
            <a:ext cx="602640" cy="602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2700" b="1" u="none" strike="noStrike">
                <a:solidFill>
                  <a:srgbClr val="FFFFFF"/>
                </a:solidFill>
                <a:effectLst/>
                <a:uFillTx/>
                <a:latin typeface="Calibri"/>
                <a:ea typeface="Calibri"/>
              </a:rPr>
              <a:t>3</a:t>
            </a:r>
            <a:endParaRPr lang="de-DE" sz="2700" b="0" u="none" strike="noStrike">
              <a:solidFill>
                <a:srgbClr val="000000"/>
              </a:solidFill>
              <a:effectLst/>
              <a:uFillTx/>
              <a:latin typeface="Arial"/>
            </a:endParaRPr>
          </a:p>
        </p:txBody>
      </p:sp>
      <p:sp>
        <p:nvSpPr>
          <p:cNvPr id="60" name="Text 2">
            <a:extLst>
              <a:ext uri="{FF2B5EF4-FFF2-40B4-BE49-F238E27FC236}">
                <a16:creationId xmlns:a16="http://schemas.microsoft.com/office/drawing/2014/main" id="{D57E253F-81B1-061E-8BB2-142B5CE3DC7D}"/>
              </a:ext>
            </a:extLst>
          </p:cNvPr>
          <p:cNvSpPr/>
          <p:nvPr/>
        </p:nvSpPr>
        <p:spPr>
          <a:xfrm>
            <a:off x="1298520" y="457200"/>
            <a:ext cx="5485680" cy="236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100" b="1" u="none" strike="noStrike" spc="201">
                <a:solidFill>
                  <a:srgbClr val="C2762A"/>
                </a:solidFill>
                <a:effectLst/>
                <a:uFillTx/>
                <a:latin typeface="Calibri"/>
                <a:ea typeface="Calibri"/>
              </a:rPr>
              <a:t>STEP 3 OF 5</a:t>
            </a:r>
            <a:endParaRPr lang="de-DE" sz="1100" b="0" u="none" strike="noStrike">
              <a:solidFill>
                <a:srgbClr val="000000"/>
              </a:solidFill>
              <a:effectLst/>
              <a:uFillTx/>
              <a:latin typeface="Arial"/>
            </a:endParaRPr>
          </a:p>
        </p:txBody>
      </p:sp>
      <p:sp>
        <p:nvSpPr>
          <p:cNvPr id="61" name="Text 3">
            <a:extLst>
              <a:ext uri="{FF2B5EF4-FFF2-40B4-BE49-F238E27FC236}">
                <a16:creationId xmlns:a16="http://schemas.microsoft.com/office/drawing/2014/main" id="{502F7D56-71E9-FB61-BAA0-3E65A0A403F1}"/>
              </a:ext>
            </a:extLst>
          </p:cNvPr>
          <p:cNvSpPr/>
          <p:nvPr/>
        </p:nvSpPr>
        <p:spPr>
          <a:xfrm>
            <a:off x="1298520" y="694800"/>
            <a:ext cx="10332000" cy="5662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r>
              <a:rPr lang="en-DE" sz="2800" dirty="0"/>
              <a:t>Remove all parts of the </a:t>
            </a:r>
            <a:r>
              <a:rPr lang="en-DE" sz="2800" b="1" dirty="0"/>
              <a:t>Ackerland/</a:t>
            </a:r>
            <a:r>
              <a:rPr lang="en-DE" sz="2800" b="1" dirty="0" err="1"/>
              <a:t>Grünland</a:t>
            </a:r>
            <a:r>
              <a:rPr lang="en-DE" sz="2800" dirty="0"/>
              <a:t> areas that lie within the </a:t>
            </a:r>
            <a:r>
              <a:rPr lang="en-DE" sz="2800" b="1" dirty="0"/>
              <a:t>restricted zones</a:t>
            </a:r>
            <a:r>
              <a:rPr lang="en-DE" sz="2800" dirty="0"/>
              <a:t>.</a:t>
            </a:r>
          </a:p>
        </p:txBody>
      </p:sp>
      <p:pic>
        <p:nvPicPr>
          <p:cNvPr id="2" name="Hình ảnh 1">
            <a:extLst>
              <a:ext uri="{FF2B5EF4-FFF2-40B4-BE49-F238E27FC236}">
                <a16:creationId xmlns:a16="http://schemas.microsoft.com/office/drawing/2014/main" id="{5B83FB6A-6FF1-B599-C9C6-728880C5AE21}"/>
              </a:ext>
            </a:extLst>
          </p:cNvPr>
          <p:cNvPicPr>
            <a:picLocks noChangeAspect="1"/>
          </p:cNvPicPr>
          <p:nvPr/>
        </p:nvPicPr>
        <p:blipFill>
          <a:blip r:embed="rId3"/>
          <a:stretch>
            <a:fillRect/>
          </a:stretch>
        </p:blipFill>
        <p:spPr>
          <a:xfrm>
            <a:off x="335280" y="2232454"/>
            <a:ext cx="4221480" cy="2089776"/>
          </a:xfrm>
          <a:prstGeom prst="rect">
            <a:avLst/>
          </a:prstGeom>
        </p:spPr>
      </p:pic>
      <p:pic>
        <p:nvPicPr>
          <p:cNvPr id="3" name="Hình ảnh 2">
            <a:extLst>
              <a:ext uri="{FF2B5EF4-FFF2-40B4-BE49-F238E27FC236}">
                <a16:creationId xmlns:a16="http://schemas.microsoft.com/office/drawing/2014/main" id="{6CBDBEAA-99A5-EDA4-BEDD-360D69950B61}"/>
              </a:ext>
            </a:extLst>
          </p:cNvPr>
          <p:cNvPicPr>
            <a:picLocks noChangeAspect="1"/>
          </p:cNvPicPr>
          <p:nvPr/>
        </p:nvPicPr>
        <p:blipFill>
          <a:blip r:embed="rId4"/>
          <a:stretch>
            <a:fillRect/>
          </a:stretch>
        </p:blipFill>
        <p:spPr>
          <a:xfrm>
            <a:off x="7025640" y="2232454"/>
            <a:ext cx="4235608" cy="2089776"/>
          </a:xfrm>
          <a:prstGeom prst="rect">
            <a:avLst/>
          </a:prstGeom>
        </p:spPr>
      </p:pic>
      <p:sp>
        <p:nvSpPr>
          <p:cNvPr id="4" name="Hộp Văn bản 3">
            <a:extLst>
              <a:ext uri="{FF2B5EF4-FFF2-40B4-BE49-F238E27FC236}">
                <a16:creationId xmlns:a16="http://schemas.microsoft.com/office/drawing/2014/main" id="{14337EF7-54F3-6979-C776-9B27A10F1423}"/>
              </a:ext>
            </a:extLst>
          </p:cNvPr>
          <p:cNvSpPr txBox="1"/>
          <p:nvPr/>
        </p:nvSpPr>
        <p:spPr>
          <a:xfrm>
            <a:off x="5629136" y="2994660"/>
            <a:ext cx="522900" cy="769441"/>
          </a:xfrm>
          <a:prstGeom prst="rect">
            <a:avLst/>
          </a:prstGeom>
          <a:noFill/>
        </p:spPr>
        <p:txBody>
          <a:bodyPr wrap="none" rtlCol="0">
            <a:spAutoFit/>
          </a:bodyPr>
          <a:lstStyle/>
          <a:p>
            <a:r>
              <a:rPr lang="en-US" sz="4400" b="1" dirty="0">
                <a:solidFill>
                  <a:schemeClr val="bg1"/>
                </a:solidFill>
              </a:rPr>
              <a:t>+</a:t>
            </a:r>
            <a:endParaRPr lang="en-DE" sz="4400" b="1" dirty="0">
              <a:solidFill>
                <a:schemeClr val="bg1"/>
              </a:solidFill>
            </a:endParaRPr>
          </a:p>
        </p:txBody>
      </p:sp>
      <p:cxnSp>
        <p:nvCxnSpPr>
          <p:cNvPr id="5" name="Đường kết nối Mũi tên Thẳng 4">
            <a:extLst>
              <a:ext uri="{FF2B5EF4-FFF2-40B4-BE49-F238E27FC236}">
                <a16:creationId xmlns:a16="http://schemas.microsoft.com/office/drawing/2014/main" id="{8C437276-027F-3DF7-5693-0A9023F6E577}"/>
              </a:ext>
            </a:extLst>
          </p:cNvPr>
          <p:cNvCxnSpPr>
            <a:cxnSpLocks/>
          </p:cNvCxnSpPr>
          <p:nvPr/>
        </p:nvCxnSpPr>
        <p:spPr>
          <a:xfrm>
            <a:off x="5890586" y="3764101"/>
            <a:ext cx="0" cy="68580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pic>
        <p:nvPicPr>
          <p:cNvPr id="6" name="Hình ảnh 5">
            <a:extLst>
              <a:ext uri="{FF2B5EF4-FFF2-40B4-BE49-F238E27FC236}">
                <a16:creationId xmlns:a16="http://schemas.microsoft.com/office/drawing/2014/main" id="{E6AEEB22-E46C-F764-927D-2F9C29A4A41C}"/>
              </a:ext>
            </a:extLst>
          </p:cNvPr>
          <p:cNvPicPr>
            <a:picLocks noChangeAspect="1"/>
          </p:cNvPicPr>
          <p:nvPr/>
        </p:nvPicPr>
        <p:blipFill>
          <a:blip r:embed="rId5"/>
          <a:stretch>
            <a:fillRect/>
          </a:stretch>
        </p:blipFill>
        <p:spPr>
          <a:xfrm>
            <a:off x="3741746" y="4594860"/>
            <a:ext cx="3710614" cy="1847454"/>
          </a:xfrm>
          <a:prstGeom prst="rect">
            <a:avLst/>
          </a:prstGeom>
        </p:spPr>
      </p:pic>
      <p:sp>
        <p:nvSpPr>
          <p:cNvPr id="7" name="Hộp Văn bản 6">
            <a:extLst>
              <a:ext uri="{FF2B5EF4-FFF2-40B4-BE49-F238E27FC236}">
                <a16:creationId xmlns:a16="http://schemas.microsoft.com/office/drawing/2014/main" id="{1DCEA43E-2162-E2C2-EBC6-71CE241D8029}"/>
              </a:ext>
            </a:extLst>
          </p:cNvPr>
          <p:cNvSpPr txBox="1"/>
          <p:nvPr/>
        </p:nvSpPr>
        <p:spPr>
          <a:xfrm>
            <a:off x="742787" y="4467188"/>
            <a:ext cx="2587804" cy="646331"/>
          </a:xfrm>
          <a:prstGeom prst="rect">
            <a:avLst/>
          </a:prstGeom>
          <a:noFill/>
        </p:spPr>
        <p:txBody>
          <a:bodyPr wrap="square">
            <a:spAutoFit/>
          </a:bodyPr>
          <a:lstStyle/>
          <a:p>
            <a:r>
              <a:rPr lang="en-DE" sz="1200" dirty="0"/>
              <a:t>The land areas that meet the criteria and are located at a sufficient distance from roads and rivers.</a:t>
            </a:r>
          </a:p>
        </p:txBody>
      </p:sp>
      <p:sp>
        <p:nvSpPr>
          <p:cNvPr id="8" name="Hộp Văn bản 7">
            <a:extLst>
              <a:ext uri="{FF2B5EF4-FFF2-40B4-BE49-F238E27FC236}">
                <a16:creationId xmlns:a16="http://schemas.microsoft.com/office/drawing/2014/main" id="{3E72FE18-0EB8-19A0-265D-E09C39F0B43F}"/>
              </a:ext>
            </a:extLst>
          </p:cNvPr>
          <p:cNvSpPr txBox="1"/>
          <p:nvPr/>
        </p:nvSpPr>
        <p:spPr>
          <a:xfrm>
            <a:off x="2388706" y="6442314"/>
            <a:ext cx="7783993" cy="246221"/>
          </a:xfrm>
          <a:prstGeom prst="rect">
            <a:avLst/>
          </a:prstGeom>
          <a:noFill/>
        </p:spPr>
        <p:txBody>
          <a:bodyPr wrap="square">
            <a:spAutoFit/>
          </a:bodyPr>
          <a:lstStyle/>
          <a:p>
            <a:r>
              <a:rPr lang="en-US" sz="1000" dirty="0" err="1"/>
              <a:t>Günland</a:t>
            </a:r>
            <a:r>
              <a:rPr lang="en-US" sz="1000" dirty="0"/>
              <a:t> and Ackerland </a:t>
            </a:r>
            <a:r>
              <a:rPr lang="en-DE" sz="1000" dirty="0"/>
              <a:t>that meet the criteria and are located at a sufficient distance from roads and rivers.</a:t>
            </a:r>
          </a:p>
        </p:txBody>
      </p:sp>
      <p:sp>
        <p:nvSpPr>
          <p:cNvPr id="10" name="Hộp Văn bản 9">
            <a:extLst>
              <a:ext uri="{FF2B5EF4-FFF2-40B4-BE49-F238E27FC236}">
                <a16:creationId xmlns:a16="http://schemas.microsoft.com/office/drawing/2014/main" id="{9AC24613-6B71-8084-43B7-7CD91D75E9E5}"/>
              </a:ext>
            </a:extLst>
          </p:cNvPr>
          <p:cNvSpPr txBox="1"/>
          <p:nvPr/>
        </p:nvSpPr>
        <p:spPr>
          <a:xfrm>
            <a:off x="7025640" y="4317861"/>
            <a:ext cx="6096000" cy="276999"/>
          </a:xfrm>
          <a:prstGeom prst="rect">
            <a:avLst/>
          </a:prstGeom>
          <a:noFill/>
        </p:spPr>
        <p:txBody>
          <a:bodyPr wrap="square">
            <a:spAutoFit/>
          </a:bodyPr>
          <a:lstStyle/>
          <a:p>
            <a:r>
              <a:rPr lang="en-DE" sz="1200" dirty="0"/>
              <a:t>the grassland and arable land areas</a:t>
            </a:r>
            <a:r>
              <a:rPr lang="en-US" sz="1200" dirty="0"/>
              <a:t> after remove boundary</a:t>
            </a:r>
            <a:endParaRPr lang="en-DE" sz="1200" dirty="0"/>
          </a:p>
        </p:txBody>
      </p:sp>
      <p:sp>
        <p:nvSpPr>
          <p:cNvPr id="12" name="Hộp Văn bản 11">
            <a:extLst>
              <a:ext uri="{FF2B5EF4-FFF2-40B4-BE49-F238E27FC236}">
                <a16:creationId xmlns:a16="http://schemas.microsoft.com/office/drawing/2014/main" id="{68D95EF8-B825-7856-4A4F-C34EF38A0090}"/>
              </a:ext>
            </a:extLst>
          </p:cNvPr>
          <p:cNvSpPr txBox="1"/>
          <p:nvPr/>
        </p:nvSpPr>
        <p:spPr>
          <a:xfrm>
            <a:off x="5657990" y="2849701"/>
            <a:ext cx="465192" cy="769441"/>
          </a:xfrm>
          <a:prstGeom prst="rect">
            <a:avLst/>
          </a:prstGeom>
          <a:noFill/>
        </p:spPr>
        <p:txBody>
          <a:bodyPr wrap="none" rtlCol="0">
            <a:spAutoFit/>
          </a:bodyPr>
          <a:lstStyle/>
          <a:p>
            <a:r>
              <a:rPr lang="en-US" sz="4400" b="1" dirty="0"/>
              <a:t>+</a:t>
            </a:r>
            <a:endParaRPr lang="en-DE" sz="4400" b="1" dirty="0">
              <a:solidFill>
                <a:schemeClr val="bg1"/>
              </a:solidFill>
            </a:endParaRPr>
          </a:p>
        </p:txBody>
      </p:sp>
      <p:cxnSp>
        <p:nvCxnSpPr>
          <p:cNvPr id="13" name="Đường kết nối Mũi tên Thẳng 12">
            <a:extLst>
              <a:ext uri="{FF2B5EF4-FFF2-40B4-BE49-F238E27FC236}">
                <a16:creationId xmlns:a16="http://schemas.microsoft.com/office/drawing/2014/main" id="{B379BD79-FF0B-B4AC-2570-F1178094AF07}"/>
              </a:ext>
            </a:extLst>
          </p:cNvPr>
          <p:cNvCxnSpPr>
            <a:cxnSpLocks/>
          </p:cNvCxnSpPr>
          <p:nvPr/>
        </p:nvCxnSpPr>
        <p:spPr>
          <a:xfrm>
            <a:off x="5890586" y="3619142"/>
            <a:ext cx="0" cy="685800"/>
          </a:xfrm>
          <a:prstGeom prst="straightConnector1">
            <a:avLst/>
          </a:prstGeom>
          <a:ln>
            <a:solidFill>
              <a:schemeClr val="tx1"/>
            </a:solidFill>
            <a:tailEnd type="triangle"/>
          </a:ln>
        </p:spPr>
        <p:style>
          <a:lnRef idx="1">
            <a:schemeClr val="dk1"/>
          </a:lnRef>
          <a:fillRef idx="0">
            <a:schemeClr val="dk1"/>
          </a:fillRef>
          <a:effectRef idx="0">
            <a:schemeClr val="dk1"/>
          </a:effectRef>
          <a:fontRef idx="minor">
            <a:schemeClr val="tx1"/>
          </a:fontRef>
        </p:style>
      </p:cxnSp>
      <p:sp>
        <p:nvSpPr>
          <p:cNvPr id="15" name="Text 4">
            <a:extLst>
              <a:ext uri="{FF2B5EF4-FFF2-40B4-BE49-F238E27FC236}">
                <a16:creationId xmlns:a16="http://schemas.microsoft.com/office/drawing/2014/main" id="{1B0DA1EB-C318-AC9D-099E-A37DE7703D7D}"/>
              </a:ext>
            </a:extLst>
          </p:cNvPr>
          <p:cNvSpPr/>
          <p:nvPr/>
        </p:nvSpPr>
        <p:spPr>
          <a:xfrm>
            <a:off x="548640" y="1600200"/>
            <a:ext cx="5257080" cy="3656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marL="203040" indent="-203040">
              <a:lnSpc>
                <a:spcPct val="104000"/>
              </a:lnSpc>
              <a:spcAft>
                <a:spcPts val="1100"/>
              </a:spcAft>
              <a:buClr>
                <a:srgbClr val="2A3324"/>
              </a:buClr>
              <a:buFont typeface="Symbol" charset="2"/>
              <a:buChar char=""/>
            </a:pPr>
            <a:r>
              <a:rPr lang="en-US" sz="1500" dirty="0">
                <a:solidFill>
                  <a:srgbClr val="2A3324"/>
                </a:solidFill>
                <a:latin typeface="Calibri"/>
                <a:ea typeface="Calibri"/>
              </a:rPr>
              <a:t>Input: </a:t>
            </a:r>
            <a:r>
              <a:rPr lang="en-US" sz="1600" dirty="0"/>
              <a:t>layer after dissolve + </a:t>
            </a:r>
            <a:r>
              <a:rPr lang="en-US" sz="1600" dirty="0" err="1">
                <a:ea typeface="Calibri"/>
              </a:rPr>
              <a:t>Total_Exclusion_Area</a:t>
            </a:r>
            <a:r>
              <a:rPr lang="de-DE" sz="1600" dirty="0">
                <a:ea typeface="Calibri"/>
              </a:rPr>
              <a:t> layer</a:t>
            </a:r>
            <a:endParaRPr lang="en-US" sz="1600" dirty="0"/>
          </a:p>
          <a:p>
            <a:pPr marL="203040" indent="-203040">
              <a:lnSpc>
                <a:spcPct val="104000"/>
              </a:lnSpc>
              <a:spcAft>
                <a:spcPts val="1100"/>
              </a:spcAft>
              <a:buClr>
                <a:srgbClr val="2A3324"/>
              </a:buClr>
              <a:buFont typeface="Symbol" charset="2"/>
              <a:buChar char=""/>
            </a:pPr>
            <a:r>
              <a:rPr lang="en-US" sz="1500" b="0" u="none" strike="noStrike" dirty="0">
                <a:solidFill>
                  <a:srgbClr val="2A3324"/>
                </a:solidFill>
                <a:effectLst/>
                <a:uFillTx/>
                <a:latin typeface="Calibri"/>
                <a:ea typeface="Calibri"/>
              </a:rPr>
              <a:t>Tool:</a:t>
            </a:r>
            <a:r>
              <a:rPr lang="en-US" sz="1500" dirty="0">
                <a:solidFill>
                  <a:srgbClr val="2A3324"/>
                </a:solidFill>
                <a:latin typeface="Calibri"/>
                <a:ea typeface="Calibri"/>
              </a:rPr>
              <a:t> </a:t>
            </a:r>
            <a:r>
              <a:rPr lang="en-DE" sz="1600" b="1" dirty="0"/>
              <a:t>Difference</a:t>
            </a:r>
            <a:endParaRPr lang="en-US" sz="1600" b="1" dirty="0"/>
          </a:p>
        </p:txBody>
      </p:sp>
    </p:spTree>
    <p:extLst>
      <p:ext uri="{BB962C8B-B14F-4D97-AF65-F5344CB8AC3E}">
        <p14:creationId xmlns:p14="http://schemas.microsoft.com/office/powerpoint/2010/main" val="292973744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FFDF78-FC23-2C9F-CE41-7A39868BD64F}"/>
            </a:ext>
          </a:extLst>
        </p:cNvPr>
        <p:cNvGrpSpPr/>
        <p:nvPr/>
      </p:nvGrpSpPr>
      <p:grpSpPr>
        <a:xfrm>
          <a:off x="0" y="0"/>
          <a:ext cx="0" cy="0"/>
          <a:chOff x="0" y="0"/>
          <a:chExt cx="0" cy="0"/>
        </a:xfrm>
      </p:grpSpPr>
      <p:sp>
        <p:nvSpPr>
          <p:cNvPr id="67" name="Shape 0">
            <a:extLst>
              <a:ext uri="{FF2B5EF4-FFF2-40B4-BE49-F238E27FC236}">
                <a16:creationId xmlns:a16="http://schemas.microsoft.com/office/drawing/2014/main" id="{4A61FEEB-FEFE-812D-B63B-24342DF62C63}"/>
              </a:ext>
            </a:extLst>
          </p:cNvPr>
          <p:cNvSpPr/>
          <p:nvPr/>
        </p:nvSpPr>
        <p:spPr>
          <a:xfrm>
            <a:off x="548640" y="475560"/>
            <a:ext cx="602640" cy="602640"/>
          </a:xfrm>
          <a:prstGeom prst="ellipse">
            <a:avLst/>
          </a:prstGeom>
          <a:solidFill>
            <a:srgbClr val="C2762A"/>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de-DE" sz="1800" b="0" u="none" strike="noStrike">
              <a:solidFill>
                <a:schemeClr val="dk1"/>
              </a:solidFill>
              <a:effectLst/>
              <a:uFillTx/>
              <a:latin typeface="Calibri"/>
            </a:endParaRPr>
          </a:p>
        </p:txBody>
      </p:sp>
      <p:sp>
        <p:nvSpPr>
          <p:cNvPr id="68" name="Text 1">
            <a:extLst>
              <a:ext uri="{FF2B5EF4-FFF2-40B4-BE49-F238E27FC236}">
                <a16:creationId xmlns:a16="http://schemas.microsoft.com/office/drawing/2014/main" id="{52876080-95A6-D973-04A6-BF670395E5F5}"/>
              </a:ext>
            </a:extLst>
          </p:cNvPr>
          <p:cNvSpPr/>
          <p:nvPr/>
        </p:nvSpPr>
        <p:spPr>
          <a:xfrm>
            <a:off x="548640" y="475560"/>
            <a:ext cx="602640" cy="602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2700" b="1" u="none" strike="noStrike">
                <a:solidFill>
                  <a:srgbClr val="FFFFFF"/>
                </a:solidFill>
                <a:effectLst/>
                <a:uFillTx/>
                <a:latin typeface="Calibri"/>
                <a:ea typeface="Calibri"/>
              </a:rPr>
              <a:t>4</a:t>
            </a:r>
            <a:endParaRPr lang="de-DE" sz="2700" b="0" u="none" strike="noStrike">
              <a:solidFill>
                <a:srgbClr val="000000"/>
              </a:solidFill>
              <a:effectLst/>
              <a:uFillTx/>
              <a:latin typeface="Arial"/>
            </a:endParaRPr>
          </a:p>
        </p:txBody>
      </p:sp>
      <p:sp>
        <p:nvSpPr>
          <p:cNvPr id="69" name="Text 2">
            <a:extLst>
              <a:ext uri="{FF2B5EF4-FFF2-40B4-BE49-F238E27FC236}">
                <a16:creationId xmlns:a16="http://schemas.microsoft.com/office/drawing/2014/main" id="{3F5BA6AC-D76A-A513-DB88-91F323CF3472}"/>
              </a:ext>
            </a:extLst>
          </p:cNvPr>
          <p:cNvSpPr/>
          <p:nvPr/>
        </p:nvSpPr>
        <p:spPr>
          <a:xfrm>
            <a:off x="1298520" y="457200"/>
            <a:ext cx="5485680" cy="236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100" b="1" u="none" strike="noStrike" spc="201">
                <a:solidFill>
                  <a:srgbClr val="C2762A"/>
                </a:solidFill>
                <a:effectLst/>
                <a:uFillTx/>
                <a:latin typeface="Calibri"/>
                <a:ea typeface="Calibri"/>
              </a:rPr>
              <a:t>STEP 4 OF 5</a:t>
            </a:r>
            <a:endParaRPr lang="de-DE" sz="1100" b="0" u="none" strike="noStrike">
              <a:solidFill>
                <a:srgbClr val="000000"/>
              </a:solidFill>
              <a:effectLst/>
              <a:uFillTx/>
              <a:latin typeface="Arial"/>
            </a:endParaRPr>
          </a:p>
        </p:txBody>
      </p:sp>
      <p:sp>
        <p:nvSpPr>
          <p:cNvPr id="70" name="Text 3">
            <a:extLst>
              <a:ext uri="{FF2B5EF4-FFF2-40B4-BE49-F238E27FC236}">
                <a16:creationId xmlns:a16="http://schemas.microsoft.com/office/drawing/2014/main" id="{D8DA6F6B-D427-0ECE-0A09-18DD9FF213E5}"/>
              </a:ext>
            </a:extLst>
          </p:cNvPr>
          <p:cNvSpPr/>
          <p:nvPr/>
        </p:nvSpPr>
        <p:spPr>
          <a:xfrm>
            <a:off x="1298520" y="694800"/>
            <a:ext cx="10332000" cy="5662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tabLst>
                <a:tab pos="0" algn="l"/>
              </a:tabLst>
            </a:pPr>
            <a:r>
              <a:rPr lang="en-DE" sz="2800" dirty="0"/>
              <a:t>Filter the areas with an area greater than </a:t>
            </a:r>
            <a:r>
              <a:rPr lang="en-DE" sz="2800" b="1" dirty="0"/>
              <a:t>18 ha</a:t>
            </a:r>
            <a:r>
              <a:rPr lang="en-DE" sz="2800" dirty="0"/>
              <a:t>.</a:t>
            </a:r>
            <a:endParaRPr lang="de-DE" sz="2700" b="0" u="none" strike="noStrike" dirty="0">
              <a:solidFill>
                <a:srgbClr val="000000"/>
              </a:solidFill>
              <a:effectLst/>
              <a:uFillTx/>
              <a:latin typeface="Arial"/>
            </a:endParaRPr>
          </a:p>
        </p:txBody>
      </p:sp>
      <p:sp>
        <p:nvSpPr>
          <p:cNvPr id="3" name="Text 4">
            <a:extLst>
              <a:ext uri="{FF2B5EF4-FFF2-40B4-BE49-F238E27FC236}">
                <a16:creationId xmlns:a16="http://schemas.microsoft.com/office/drawing/2014/main" id="{3A96DF42-5532-FB3D-3226-2C1B50FA3BE7}"/>
              </a:ext>
            </a:extLst>
          </p:cNvPr>
          <p:cNvSpPr/>
          <p:nvPr/>
        </p:nvSpPr>
        <p:spPr>
          <a:xfrm>
            <a:off x="548640" y="1600200"/>
            <a:ext cx="5257080" cy="3656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marL="203040" indent="-203040">
              <a:lnSpc>
                <a:spcPct val="104000"/>
              </a:lnSpc>
              <a:spcAft>
                <a:spcPts val="1100"/>
              </a:spcAft>
              <a:buClr>
                <a:srgbClr val="2A3324"/>
              </a:buClr>
              <a:buFont typeface="Symbol" charset="2"/>
              <a:buChar char=""/>
            </a:pPr>
            <a:r>
              <a:rPr lang="en-US" sz="1500" dirty="0">
                <a:solidFill>
                  <a:srgbClr val="2A3324"/>
                </a:solidFill>
                <a:latin typeface="Calibri"/>
                <a:ea typeface="Calibri"/>
              </a:rPr>
              <a:t>Input: layer after </a:t>
            </a:r>
            <a:r>
              <a:rPr lang="en-US" sz="1500" dirty="0" err="1">
                <a:solidFill>
                  <a:srgbClr val="2A3324"/>
                </a:solidFill>
                <a:latin typeface="Calibri"/>
                <a:ea typeface="Calibri"/>
              </a:rPr>
              <a:t>diffirent</a:t>
            </a:r>
            <a:endParaRPr lang="en-US" sz="1500" dirty="0">
              <a:solidFill>
                <a:srgbClr val="2A3324"/>
              </a:solidFill>
              <a:latin typeface="Calibri"/>
              <a:ea typeface="Calibri"/>
            </a:endParaRPr>
          </a:p>
          <a:p>
            <a:pPr marL="203040" indent="-203040">
              <a:lnSpc>
                <a:spcPct val="104000"/>
              </a:lnSpc>
              <a:spcAft>
                <a:spcPts val="1100"/>
              </a:spcAft>
              <a:buClr>
                <a:srgbClr val="2A3324"/>
              </a:buClr>
              <a:buFont typeface="Symbol" charset="2"/>
              <a:buChar char=""/>
            </a:pPr>
            <a:r>
              <a:rPr lang="en-US" sz="1500" b="0" u="none" strike="noStrike" dirty="0">
                <a:solidFill>
                  <a:srgbClr val="2A3324"/>
                </a:solidFill>
                <a:effectLst/>
                <a:uFillTx/>
                <a:latin typeface="Calibri"/>
                <a:ea typeface="Calibri"/>
              </a:rPr>
              <a:t>Tool:</a:t>
            </a:r>
            <a:r>
              <a:rPr lang="en-US" sz="1500" dirty="0">
                <a:solidFill>
                  <a:srgbClr val="2A3324"/>
                </a:solidFill>
                <a:latin typeface="Calibri"/>
                <a:ea typeface="Calibri"/>
              </a:rPr>
              <a:t> </a:t>
            </a:r>
            <a:r>
              <a:rPr lang="en-DE" sz="1600" b="1" dirty="0"/>
              <a:t>Extract by Expression</a:t>
            </a:r>
            <a:endParaRPr lang="en-US" sz="1600" b="1" dirty="0"/>
          </a:p>
          <a:p>
            <a:pPr marL="203040" indent="-203040">
              <a:lnSpc>
                <a:spcPct val="100000"/>
              </a:lnSpc>
              <a:spcAft>
                <a:spcPts val="1100"/>
              </a:spcAft>
              <a:buClr>
                <a:srgbClr val="2A3324"/>
              </a:buClr>
              <a:buFont typeface="Symbol" charset="2"/>
              <a:buChar char=""/>
            </a:pPr>
            <a:r>
              <a:rPr lang="en-US" sz="1600" dirty="0"/>
              <a:t>E</a:t>
            </a:r>
            <a:r>
              <a:rPr lang="en-DE" sz="1600" dirty="0" err="1"/>
              <a:t>xpression</a:t>
            </a:r>
            <a:r>
              <a:rPr lang="en-US" sz="1600" dirty="0"/>
              <a:t>: </a:t>
            </a:r>
            <a:r>
              <a:rPr lang="en-DE" dirty="0"/>
              <a:t>$area &gt;= 180000</a:t>
            </a:r>
            <a:r>
              <a:rPr lang="en-US" dirty="0"/>
              <a:t> </a:t>
            </a:r>
            <a:r>
              <a:rPr lang="en-DE" dirty="0"/>
              <a:t>m²</a:t>
            </a:r>
            <a:r>
              <a:rPr lang="en-US" dirty="0"/>
              <a:t> (</a:t>
            </a:r>
            <a:r>
              <a:rPr lang="en-DE" dirty="0"/>
              <a:t>1 ha = 10.000 m²</a:t>
            </a:r>
            <a:r>
              <a:rPr lang="en-US" dirty="0"/>
              <a:t>)</a:t>
            </a:r>
            <a:endParaRPr lang="en-DE" dirty="0"/>
          </a:p>
          <a:p>
            <a:pPr marL="203040" indent="-203040">
              <a:lnSpc>
                <a:spcPct val="104000"/>
              </a:lnSpc>
              <a:spcAft>
                <a:spcPts val="1100"/>
              </a:spcAft>
              <a:buClr>
                <a:srgbClr val="2A3324"/>
              </a:buClr>
              <a:buFont typeface="Symbol" charset="2"/>
              <a:buChar char=""/>
            </a:pPr>
            <a:endParaRPr lang="de-DE" sz="1500" b="0" u="none" strike="noStrike" dirty="0">
              <a:solidFill>
                <a:srgbClr val="000000"/>
              </a:solidFill>
              <a:effectLst/>
              <a:uFillTx/>
              <a:latin typeface="Arial"/>
            </a:endParaRPr>
          </a:p>
        </p:txBody>
      </p:sp>
      <p:pic>
        <p:nvPicPr>
          <p:cNvPr id="5" name="Hình ảnh 4">
            <a:extLst>
              <a:ext uri="{FF2B5EF4-FFF2-40B4-BE49-F238E27FC236}">
                <a16:creationId xmlns:a16="http://schemas.microsoft.com/office/drawing/2014/main" id="{3F365164-441B-15AB-819E-F0367E77A57E}"/>
              </a:ext>
            </a:extLst>
          </p:cNvPr>
          <p:cNvPicPr>
            <a:picLocks noChangeAspect="1"/>
          </p:cNvPicPr>
          <p:nvPr/>
        </p:nvPicPr>
        <p:blipFill>
          <a:blip r:embed="rId3"/>
          <a:stretch>
            <a:fillRect/>
          </a:stretch>
        </p:blipFill>
        <p:spPr>
          <a:xfrm>
            <a:off x="3790950" y="3149808"/>
            <a:ext cx="4610100" cy="2882900"/>
          </a:xfrm>
          <a:prstGeom prst="rect">
            <a:avLst/>
          </a:prstGeom>
        </p:spPr>
      </p:pic>
      <p:sp>
        <p:nvSpPr>
          <p:cNvPr id="7" name="Hộp Văn bản 6">
            <a:extLst>
              <a:ext uri="{FF2B5EF4-FFF2-40B4-BE49-F238E27FC236}">
                <a16:creationId xmlns:a16="http://schemas.microsoft.com/office/drawing/2014/main" id="{B0DE009D-A083-8580-A571-7B426172DEA7}"/>
              </a:ext>
            </a:extLst>
          </p:cNvPr>
          <p:cNvSpPr txBox="1"/>
          <p:nvPr/>
        </p:nvSpPr>
        <p:spPr>
          <a:xfrm>
            <a:off x="4948577" y="6123801"/>
            <a:ext cx="4507550" cy="276999"/>
          </a:xfrm>
          <a:prstGeom prst="rect">
            <a:avLst/>
          </a:prstGeom>
          <a:noFill/>
        </p:spPr>
        <p:txBody>
          <a:bodyPr wrap="square">
            <a:spAutoFit/>
          </a:bodyPr>
          <a:lstStyle/>
          <a:p>
            <a:r>
              <a:rPr lang="en-DE" sz="1200" dirty="0"/>
              <a:t>Suitable</a:t>
            </a:r>
            <a:r>
              <a:rPr lang="en-US" sz="1200" dirty="0"/>
              <a:t> land for</a:t>
            </a:r>
            <a:r>
              <a:rPr lang="en-DE" sz="1200" dirty="0"/>
              <a:t> Wind Farm Areas</a:t>
            </a:r>
          </a:p>
        </p:txBody>
      </p:sp>
    </p:spTree>
    <p:extLst>
      <p:ext uri="{BB962C8B-B14F-4D97-AF65-F5344CB8AC3E}">
        <p14:creationId xmlns:p14="http://schemas.microsoft.com/office/powerpoint/2010/main" val="346804615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081905-822C-AD44-EABC-1A76F7BE5F93}"/>
            </a:ext>
          </a:extLst>
        </p:cNvPr>
        <p:cNvGrpSpPr/>
        <p:nvPr/>
      </p:nvGrpSpPr>
      <p:grpSpPr>
        <a:xfrm>
          <a:off x="0" y="0"/>
          <a:ext cx="0" cy="0"/>
          <a:chOff x="0" y="0"/>
          <a:chExt cx="0" cy="0"/>
        </a:xfrm>
      </p:grpSpPr>
      <p:sp>
        <p:nvSpPr>
          <p:cNvPr id="76" name="Shape 0">
            <a:extLst>
              <a:ext uri="{FF2B5EF4-FFF2-40B4-BE49-F238E27FC236}">
                <a16:creationId xmlns:a16="http://schemas.microsoft.com/office/drawing/2014/main" id="{32D393A7-ECFA-F1BA-706E-BB6415A118C3}"/>
              </a:ext>
            </a:extLst>
          </p:cNvPr>
          <p:cNvSpPr/>
          <p:nvPr/>
        </p:nvSpPr>
        <p:spPr>
          <a:xfrm>
            <a:off x="548640" y="475560"/>
            <a:ext cx="602640" cy="602640"/>
          </a:xfrm>
          <a:prstGeom prst="ellipse">
            <a:avLst/>
          </a:prstGeom>
          <a:solidFill>
            <a:srgbClr val="C2762A"/>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de-DE" sz="1800" b="0" u="none" strike="noStrike">
              <a:solidFill>
                <a:schemeClr val="dk1"/>
              </a:solidFill>
              <a:effectLst/>
              <a:uFillTx/>
              <a:latin typeface="Calibri"/>
            </a:endParaRPr>
          </a:p>
        </p:txBody>
      </p:sp>
      <p:sp>
        <p:nvSpPr>
          <p:cNvPr id="77" name="Text 1">
            <a:extLst>
              <a:ext uri="{FF2B5EF4-FFF2-40B4-BE49-F238E27FC236}">
                <a16:creationId xmlns:a16="http://schemas.microsoft.com/office/drawing/2014/main" id="{2516CF4E-D5FC-1A49-8DF0-8DEEC4EE66BB}"/>
              </a:ext>
            </a:extLst>
          </p:cNvPr>
          <p:cNvSpPr/>
          <p:nvPr/>
        </p:nvSpPr>
        <p:spPr>
          <a:xfrm>
            <a:off x="548640" y="475560"/>
            <a:ext cx="602640" cy="602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2700" b="1" u="none" strike="noStrike">
                <a:solidFill>
                  <a:srgbClr val="FFFFFF"/>
                </a:solidFill>
                <a:effectLst/>
                <a:uFillTx/>
                <a:latin typeface="Calibri"/>
                <a:ea typeface="Calibri"/>
              </a:rPr>
              <a:t>5</a:t>
            </a:r>
            <a:endParaRPr lang="de-DE" sz="2700" b="0" u="none" strike="noStrike">
              <a:solidFill>
                <a:srgbClr val="000000"/>
              </a:solidFill>
              <a:effectLst/>
              <a:uFillTx/>
              <a:latin typeface="Arial"/>
            </a:endParaRPr>
          </a:p>
        </p:txBody>
      </p:sp>
      <p:sp>
        <p:nvSpPr>
          <p:cNvPr id="78" name="Text 2">
            <a:extLst>
              <a:ext uri="{FF2B5EF4-FFF2-40B4-BE49-F238E27FC236}">
                <a16:creationId xmlns:a16="http://schemas.microsoft.com/office/drawing/2014/main" id="{DB6E121E-CFE9-6435-897A-7EEDF83681CD}"/>
              </a:ext>
            </a:extLst>
          </p:cNvPr>
          <p:cNvSpPr/>
          <p:nvPr/>
        </p:nvSpPr>
        <p:spPr>
          <a:xfrm>
            <a:off x="1298520" y="457200"/>
            <a:ext cx="5485680" cy="236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100" b="1" u="none" strike="noStrike" spc="201">
                <a:solidFill>
                  <a:srgbClr val="C2762A"/>
                </a:solidFill>
                <a:effectLst/>
                <a:uFillTx/>
                <a:latin typeface="Calibri"/>
                <a:ea typeface="Calibri"/>
              </a:rPr>
              <a:t>STEP 5 OF 5</a:t>
            </a:r>
            <a:endParaRPr lang="de-DE" sz="1100" b="0" u="none" strike="noStrike">
              <a:solidFill>
                <a:srgbClr val="000000"/>
              </a:solidFill>
              <a:effectLst/>
              <a:uFillTx/>
              <a:latin typeface="Arial"/>
            </a:endParaRPr>
          </a:p>
        </p:txBody>
      </p:sp>
      <p:sp>
        <p:nvSpPr>
          <p:cNvPr id="79" name="Text 3">
            <a:extLst>
              <a:ext uri="{FF2B5EF4-FFF2-40B4-BE49-F238E27FC236}">
                <a16:creationId xmlns:a16="http://schemas.microsoft.com/office/drawing/2014/main" id="{E6138A15-1B4F-5615-2F2C-6C40A7CAF6E1}"/>
              </a:ext>
            </a:extLst>
          </p:cNvPr>
          <p:cNvSpPr/>
          <p:nvPr/>
        </p:nvSpPr>
        <p:spPr>
          <a:xfrm>
            <a:off x="1298520" y="694800"/>
            <a:ext cx="10332000" cy="5662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2700" b="1" u="none" strike="noStrike">
                <a:solidFill>
                  <a:srgbClr val="22371F"/>
                </a:solidFill>
                <a:effectLst/>
                <a:uFillTx/>
                <a:latin typeface="Cambria"/>
                <a:ea typeface="Cambria"/>
              </a:rPr>
              <a:t>Producing the Digital Landscape Model map</a:t>
            </a:r>
            <a:endParaRPr lang="de-DE" sz="2700" b="0" u="none" strike="noStrike">
              <a:solidFill>
                <a:srgbClr val="000000"/>
              </a:solidFill>
              <a:effectLst/>
              <a:uFillTx/>
              <a:latin typeface="Arial"/>
            </a:endParaRPr>
          </a:p>
        </p:txBody>
      </p:sp>
      <p:pic>
        <p:nvPicPr>
          <p:cNvPr id="3" name="Hình ảnh 2">
            <a:extLst>
              <a:ext uri="{FF2B5EF4-FFF2-40B4-BE49-F238E27FC236}">
                <a16:creationId xmlns:a16="http://schemas.microsoft.com/office/drawing/2014/main" id="{A0F407B4-BCE8-58AF-1AFB-75F2485BD4B5}"/>
              </a:ext>
            </a:extLst>
          </p:cNvPr>
          <p:cNvPicPr>
            <a:picLocks noChangeAspect="1"/>
          </p:cNvPicPr>
          <p:nvPr/>
        </p:nvPicPr>
        <p:blipFill>
          <a:blip r:embed="rId3"/>
          <a:stretch>
            <a:fillRect/>
          </a:stretch>
        </p:blipFill>
        <p:spPr>
          <a:xfrm>
            <a:off x="2154116" y="1354015"/>
            <a:ext cx="7726176" cy="3886200"/>
          </a:xfrm>
          <a:prstGeom prst="rect">
            <a:avLst/>
          </a:prstGeom>
        </p:spPr>
      </p:pic>
      <p:sp>
        <p:nvSpPr>
          <p:cNvPr id="7" name="Hộp Văn bản 6">
            <a:extLst>
              <a:ext uri="{FF2B5EF4-FFF2-40B4-BE49-F238E27FC236}">
                <a16:creationId xmlns:a16="http://schemas.microsoft.com/office/drawing/2014/main" id="{BA7D268C-AE44-11D9-14AA-49F76006D3F9}"/>
              </a:ext>
            </a:extLst>
          </p:cNvPr>
          <p:cNvSpPr txBox="1"/>
          <p:nvPr/>
        </p:nvSpPr>
        <p:spPr>
          <a:xfrm>
            <a:off x="4879704" y="5333150"/>
            <a:ext cx="4507550" cy="276999"/>
          </a:xfrm>
          <a:prstGeom prst="rect">
            <a:avLst/>
          </a:prstGeom>
          <a:noFill/>
        </p:spPr>
        <p:txBody>
          <a:bodyPr wrap="square">
            <a:spAutoFit/>
          </a:bodyPr>
          <a:lstStyle/>
          <a:p>
            <a:r>
              <a:rPr lang="en-US" sz="1200" dirty="0"/>
              <a:t>final Result</a:t>
            </a:r>
            <a:endParaRPr lang="en-DE" sz="1200" dirty="0"/>
          </a:p>
        </p:txBody>
      </p:sp>
    </p:spTree>
    <p:extLst>
      <p:ext uri="{BB962C8B-B14F-4D97-AF65-F5344CB8AC3E}">
        <p14:creationId xmlns:p14="http://schemas.microsoft.com/office/powerpoint/2010/main" val="277213481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213720"/>
        </a:solidFill>
        <a:effectLst/>
      </p:bgPr>
    </p:bg>
    <p:spTree>
      <p:nvGrpSpPr>
        <p:cNvPr id="1" name="">
          <a:extLst>
            <a:ext uri="{FF2B5EF4-FFF2-40B4-BE49-F238E27FC236}">
              <a16:creationId xmlns:a16="http://schemas.microsoft.com/office/drawing/2014/main" id="{F0100713-9B31-C62E-AD9A-562D1A901DDF}"/>
            </a:ext>
          </a:extLst>
        </p:cNvPr>
        <p:cNvGrpSpPr/>
        <p:nvPr/>
      </p:nvGrpSpPr>
      <p:grpSpPr>
        <a:xfrm>
          <a:off x="0" y="0"/>
          <a:ext cx="0" cy="0"/>
          <a:chOff x="0" y="0"/>
          <a:chExt cx="0" cy="0"/>
        </a:xfrm>
      </p:grpSpPr>
      <p:sp>
        <p:nvSpPr>
          <p:cNvPr id="216" name="Text 105">
            <a:extLst>
              <a:ext uri="{FF2B5EF4-FFF2-40B4-BE49-F238E27FC236}">
                <a16:creationId xmlns:a16="http://schemas.microsoft.com/office/drawing/2014/main" id="{9F806253-4E74-4131-1B0C-D6FC450BE2A5}"/>
              </a:ext>
            </a:extLst>
          </p:cNvPr>
          <p:cNvSpPr/>
          <p:nvPr/>
        </p:nvSpPr>
        <p:spPr>
          <a:xfrm>
            <a:off x="548640" y="502920"/>
            <a:ext cx="7314480" cy="5479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3000" b="1" u="none" strike="noStrike">
                <a:solidFill>
                  <a:srgbClr val="FFFFFF"/>
                </a:solidFill>
                <a:effectLst/>
                <a:uFillTx/>
                <a:latin typeface="Cambria"/>
                <a:ea typeface="Cambria"/>
              </a:rPr>
              <a:t>Results &amp; outputs</a:t>
            </a:r>
            <a:endParaRPr lang="de-DE" sz="3000" b="0" u="none" strike="noStrike">
              <a:solidFill>
                <a:srgbClr val="FFFFFF"/>
              </a:solidFill>
              <a:effectLst/>
              <a:uFillTx/>
              <a:latin typeface="Arial"/>
            </a:endParaRPr>
          </a:p>
        </p:txBody>
      </p:sp>
      <p:sp>
        <p:nvSpPr>
          <p:cNvPr id="234" name="Shape 6">
            <a:extLst>
              <a:ext uri="{FF2B5EF4-FFF2-40B4-BE49-F238E27FC236}">
                <a16:creationId xmlns:a16="http://schemas.microsoft.com/office/drawing/2014/main" id="{65123135-425E-A310-8B4A-C6ED9108CC70}"/>
              </a:ext>
            </a:extLst>
          </p:cNvPr>
          <p:cNvSpPr/>
          <p:nvPr/>
        </p:nvSpPr>
        <p:spPr>
          <a:xfrm>
            <a:off x="11045880" y="305280"/>
            <a:ext cx="566280" cy="566280"/>
          </a:xfrm>
          <a:prstGeom prst="ellipse">
            <a:avLst/>
          </a:prstGeom>
          <a:solidFill>
            <a:srgbClr val="C1652E"/>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de-DE" sz="1800" b="0" u="none" strike="noStrike">
              <a:solidFill>
                <a:srgbClr val="FFFFFF"/>
              </a:solidFill>
              <a:effectLst/>
              <a:uFillTx/>
              <a:latin typeface="Arial"/>
            </a:endParaRPr>
          </a:p>
        </p:txBody>
      </p:sp>
      <p:sp>
        <p:nvSpPr>
          <p:cNvPr id="235" name="Text 25">
            <a:extLst>
              <a:ext uri="{FF2B5EF4-FFF2-40B4-BE49-F238E27FC236}">
                <a16:creationId xmlns:a16="http://schemas.microsoft.com/office/drawing/2014/main" id="{9A6D132C-F0F5-01F8-25E7-154F8D9D83B0}"/>
              </a:ext>
            </a:extLst>
          </p:cNvPr>
          <p:cNvSpPr/>
          <p:nvPr/>
        </p:nvSpPr>
        <p:spPr>
          <a:xfrm>
            <a:off x="11045880" y="305280"/>
            <a:ext cx="566280" cy="5662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2200" b="1" u="none" strike="noStrike">
                <a:solidFill>
                  <a:srgbClr val="FFFFFF"/>
                </a:solidFill>
                <a:effectLst/>
                <a:uFillTx/>
                <a:latin typeface="Calibri"/>
                <a:ea typeface="Calibri"/>
              </a:rPr>
              <a:t>5</a:t>
            </a:r>
            <a:endParaRPr lang="de-DE" sz="2200" b="0" u="none" strike="noStrike">
              <a:solidFill>
                <a:srgbClr val="FFFFFF"/>
              </a:solidFill>
              <a:effectLst/>
              <a:uFillTx/>
              <a:latin typeface="Arial"/>
            </a:endParaRPr>
          </a:p>
        </p:txBody>
      </p:sp>
      <p:sp>
        <p:nvSpPr>
          <p:cNvPr id="236" name="Hộp Văn bản 235">
            <a:extLst>
              <a:ext uri="{FF2B5EF4-FFF2-40B4-BE49-F238E27FC236}">
                <a16:creationId xmlns:a16="http://schemas.microsoft.com/office/drawing/2014/main" id="{95C58C76-2335-3847-AB7C-47E1F35DE0E4}"/>
              </a:ext>
            </a:extLst>
          </p:cNvPr>
          <p:cNvSpPr txBox="1"/>
          <p:nvPr/>
        </p:nvSpPr>
        <p:spPr>
          <a:xfrm>
            <a:off x="9767880" y="363240"/>
            <a:ext cx="1109880" cy="230760"/>
          </a:xfrm>
          <a:prstGeom prst="rect">
            <a:avLst/>
          </a:prstGeom>
          <a:noFill/>
          <a:ln w="0">
            <a:noFill/>
          </a:ln>
        </p:spPr>
        <p:txBody>
          <a:bodyPr lIns="90000" tIns="45000" rIns="90000" bIns="45000" anchor="t">
            <a:spAutoFit/>
          </a:bodyPr>
          <a:lstStyle/>
          <a:p>
            <a:r>
              <a:rPr lang="en-US" sz="1100" b="1" u="none" strike="noStrike" spc="201">
                <a:solidFill>
                  <a:srgbClr val="C1652E"/>
                </a:solidFill>
                <a:effectLst/>
                <a:uFillTx/>
                <a:latin typeface="Calibri"/>
                <a:ea typeface="Calibri"/>
              </a:rPr>
              <a:t>STEP 5 OF 5</a:t>
            </a:r>
            <a:endParaRPr lang="de-DE" sz="1100" b="0" u="none" strike="noStrike">
              <a:solidFill>
                <a:srgbClr val="FFFFFF"/>
              </a:solidFill>
              <a:effectLst/>
              <a:uFillTx/>
              <a:latin typeface="Arial"/>
            </a:endParaRPr>
          </a:p>
        </p:txBody>
      </p:sp>
      <p:sp>
        <p:nvSpPr>
          <p:cNvPr id="3" name="Hộp Văn bản 2">
            <a:extLst>
              <a:ext uri="{FF2B5EF4-FFF2-40B4-BE49-F238E27FC236}">
                <a16:creationId xmlns:a16="http://schemas.microsoft.com/office/drawing/2014/main" id="{17FC2C9A-9D10-FE98-8B1A-6BD968D304BB}"/>
              </a:ext>
            </a:extLst>
          </p:cNvPr>
          <p:cNvSpPr txBox="1"/>
          <p:nvPr/>
        </p:nvSpPr>
        <p:spPr>
          <a:xfrm>
            <a:off x="822960" y="1760220"/>
            <a:ext cx="4839786" cy="2862322"/>
          </a:xfrm>
          <a:prstGeom prst="rect">
            <a:avLst/>
          </a:prstGeom>
          <a:noFill/>
        </p:spPr>
        <p:txBody>
          <a:bodyPr wrap="none" rtlCol="0">
            <a:spAutoFit/>
          </a:bodyPr>
          <a:lstStyle/>
          <a:p>
            <a:pPr marL="285750" indent="-285750">
              <a:buFontTx/>
              <a:buChar char="-"/>
            </a:pPr>
            <a:r>
              <a:rPr lang="en-US" dirty="0">
                <a:solidFill>
                  <a:schemeClr val="bg1"/>
                </a:solidFill>
              </a:rPr>
              <a:t>4 suitable areas</a:t>
            </a:r>
          </a:p>
          <a:p>
            <a:pPr marL="285750" indent="-285750">
              <a:buFontTx/>
              <a:buChar char="-"/>
            </a:pPr>
            <a:r>
              <a:rPr lang="en-US" dirty="0">
                <a:solidFill>
                  <a:schemeClr val="bg1"/>
                </a:solidFill>
              </a:rPr>
              <a:t>Total area: 90,93 ha</a:t>
            </a:r>
          </a:p>
          <a:p>
            <a:pPr marL="285750" indent="-285750">
              <a:buFontTx/>
              <a:buChar char="-"/>
            </a:pPr>
            <a:r>
              <a:rPr lang="en-US" dirty="0">
                <a:solidFill>
                  <a:schemeClr val="bg1"/>
                </a:solidFill>
              </a:rPr>
              <a:t>I</a:t>
            </a:r>
            <a:r>
              <a:rPr lang="en-DE" dirty="0" err="1">
                <a:solidFill>
                  <a:schemeClr val="bg1"/>
                </a:solidFill>
              </a:rPr>
              <a:t>ndividual</a:t>
            </a:r>
            <a:r>
              <a:rPr lang="en-DE" dirty="0">
                <a:solidFill>
                  <a:schemeClr val="bg1"/>
                </a:solidFill>
              </a:rPr>
              <a:t> areas</a:t>
            </a:r>
            <a:r>
              <a:rPr lang="en-US" dirty="0">
                <a:solidFill>
                  <a:schemeClr val="bg1"/>
                </a:solidFill>
              </a:rPr>
              <a:t>: from 18.5 to 29,96</a:t>
            </a:r>
          </a:p>
          <a:p>
            <a:pPr marL="285750" indent="-285750">
              <a:buFontTx/>
              <a:buChar char="-"/>
            </a:pPr>
            <a:r>
              <a:rPr lang="en-US" dirty="0">
                <a:solidFill>
                  <a:schemeClr val="bg1"/>
                </a:solidFill>
              </a:rPr>
              <a:t>T</a:t>
            </a:r>
            <a:r>
              <a:rPr lang="en-DE" dirty="0">
                <a:solidFill>
                  <a:schemeClr val="bg1"/>
                </a:solidFill>
              </a:rPr>
              <a:t>he suitable areas are concentrated </a:t>
            </a:r>
            <a:endParaRPr lang="en-US" dirty="0">
              <a:solidFill>
                <a:schemeClr val="bg1"/>
              </a:solidFill>
            </a:endParaRPr>
          </a:p>
          <a:p>
            <a:r>
              <a:rPr lang="en-US" dirty="0">
                <a:solidFill>
                  <a:schemeClr val="bg1"/>
                </a:solidFill>
              </a:rPr>
              <a:t>      </a:t>
            </a:r>
            <a:r>
              <a:rPr lang="en-DE" dirty="0">
                <a:solidFill>
                  <a:schemeClr val="bg1"/>
                </a:solidFill>
              </a:rPr>
              <a:t>mainly in the </a:t>
            </a:r>
            <a:r>
              <a:rPr lang="en-DE" b="1" dirty="0">
                <a:solidFill>
                  <a:schemeClr val="bg1"/>
                </a:solidFill>
              </a:rPr>
              <a:t>western and southwestern</a:t>
            </a:r>
            <a:endParaRPr lang="en-US" b="1" dirty="0">
              <a:solidFill>
                <a:schemeClr val="bg1"/>
              </a:solidFill>
            </a:endParaRPr>
          </a:p>
          <a:p>
            <a:r>
              <a:rPr lang="en-US" b="1" dirty="0">
                <a:solidFill>
                  <a:schemeClr val="bg1"/>
                </a:solidFill>
              </a:rPr>
              <a:t>Reason: </a:t>
            </a:r>
            <a:r>
              <a:rPr lang="en-DE" dirty="0">
                <a:solidFill>
                  <a:schemeClr val="bg1"/>
                </a:solidFill>
              </a:rPr>
              <a:t>high density of settlements</a:t>
            </a:r>
            <a:r>
              <a:rPr lang="en-US" dirty="0">
                <a:solidFill>
                  <a:schemeClr val="bg1"/>
                </a:solidFill>
              </a:rPr>
              <a:t>,</a:t>
            </a:r>
          </a:p>
          <a:p>
            <a:r>
              <a:rPr lang="en-US" dirty="0">
                <a:solidFill>
                  <a:schemeClr val="bg1"/>
                </a:solidFill>
              </a:rPr>
              <a:t>               </a:t>
            </a:r>
            <a:r>
              <a:rPr lang="en-DE" dirty="0">
                <a:solidFill>
                  <a:schemeClr val="bg1"/>
                </a:solidFill>
              </a:rPr>
              <a:t>, transport infrastructure</a:t>
            </a:r>
            <a:endParaRPr lang="en-US" dirty="0">
              <a:solidFill>
                <a:schemeClr val="bg1"/>
              </a:solidFill>
            </a:endParaRPr>
          </a:p>
          <a:p>
            <a:r>
              <a:rPr lang="en-US" dirty="0">
                <a:solidFill>
                  <a:schemeClr val="bg1"/>
                </a:solidFill>
              </a:rPr>
              <a:t>               </a:t>
            </a:r>
            <a:r>
              <a:rPr lang="en-DE" dirty="0">
                <a:solidFill>
                  <a:schemeClr val="bg1"/>
                </a:solidFill>
              </a:rPr>
              <a:t>, water bodies</a:t>
            </a:r>
            <a:endParaRPr lang="en-US" dirty="0">
              <a:solidFill>
                <a:schemeClr val="bg1"/>
              </a:solidFill>
            </a:endParaRPr>
          </a:p>
          <a:p>
            <a:pPr marL="285750" indent="-285750">
              <a:buFontTx/>
              <a:buChar char="-"/>
            </a:pPr>
            <a:endParaRPr lang="en-US" dirty="0"/>
          </a:p>
          <a:p>
            <a:pPr marL="285750" indent="-285750">
              <a:buFontTx/>
              <a:buChar char="-"/>
            </a:pPr>
            <a:endParaRPr lang="en-DE" dirty="0"/>
          </a:p>
        </p:txBody>
      </p:sp>
      <p:pic>
        <p:nvPicPr>
          <p:cNvPr id="5" name="Hình ảnh 4">
            <a:extLst>
              <a:ext uri="{FF2B5EF4-FFF2-40B4-BE49-F238E27FC236}">
                <a16:creationId xmlns:a16="http://schemas.microsoft.com/office/drawing/2014/main" id="{FD45706E-012C-F320-C1A6-30083EDD651D}"/>
              </a:ext>
            </a:extLst>
          </p:cNvPr>
          <p:cNvPicPr>
            <a:picLocks noChangeAspect="1"/>
          </p:cNvPicPr>
          <p:nvPr/>
        </p:nvPicPr>
        <p:blipFill>
          <a:blip r:embed="rId3"/>
          <a:stretch>
            <a:fillRect/>
          </a:stretch>
        </p:blipFill>
        <p:spPr>
          <a:xfrm>
            <a:off x="5880650" y="1760220"/>
            <a:ext cx="5731510" cy="2882900"/>
          </a:xfrm>
          <a:prstGeom prst="rect">
            <a:avLst/>
          </a:prstGeom>
        </p:spPr>
      </p:pic>
      <p:sp>
        <p:nvSpPr>
          <p:cNvPr id="7" name="Hộp Văn bản 6">
            <a:extLst>
              <a:ext uri="{FF2B5EF4-FFF2-40B4-BE49-F238E27FC236}">
                <a16:creationId xmlns:a16="http://schemas.microsoft.com/office/drawing/2014/main" id="{BBEF2473-953D-B762-E431-694502DCA08E}"/>
              </a:ext>
            </a:extLst>
          </p:cNvPr>
          <p:cNvSpPr txBox="1"/>
          <p:nvPr/>
        </p:nvSpPr>
        <p:spPr>
          <a:xfrm>
            <a:off x="8069045" y="4788027"/>
            <a:ext cx="4507550" cy="276999"/>
          </a:xfrm>
          <a:prstGeom prst="rect">
            <a:avLst/>
          </a:prstGeom>
          <a:noFill/>
        </p:spPr>
        <p:txBody>
          <a:bodyPr wrap="square">
            <a:spAutoFit/>
          </a:bodyPr>
          <a:lstStyle/>
          <a:p>
            <a:r>
              <a:rPr lang="en-US" sz="1200" dirty="0">
                <a:solidFill>
                  <a:schemeClr val="bg1"/>
                </a:solidFill>
              </a:rPr>
              <a:t>final Result</a:t>
            </a:r>
            <a:endParaRPr lang="en-DE" sz="1200" dirty="0">
              <a:solidFill>
                <a:schemeClr val="bg1"/>
              </a:solidFill>
            </a:endParaRPr>
          </a:p>
        </p:txBody>
      </p:sp>
    </p:spTree>
    <p:extLst>
      <p:ext uri="{BB962C8B-B14F-4D97-AF65-F5344CB8AC3E}">
        <p14:creationId xmlns:p14="http://schemas.microsoft.com/office/powerpoint/2010/main" val="3763086880"/>
      </p:ext>
    </p:extLst>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DejaVu Sans"/>
        <a:cs typeface="DejaVu Sans"/>
      </a:majorFont>
      <a:minorFont>
        <a:latin typeface="Arial"/>
        <a:ea typeface="DejaVu Sans"/>
        <a:cs typeface="DejaVu Sans"/>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majorFont>
      <a:minorFont>
        <a:latin typeface="Calibri" panose="020F0502020204030204"/>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a:gradFill>
      </a:bgFillStyleLst>
    </a:fmtScheme>
  </a:themeElements>
  <a:objectDefaults/>
  <a:extraClrSchemeLst/>
</a:theme>
</file>

<file path=ppt/theme/theme3.xml><?xml version="1.0" encoding="utf-8"?>
<a:theme xmlns:a="http://schemas.openxmlformats.org/drawingml/2006/main"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a:ea typeface="DejaVu Sans"/>
        <a:cs typeface="DejaVu Sans"/>
      </a:majorFont>
      <a:minorFont>
        <a:latin typeface="Arial"/>
        <a:ea typeface="DejaVu Sans"/>
        <a:cs typeface="DejaVu Sans"/>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0</TotalTime>
  <Words>2864</Words>
  <Application>Microsoft Office PowerPoint</Application>
  <PresentationFormat>Breitbild</PresentationFormat>
  <Paragraphs>299</Paragraphs>
  <Slides>24</Slides>
  <Notes>23</Notes>
  <HiddenSlides>0</HiddenSlides>
  <MMClips>0</MMClips>
  <ScaleCrop>false</ScaleCrop>
  <HeadingPairs>
    <vt:vector size="6" baseType="variant">
      <vt:variant>
        <vt:lpstr>Verwendete Schriftarten</vt:lpstr>
      </vt:variant>
      <vt:variant>
        <vt:i4>7</vt:i4>
      </vt:variant>
      <vt:variant>
        <vt:lpstr>Design</vt:lpstr>
      </vt:variant>
      <vt:variant>
        <vt:i4>2</vt:i4>
      </vt:variant>
      <vt:variant>
        <vt:lpstr>Folientitel</vt:lpstr>
      </vt:variant>
      <vt:variant>
        <vt:i4>24</vt:i4>
      </vt:variant>
    </vt:vector>
  </HeadingPairs>
  <TitlesOfParts>
    <vt:vector size="33" baseType="lpstr">
      <vt:lpstr>Arial</vt:lpstr>
      <vt:lpstr>Calibri</vt:lpstr>
      <vt:lpstr>Cambria</vt:lpstr>
      <vt:lpstr>Consolas</vt:lpstr>
      <vt:lpstr>Symbol</vt:lpstr>
      <vt:lpstr>Times New Roman</vt:lpstr>
      <vt:lpstr>Wingdings</vt:lpstr>
      <vt:lpstr>Office Theme</vt:lpstr>
      <vt:lpstr>Office Theme</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dc:description/>
  <cp:lastModifiedBy>Nadia Farsiani</cp:lastModifiedBy>
  <cp:revision>63</cp:revision>
  <dcterms:created xsi:type="dcterms:W3CDTF">2026-08-28T11:29:51Z</dcterms:created>
  <dcterms:modified xsi:type="dcterms:W3CDTF">2026-09-01T08:23:11Z</dcterms:modified>
  <dc:language>de-DE</dc:languag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Notes">
    <vt:r8>8</vt:r8>
  </property>
  <property fmtid="{D5CDD505-2E9C-101B-9397-08002B2CF9AE}" pid="3" name="PresentationFormat">
    <vt:lpwstr>Breitbild</vt:lpwstr>
  </property>
  <property fmtid="{D5CDD505-2E9C-101B-9397-08002B2CF9AE}" pid="4" name="Slides">
    <vt:r8>8</vt:r8>
  </property>
</Properties>
</file>