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ần Mặc định" id="{80B272BD-2027-4DC2-96EE-8580211726DC}">
          <p14:sldIdLst>
            <p14:sldId id="256"/>
            <p14:sldId id="257"/>
            <p14:sldId id="258"/>
            <p14:sldId id="259"/>
            <p14:sldId id="260"/>
          </p14:sldIdLst>
        </p14:section>
        <p14:section name="Mục Chưa có tên" id="{5779334A-D1D2-4AEF-AAA2-B06792B9ED5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174" autoAdjust="0"/>
  </p:normalViewPr>
  <p:slideViewPr>
    <p:cSldViewPr snapToGrid="0">
      <p:cViewPr varScale="1">
        <p:scale>
          <a:sx n="126" d="100"/>
          <a:sy n="126" d="100"/>
        </p:scale>
        <p:origin x="161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0113FD-592A-43CF-BE6E-B40D5C84287A}" type="datetimeFigureOut">
              <a:rPr lang="en-DE" smtClean="0"/>
              <a:t>28/08/2026</a:t>
            </a:fld>
            <a:endParaRPr lang="en-DE"/>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DE"/>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9AE445-AB8E-48CA-A252-FEEF88D3E391}" type="slidenum">
              <a:rPr lang="en-DE" smtClean="0"/>
              <a:t>‹#›</a:t>
            </a:fld>
            <a:endParaRPr lang="en-DE"/>
          </a:p>
        </p:txBody>
      </p:sp>
    </p:spTree>
    <p:extLst>
      <p:ext uri="{BB962C8B-B14F-4D97-AF65-F5344CB8AC3E}">
        <p14:creationId xmlns:p14="http://schemas.microsoft.com/office/powerpoint/2010/main" val="3973818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DE" dirty="0"/>
              <a:t>From the </a:t>
            </a:r>
            <a:r>
              <a:rPr lang="en-DE" b="1" dirty="0" err="1"/>
              <a:t>Landnutzung</a:t>
            </a:r>
            <a:r>
              <a:rPr lang="en-DE" dirty="0"/>
              <a:t> layer, I used the </a:t>
            </a:r>
            <a:r>
              <a:rPr lang="en-DE" b="1" dirty="0"/>
              <a:t>Extract by Expression</a:t>
            </a:r>
            <a:r>
              <a:rPr lang="en-DE" dirty="0"/>
              <a:t> tool with the expression </a:t>
            </a:r>
            <a:r>
              <a:rPr lang="en-DE" sz="1200" kern="1200" dirty="0">
                <a:solidFill>
                  <a:schemeClr val="tx1"/>
                </a:solidFill>
                <a:latin typeface="+mn-lt"/>
                <a:ea typeface="+mn-ea"/>
                <a:cs typeface="+mn-cs"/>
              </a:rPr>
              <a:t>"</a:t>
            </a:r>
            <a:r>
              <a:rPr lang="en-DE" sz="1200" kern="1200" dirty="0" err="1">
                <a:solidFill>
                  <a:schemeClr val="tx1"/>
                </a:solidFill>
                <a:latin typeface="+mn-lt"/>
                <a:ea typeface="+mn-ea"/>
                <a:cs typeface="+mn-cs"/>
              </a:rPr>
              <a:t>typ</a:t>
            </a:r>
            <a:r>
              <a:rPr lang="en-DE" sz="1200" kern="1200" dirty="0">
                <a:solidFill>
                  <a:schemeClr val="tx1"/>
                </a:solidFill>
                <a:latin typeface="+mn-lt"/>
                <a:ea typeface="+mn-ea"/>
                <a:cs typeface="+mn-cs"/>
              </a:rPr>
              <a:t>" IN ('Ackerland', '</a:t>
            </a:r>
            <a:r>
              <a:rPr lang="en-DE" sz="1200" kern="1200" dirty="0" err="1">
                <a:solidFill>
                  <a:schemeClr val="tx1"/>
                </a:solidFill>
                <a:latin typeface="+mn-lt"/>
                <a:ea typeface="+mn-ea"/>
                <a:cs typeface="+mn-cs"/>
              </a:rPr>
              <a:t>Gruenland</a:t>
            </a:r>
            <a:r>
              <a:rPr lang="en-DE" sz="1200" kern="1200" dirty="0">
                <a:solidFill>
                  <a:schemeClr val="tx1"/>
                </a:solidFill>
                <a:latin typeface="+mn-lt"/>
                <a:ea typeface="+mn-ea"/>
                <a:cs typeface="+mn-cs"/>
              </a:rPr>
              <a:t>')</a:t>
            </a:r>
            <a:r>
              <a:rPr lang="en-DE" dirty="0"/>
              <a:t> and obtained the result shown in the figure above.</a:t>
            </a:r>
            <a:endParaRPr lang="en-US" dirty="0"/>
          </a:p>
          <a:p>
            <a:r>
              <a:rPr lang="en-DE" dirty="0"/>
              <a:t>The </a:t>
            </a:r>
            <a:r>
              <a:rPr lang="en-DE" dirty="0" err="1"/>
              <a:t>gray</a:t>
            </a:r>
            <a:r>
              <a:rPr lang="en-DE" dirty="0"/>
              <a:t> areas represent the </a:t>
            </a:r>
            <a:r>
              <a:rPr lang="en-DE" b="1" dirty="0" err="1"/>
              <a:t>Grünland</a:t>
            </a:r>
            <a:r>
              <a:rPr lang="en-DE" dirty="0"/>
              <a:t> and </a:t>
            </a:r>
            <a:r>
              <a:rPr lang="en-DE" b="1" dirty="0"/>
              <a:t>Ackerland</a:t>
            </a:r>
            <a:r>
              <a:rPr lang="en-DE" dirty="0"/>
              <a:t> areas after filtering.</a:t>
            </a:r>
          </a:p>
        </p:txBody>
      </p:sp>
      <p:sp>
        <p:nvSpPr>
          <p:cNvPr id="4" name="Chỗ dành sẵn cho Số hiệu Bản chiếu 3"/>
          <p:cNvSpPr>
            <a:spLocks noGrp="1"/>
          </p:cNvSpPr>
          <p:nvPr>
            <p:ph type="sldNum" sz="quarter" idx="5"/>
          </p:nvPr>
        </p:nvSpPr>
        <p:spPr/>
        <p:txBody>
          <a:bodyPr/>
          <a:lstStyle/>
          <a:p>
            <a:fld id="{519AE445-AB8E-48CA-A252-FEEF88D3E391}" type="slidenum">
              <a:rPr lang="en-DE" smtClean="0"/>
              <a:t>2</a:t>
            </a:fld>
            <a:endParaRPr lang="en-DE"/>
          </a:p>
        </p:txBody>
      </p:sp>
    </p:spTree>
    <p:extLst>
      <p:ext uri="{BB962C8B-B14F-4D97-AF65-F5344CB8AC3E}">
        <p14:creationId xmlns:p14="http://schemas.microsoft.com/office/powerpoint/2010/main" val="2786308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DE" dirty="0"/>
              <a:t>Next, I merged adjacent areas into larger continuous areas using the </a:t>
            </a:r>
            <a:r>
              <a:rPr lang="en-DE" b="1" dirty="0"/>
              <a:t>Dissolve</a:t>
            </a:r>
            <a:r>
              <a:rPr lang="en-DE" dirty="0"/>
              <a:t> tool. This step is important because the </a:t>
            </a:r>
            <a:r>
              <a:rPr lang="en-DE" b="1" dirty="0"/>
              <a:t>18 ha criterion applies to a continuous area</a:t>
            </a:r>
            <a:r>
              <a:rPr lang="en-DE" dirty="0"/>
              <a:t>, not to each original parcel individually. For example, a 10 ha </a:t>
            </a:r>
            <a:r>
              <a:rPr lang="en-DE" b="1" dirty="0"/>
              <a:t>Ackerland</a:t>
            </a:r>
            <a:r>
              <a:rPr lang="en-DE" dirty="0"/>
              <a:t> polygon directly adjacent to a 10 ha </a:t>
            </a:r>
            <a:r>
              <a:rPr lang="en-DE" b="1" dirty="0" err="1"/>
              <a:t>Grünland</a:t>
            </a:r>
            <a:r>
              <a:rPr lang="en-DE" dirty="0"/>
              <a:t> polygon can form a continuous 20 ha area after applying </a:t>
            </a:r>
            <a:r>
              <a:rPr lang="en-DE" b="1" dirty="0"/>
              <a:t>Dissolve</a:t>
            </a:r>
            <a:r>
              <a:rPr lang="en-DE" dirty="0"/>
              <a:t>.</a:t>
            </a:r>
          </a:p>
        </p:txBody>
      </p:sp>
      <p:sp>
        <p:nvSpPr>
          <p:cNvPr id="4" name="Chỗ dành sẵn cho Số hiệu Bản chiếu 3"/>
          <p:cNvSpPr>
            <a:spLocks noGrp="1"/>
          </p:cNvSpPr>
          <p:nvPr>
            <p:ph type="sldNum" sz="quarter" idx="5"/>
          </p:nvPr>
        </p:nvSpPr>
        <p:spPr/>
        <p:txBody>
          <a:bodyPr/>
          <a:lstStyle/>
          <a:p>
            <a:fld id="{519AE445-AB8E-48CA-A252-FEEF88D3E391}" type="slidenum">
              <a:rPr lang="en-DE" smtClean="0"/>
              <a:t>3</a:t>
            </a:fld>
            <a:endParaRPr lang="en-DE"/>
          </a:p>
        </p:txBody>
      </p:sp>
    </p:spTree>
    <p:extLst>
      <p:ext uri="{BB962C8B-B14F-4D97-AF65-F5344CB8AC3E}">
        <p14:creationId xmlns:p14="http://schemas.microsoft.com/office/powerpoint/2010/main" val="1928848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dirty="0"/>
              <a:t>Next, I used the </a:t>
            </a:r>
            <a:r>
              <a:rPr lang="en-DE" b="1" dirty="0"/>
              <a:t>Difference</a:t>
            </a:r>
            <a:r>
              <a:rPr lang="en-DE" dirty="0"/>
              <a:t> tool to remove restricted areas, such as </a:t>
            </a:r>
            <a:r>
              <a:rPr lang="en-DE" b="1" dirty="0"/>
              <a:t>railway lines, roads, and rivers</a:t>
            </a:r>
            <a:r>
              <a:rPr lang="en-DE" dirty="0"/>
              <a:t>, based on the previously prepared </a:t>
            </a:r>
            <a:r>
              <a:rPr lang="en-DE" b="1" dirty="0"/>
              <a:t>E</a:t>
            </a:r>
            <a:r>
              <a:rPr lang="en-US" b="1" dirty="0"/>
              <a:t>gur</a:t>
            </a:r>
            <a:r>
              <a:rPr lang="en-DE" b="1" dirty="0"/>
              <a:t> map</a:t>
            </a:r>
            <a:r>
              <a:rPr lang="en-DE" dirty="0"/>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DE" dirty="0"/>
              <a:t>As a result, I obtained the suitable </a:t>
            </a:r>
            <a:r>
              <a:rPr lang="en-DE" b="1" dirty="0"/>
              <a:t>Ackerland and </a:t>
            </a:r>
            <a:r>
              <a:rPr lang="en-DE" b="1" dirty="0" err="1"/>
              <a:t>Grünland</a:t>
            </a:r>
            <a:r>
              <a:rPr lang="en-DE" b="1" dirty="0"/>
              <a:t> areas for wind farm development</a:t>
            </a:r>
            <a:r>
              <a:rPr lang="en-DE" dirty="0"/>
              <a:t>, which are marked in </a:t>
            </a:r>
            <a:r>
              <a:rPr lang="en-DE" b="1" dirty="0"/>
              <a:t>green</a:t>
            </a:r>
            <a:r>
              <a:rPr lang="en-DE" dirty="0"/>
              <a:t> on the map.</a:t>
            </a:r>
          </a:p>
          <a:p>
            <a:endParaRPr lang="en-DE" dirty="0"/>
          </a:p>
        </p:txBody>
      </p:sp>
      <p:sp>
        <p:nvSpPr>
          <p:cNvPr id="4" name="Chỗ dành sẵn cho Số hiệu Bản chiếu 3"/>
          <p:cNvSpPr>
            <a:spLocks noGrp="1"/>
          </p:cNvSpPr>
          <p:nvPr>
            <p:ph type="sldNum" sz="quarter" idx="5"/>
          </p:nvPr>
        </p:nvSpPr>
        <p:spPr/>
        <p:txBody>
          <a:bodyPr/>
          <a:lstStyle/>
          <a:p>
            <a:fld id="{519AE445-AB8E-48CA-A252-FEEF88D3E391}" type="slidenum">
              <a:rPr lang="en-DE" smtClean="0"/>
              <a:t>4</a:t>
            </a:fld>
            <a:endParaRPr lang="en-DE"/>
          </a:p>
        </p:txBody>
      </p:sp>
    </p:spTree>
    <p:extLst>
      <p:ext uri="{BB962C8B-B14F-4D97-AF65-F5344CB8AC3E}">
        <p14:creationId xmlns:p14="http://schemas.microsoft.com/office/powerpoint/2010/main" val="1646062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DE" dirty="0"/>
              <a:t>Finally, I used the </a:t>
            </a:r>
            <a:r>
              <a:rPr lang="en-DE" b="1" dirty="0"/>
              <a:t>Extract by Expression</a:t>
            </a:r>
            <a:r>
              <a:rPr lang="en-DE" dirty="0"/>
              <a:t> tool to filter the areas with a size of </a:t>
            </a:r>
            <a:r>
              <a:rPr lang="en-DE" b="1" dirty="0"/>
              <a:t>18 ha or more</a:t>
            </a:r>
            <a:r>
              <a:rPr lang="en-DE" dirty="0"/>
              <a:t>, obtaining the final result.</a:t>
            </a:r>
            <a:endParaRPr lang="en-US" dirty="0"/>
          </a:p>
          <a:p>
            <a:r>
              <a:rPr lang="en-DE" dirty="0"/>
              <a:t>Finally, I created the </a:t>
            </a:r>
            <a:r>
              <a:rPr lang="en-DE" b="1" dirty="0"/>
              <a:t>map layout</a:t>
            </a:r>
            <a:r>
              <a:rPr lang="en-DE" dirty="0"/>
              <a:t> and obtained the final result shown in the image</a:t>
            </a:r>
            <a:endParaRPr lang="en-US" dirty="0"/>
          </a:p>
          <a:p>
            <a:r>
              <a:rPr lang="en-DE" dirty="0"/>
              <a:t>The analysis identified four suitable areas with a total area of approximately </a:t>
            </a:r>
            <a:r>
              <a:rPr lang="en-DE" b="1" dirty="0"/>
              <a:t>90.93 ha</a:t>
            </a:r>
            <a:r>
              <a:rPr lang="en-DE" dirty="0"/>
              <a:t>. The individual areas range from approximately </a:t>
            </a:r>
            <a:r>
              <a:rPr lang="en-DE" b="1" dirty="0"/>
              <a:t>18.50 ha to 29.96 ha</a:t>
            </a:r>
            <a:r>
              <a:rPr lang="en-DE" dirty="0"/>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DE" dirty="0"/>
              <a:t>Spatially, the suitable areas are concentrated mainly in the </a:t>
            </a:r>
            <a:r>
              <a:rPr lang="en-DE" b="1" dirty="0"/>
              <a:t>western and southwestern parts of the study area</a:t>
            </a:r>
            <a:r>
              <a:rPr lang="en-DE" dirty="0"/>
              <a:t>. Very few</a:t>
            </a:r>
            <a:r>
              <a:rPr lang="en-US"/>
              <a:t> </a:t>
            </a:r>
            <a:r>
              <a:rPr lang="en-DE"/>
              <a:t>suitable </a:t>
            </a:r>
            <a:r>
              <a:rPr lang="en-DE" dirty="0"/>
              <a:t>areas remain in the central and eastern parts. This pattern can be explained by the high density of settlements, transport infrastructure, water bodies, and other protected features. Their overlapping buffer zones exclude a large proportion of the study area, which further reduces the number of feasible sites.</a:t>
            </a:r>
          </a:p>
          <a:p>
            <a:endParaRPr lang="en-DE" dirty="0"/>
          </a:p>
        </p:txBody>
      </p:sp>
      <p:sp>
        <p:nvSpPr>
          <p:cNvPr id="4" name="Chỗ dành sẵn cho Số hiệu Bản chiếu 3"/>
          <p:cNvSpPr>
            <a:spLocks noGrp="1"/>
          </p:cNvSpPr>
          <p:nvPr>
            <p:ph type="sldNum" sz="quarter" idx="5"/>
          </p:nvPr>
        </p:nvSpPr>
        <p:spPr/>
        <p:txBody>
          <a:bodyPr/>
          <a:lstStyle/>
          <a:p>
            <a:fld id="{519AE445-AB8E-48CA-A252-FEEF88D3E391}" type="slidenum">
              <a:rPr lang="en-DE" smtClean="0"/>
              <a:t>5</a:t>
            </a:fld>
            <a:endParaRPr lang="en-DE"/>
          </a:p>
        </p:txBody>
      </p:sp>
    </p:spTree>
    <p:extLst>
      <p:ext uri="{BB962C8B-B14F-4D97-AF65-F5344CB8AC3E}">
        <p14:creationId xmlns:p14="http://schemas.microsoft.com/office/powerpoint/2010/main" val="244418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vi-VN"/>
              <a:t>Bấm để sửa kiểu tiêu đề Bản cái</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vi-VN"/>
              <a:t>Bấm để chỉnh sửa kiểu tiêu đề phụ của Bản cái</a:t>
            </a:r>
            <a:endParaRPr lang="en-US" dirty="0"/>
          </a:p>
        </p:txBody>
      </p:sp>
      <p:sp>
        <p:nvSpPr>
          <p:cNvPr id="4" name="Date Placeholder 3"/>
          <p:cNvSpPr>
            <a:spLocks noGrp="1"/>
          </p:cNvSpPr>
          <p:nvPr>
            <p:ph type="dt" sz="half" idx="10"/>
          </p:nvPr>
        </p:nvSpPr>
        <p:spPr/>
        <p:txBody>
          <a:bodyPr/>
          <a:lstStyle/>
          <a:p>
            <a:fld id="{C4CA1AAD-5839-46A8-A174-C22752ADA508}" type="datetimeFigureOut">
              <a:rPr lang="en-DE" smtClean="0"/>
              <a:t>28/08/2026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171324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3"/>
          <p:cNvSpPr>
            <a:spLocks noGrp="1"/>
          </p:cNvSpPr>
          <p:nvPr>
            <p:ph type="dt" sz="half" idx="10"/>
          </p:nvPr>
        </p:nvSpPr>
        <p:spPr/>
        <p:txBody>
          <a:bodyPr/>
          <a:lstStyle/>
          <a:p>
            <a:fld id="{C4CA1AAD-5839-46A8-A174-C22752ADA508}" type="datetimeFigureOut">
              <a:rPr lang="en-DE" smtClean="0"/>
              <a:t>28/08/2026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140663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vi-VN"/>
              <a:t>Bấm để sửa kiểu tiêu đề Bản cái</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C4CA1AAD-5839-46A8-A174-C22752ADA508}" type="datetimeFigureOut">
              <a:rPr lang="en-DE" smtClean="0"/>
              <a:t>28/08/2026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13952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Date Placeholder 4"/>
          <p:cNvSpPr>
            <a:spLocks noGrp="1"/>
          </p:cNvSpPr>
          <p:nvPr>
            <p:ph type="dt" sz="half" idx="10"/>
          </p:nvPr>
        </p:nvSpPr>
        <p:spPr/>
        <p:txBody>
          <a:bodyPr/>
          <a:lstStyle/>
          <a:p>
            <a:fld id="{C4CA1AAD-5839-46A8-A174-C22752ADA508}" type="datetimeFigureOut">
              <a:rPr lang="en-DE" smtClean="0"/>
              <a:t>28/08/2026</a:t>
            </a:fld>
            <a:endParaRPr lang="en-DE"/>
          </a:p>
        </p:txBody>
      </p:sp>
      <p:sp>
        <p:nvSpPr>
          <p:cNvPr id="6" name="Footer Placeholder 5"/>
          <p:cNvSpPr>
            <a:spLocks noGrp="1"/>
          </p:cNvSpPr>
          <p:nvPr>
            <p:ph type="ftr" sz="quarter" idx="11"/>
          </p:nvPr>
        </p:nvSpPr>
        <p:spPr/>
        <p:txBody>
          <a:bodyPr/>
          <a:lstStyle/>
          <a:p>
            <a:endParaRPr lang="en-DE"/>
          </a:p>
        </p:txBody>
      </p:sp>
      <p:sp>
        <p:nvSpPr>
          <p:cNvPr id="7" name="Slide Number Placeholder 6"/>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397855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vi-VN"/>
              <a:t>Bấm để sửa kiểu tiêu đề Bản cái</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6"/>
          <p:cNvSpPr>
            <a:spLocks noGrp="1"/>
          </p:cNvSpPr>
          <p:nvPr>
            <p:ph type="dt" sz="half" idx="10"/>
          </p:nvPr>
        </p:nvSpPr>
        <p:spPr/>
        <p:txBody>
          <a:bodyPr/>
          <a:lstStyle/>
          <a:p>
            <a:fld id="{C4CA1AAD-5839-46A8-A174-C22752ADA508}" type="datetimeFigureOut">
              <a:rPr lang="en-DE" smtClean="0"/>
              <a:t>28/08/2026</a:t>
            </a:fld>
            <a:endParaRPr lang="en-DE"/>
          </a:p>
        </p:txBody>
      </p:sp>
      <p:sp>
        <p:nvSpPr>
          <p:cNvPr id="8" name="Footer Placeholder 7"/>
          <p:cNvSpPr>
            <a:spLocks noGrp="1"/>
          </p:cNvSpPr>
          <p:nvPr>
            <p:ph type="ftr" sz="quarter" idx="11"/>
          </p:nvPr>
        </p:nvSpPr>
        <p:spPr/>
        <p:txBody>
          <a:bodyPr/>
          <a:lstStyle/>
          <a:p>
            <a:endParaRPr lang="en-DE"/>
          </a:p>
        </p:txBody>
      </p:sp>
      <p:sp>
        <p:nvSpPr>
          <p:cNvPr id="9" name="Slide Number Placeholder 8"/>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2091833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7" name="Date Placeholder 2"/>
          <p:cNvSpPr>
            <a:spLocks noGrp="1"/>
          </p:cNvSpPr>
          <p:nvPr>
            <p:ph type="dt" sz="half" idx="10"/>
          </p:nvPr>
        </p:nvSpPr>
        <p:spPr/>
        <p:txBody>
          <a:bodyPr/>
          <a:lstStyle/>
          <a:p>
            <a:fld id="{C4CA1AAD-5839-46A8-A174-C22752ADA508}" type="datetimeFigureOut">
              <a:rPr lang="en-DE" smtClean="0"/>
              <a:t>28/08/2026</a:t>
            </a:fld>
            <a:endParaRPr lang="en-DE"/>
          </a:p>
        </p:txBody>
      </p:sp>
      <p:sp>
        <p:nvSpPr>
          <p:cNvPr id="5" name="Footer Placeholder 3"/>
          <p:cNvSpPr>
            <a:spLocks noGrp="1"/>
          </p:cNvSpPr>
          <p:nvPr>
            <p:ph type="ftr" sz="quarter" idx="11"/>
          </p:nvPr>
        </p:nvSpPr>
        <p:spPr/>
        <p:txBody>
          <a:bodyPr/>
          <a:lstStyle/>
          <a:p>
            <a:endParaRPr lang="en-DE"/>
          </a:p>
        </p:txBody>
      </p:sp>
      <p:sp>
        <p:nvSpPr>
          <p:cNvPr id="6" name="Slide Number Placeholder 4"/>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1880844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4CA1AAD-5839-46A8-A174-C22752ADA508}" type="datetimeFigureOut">
              <a:rPr lang="en-DE" smtClean="0"/>
              <a:t>28/08/2026</a:t>
            </a:fld>
            <a:endParaRPr lang="en-DE"/>
          </a:p>
        </p:txBody>
      </p:sp>
      <p:sp>
        <p:nvSpPr>
          <p:cNvPr id="5" name="Footer Placeholder 2"/>
          <p:cNvSpPr>
            <a:spLocks noGrp="1"/>
          </p:cNvSpPr>
          <p:nvPr>
            <p:ph type="ftr" sz="quarter" idx="11"/>
          </p:nvPr>
        </p:nvSpPr>
        <p:spPr/>
        <p:txBody>
          <a:bodyPr/>
          <a:lstStyle/>
          <a:p>
            <a:endParaRPr lang="en-DE"/>
          </a:p>
        </p:txBody>
      </p:sp>
      <p:sp>
        <p:nvSpPr>
          <p:cNvPr id="6" name="Slide Number Placeholder 3"/>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1509025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vi-VN"/>
              <a:t>Bấm để sửa kiểu tiêu đề Bản cái</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7" name="Date Placeholder 4"/>
          <p:cNvSpPr>
            <a:spLocks noGrp="1"/>
          </p:cNvSpPr>
          <p:nvPr>
            <p:ph type="dt" sz="half" idx="10"/>
          </p:nvPr>
        </p:nvSpPr>
        <p:spPr/>
        <p:txBody>
          <a:bodyPr/>
          <a:lstStyle/>
          <a:p>
            <a:fld id="{C4CA1AAD-5839-46A8-A174-C22752ADA508}" type="datetimeFigureOut">
              <a:rPr lang="en-DE" smtClean="0"/>
              <a:t>28/08/2026</a:t>
            </a:fld>
            <a:endParaRPr lang="en-DE"/>
          </a:p>
        </p:txBody>
      </p:sp>
      <p:sp>
        <p:nvSpPr>
          <p:cNvPr id="5" name="Footer Placeholder 5"/>
          <p:cNvSpPr>
            <a:spLocks noGrp="1"/>
          </p:cNvSpPr>
          <p:nvPr>
            <p:ph type="ftr" sz="quarter" idx="11"/>
          </p:nvPr>
        </p:nvSpPr>
        <p:spPr/>
        <p:txBody>
          <a:bodyPr/>
          <a:lstStyle/>
          <a:p>
            <a:endParaRPr lang="en-DE"/>
          </a:p>
        </p:txBody>
      </p:sp>
      <p:sp>
        <p:nvSpPr>
          <p:cNvPr id="6" name="Slide Number Placeholder 6"/>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1024266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C4CA1AAD-5839-46A8-A174-C22752ADA508}" type="datetimeFigureOut">
              <a:rPr lang="en-DE" smtClean="0"/>
              <a:t>28/08/2026</a:t>
            </a:fld>
            <a:endParaRPr lang="en-DE"/>
          </a:p>
        </p:txBody>
      </p:sp>
      <p:sp>
        <p:nvSpPr>
          <p:cNvPr id="6" name="Footer Placeholder 5"/>
          <p:cNvSpPr>
            <a:spLocks noGrp="1"/>
          </p:cNvSpPr>
          <p:nvPr>
            <p:ph type="ftr" sz="quarter" idx="11"/>
          </p:nvPr>
        </p:nvSpPr>
        <p:spPr/>
        <p:txBody>
          <a:bodyPr/>
          <a:lstStyle/>
          <a:p>
            <a:endParaRPr lang="en-DE"/>
          </a:p>
        </p:txBody>
      </p:sp>
      <p:sp>
        <p:nvSpPr>
          <p:cNvPr id="7" name="Slide Number Placeholder 6"/>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2212221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Ảnh Toàn cảnh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C4CA1AAD-5839-46A8-A174-C22752ADA508}" type="datetimeFigureOut">
              <a:rPr lang="en-DE" smtClean="0"/>
              <a:t>28/08/2026</a:t>
            </a:fld>
            <a:endParaRPr lang="en-DE"/>
          </a:p>
        </p:txBody>
      </p:sp>
      <p:sp>
        <p:nvSpPr>
          <p:cNvPr id="6" name="Footer Placeholder 5"/>
          <p:cNvSpPr>
            <a:spLocks noGrp="1"/>
          </p:cNvSpPr>
          <p:nvPr>
            <p:ph type="ftr" sz="quarter" idx="11"/>
          </p:nvPr>
        </p:nvSpPr>
        <p:spPr/>
        <p:txBody>
          <a:bodyPr/>
          <a:lstStyle/>
          <a:p>
            <a:endParaRPr lang="en-DE"/>
          </a:p>
        </p:txBody>
      </p:sp>
      <p:sp>
        <p:nvSpPr>
          <p:cNvPr id="7" name="Slide Number Placeholder 6"/>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1391188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êu đề và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vi-VN"/>
              <a:t>Bấm để sửa kiểu tiêu đề Bản cái</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C4CA1AAD-5839-46A8-A174-C22752ADA508}" type="datetimeFigureOut">
              <a:rPr lang="en-DE" smtClean="0"/>
              <a:t>28/08/2026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814660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rích dẫn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vi-VN"/>
              <a:t>Bấm để sửa kiểu tiêu đề Bản cái</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vi-VN"/>
              <a:t>Bấm để chỉnh sửa kiểu văn bản của Bản cái</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C4CA1AAD-5839-46A8-A174-C22752ADA508}" type="datetimeFigureOut">
              <a:rPr lang="en-DE" smtClean="0"/>
              <a:t>28/08/2026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9F7656A7-5690-458D-BEE1-6496537220D5}" type="slidenum">
              <a:rPr lang="en-DE" smtClean="0"/>
              <a:t>‹#›</a:t>
            </a:fld>
            <a:endParaRPr lang="en-DE"/>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9566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anh Thiếp">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vi-VN"/>
              <a:t>Bấm để sửa kiểu tiêu đề Bản cái</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C4CA1AAD-5839-46A8-A174-C22752ADA508}" type="datetimeFigureOut">
              <a:rPr lang="en-DE" smtClean="0"/>
              <a:t>28/08/2026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26977119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ộ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vi-VN"/>
              <a:t>Bấm để sửa kiểu tiêu đề Bản cái</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4CA1AAD-5839-46A8-A174-C22752ADA508}" type="datetimeFigureOut">
              <a:rPr lang="en-DE" smtClean="0"/>
              <a:t>28/08/2026</a:t>
            </a:fld>
            <a:endParaRPr lang="en-DE"/>
          </a:p>
        </p:txBody>
      </p:sp>
      <p:sp>
        <p:nvSpPr>
          <p:cNvPr id="4"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1597454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ột Hình ản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vi-VN"/>
              <a:t>Bấm để sửa kiểu tiêu đề Bản cái</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4CA1AAD-5839-46A8-A174-C22752ADA508}" type="datetimeFigureOut">
              <a:rPr lang="en-DE" smtClean="0"/>
              <a:t>28/08/2026</a:t>
            </a:fld>
            <a:endParaRPr lang="en-DE"/>
          </a:p>
        </p:txBody>
      </p:sp>
      <p:sp>
        <p:nvSpPr>
          <p:cNvPr id="4"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1025624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Vertical Text Placeholder 2"/>
          <p:cNvSpPr>
            <a:spLocks noGrp="1"/>
          </p:cNvSpPr>
          <p:nvPr>
            <p:ph type="body" orient="vert" idx="1"/>
          </p:nvPr>
        </p:nvSpPr>
        <p:spPr/>
        <p:txBody>
          <a:bodyPr vert="eaVert" anchor="t" anchorCtr="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C4CA1AAD-5839-46A8-A174-C22752ADA508}" type="datetimeFigureOut">
              <a:rPr lang="en-DE" smtClean="0"/>
              <a:t>28/08/2026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3071025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vi-VN"/>
              <a:t>Bấm để sửa kiểu tiêu đề Bản cái</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C4CA1AAD-5839-46A8-A174-C22752ADA508}" type="datetimeFigureOut">
              <a:rPr lang="en-DE" smtClean="0"/>
              <a:t>28/08/2026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9F7656A7-5690-458D-BEE1-6496537220D5}" type="slidenum">
              <a:rPr lang="en-DE" smtClean="0"/>
              <a:t>‹#›</a:t>
            </a:fld>
            <a:endParaRPr lang="en-DE"/>
          </a:p>
        </p:txBody>
      </p:sp>
    </p:spTree>
    <p:extLst>
      <p:ext uri="{BB962C8B-B14F-4D97-AF65-F5344CB8AC3E}">
        <p14:creationId xmlns:p14="http://schemas.microsoft.com/office/powerpoint/2010/main" val="3954283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DE"/>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DE"/>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vi-VN"/>
              <a:t>Bấm để sửa kiểu tiêu đề Bản cái</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4CA1AAD-5839-46A8-A174-C22752ADA508}" type="datetimeFigureOut">
              <a:rPr lang="en-DE" smtClean="0"/>
              <a:t>28/08/2026</a:t>
            </a:fld>
            <a:endParaRPr lang="en-DE"/>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DE"/>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F7656A7-5690-458D-BEE1-6496537220D5}" type="slidenum">
              <a:rPr lang="en-DE" smtClean="0"/>
              <a:t>‹#›</a:t>
            </a:fld>
            <a:endParaRPr lang="en-DE"/>
          </a:p>
        </p:txBody>
      </p:sp>
    </p:spTree>
    <p:extLst>
      <p:ext uri="{BB962C8B-B14F-4D97-AF65-F5344CB8AC3E}">
        <p14:creationId xmlns:p14="http://schemas.microsoft.com/office/powerpoint/2010/main" val="2121645166"/>
      </p:ext>
    </p:extLst>
  </p:cSld>
  <p:clrMap bg1="dk1" tx1="lt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AF741A3-F06C-8077-7A52-16C756EA3C68}"/>
              </a:ext>
            </a:extLst>
          </p:cNvPr>
          <p:cNvSpPr>
            <a:spLocks noGrp="1"/>
          </p:cNvSpPr>
          <p:nvPr>
            <p:ph type="ctrTitle"/>
          </p:nvPr>
        </p:nvSpPr>
        <p:spPr/>
        <p:txBody>
          <a:bodyPr/>
          <a:lstStyle/>
          <a:p>
            <a:endParaRPr lang="en-DE"/>
          </a:p>
        </p:txBody>
      </p:sp>
      <p:sp>
        <p:nvSpPr>
          <p:cNvPr id="3" name="Tiêu đề phụ 2">
            <a:extLst>
              <a:ext uri="{FF2B5EF4-FFF2-40B4-BE49-F238E27FC236}">
                <a16:creationId xmlns:a16="http://schemas.microsoft.com/office/drawing/2014/main" id="{84D933C1-7C13-AD44-FA3D-C09F75F49A28}"/>
              </a:ext>
            </a:extLst>
          </p:cNvPr>
          <p:cNvSpPr>
            <a:spLocks noGrp="1"/>
          </p:cNvSpPr>
          <p:nvPr>
            <p:ph type="subTitle" idx="1"/>
          </p:nvPr>
        </p:nvSpPr>
        <p:spPr/>
        <p:txBody>
          <a:bodyPr/>
          <a:lstStyle/>
          <a:p>
            <a:endParaRPr lang="en-DE"/>
          </a:p>
        </p:txBody>
      </p:sp>
    </p:spTree>
    <p:extLst>
      <p:ext uri="{BB962C8B-B14F-4D97-AF65-F5344CB8AC3E}">
        <p14:creationId xmlns:p14="http://schemas.microsoft.com/office/powerpoint/2010/main" val="3975179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52B4A02-9F75-21EA-80AC-DA67CB5E604D}"/>
              </a:ext>
            </a:extLst>
          </p:cNvPr>
          <p:cNvSpPr>
            <a:spLocks noGrp="1"/>
          </p:cNvSpPr>
          <p:nvPr>
            <p:ph type="title"/>
          </p:nvPr>
        </p:nvSpPr>
        <p:spPr/>
        <p:txBody>
          <a:bodyPr/>
          <a:lstStyle/>
          <a:p>
            <a:r>
              <a:rPr lang="en-US" dirty="0"/>
              <a:t>3.</a:t>
            </a:r>
            <a:r>
              <a:rPr lang="en-DE" dirty="0"/>
              <a:t> Identification of Suitable Wind Farm Areas</a:t>
            </a:r>
          </a:p>
        </p:txBody>
      </p:sp>
      <p:sp>
        <p:nvSpPr>
          <p:cNvPr id="4" name="Tiêu đề 1">
            <a:extLst>
              <a:ext uri="{FF2B5EF4-FFF2-40B4-BE49-F238E27FC236}">
                <a16:creationId xmlns:a16="http://schemas.microsoft.com/office/drawing/2014/main" id="{76DD9C95-F542-13D0-4AD6-15ED11F025B5}"/>
              </a:ext>
            </a:extLst>
          </p:cNvPr>
          <p:cNvSpPr txBox="1">
            <a:spLocks/>
          </p:cNvSpPr>
          <p:nvPr/>
        </p:nvSpPr>
        <p:spPr>
          <a:xfrm>
            <a:off x="696911" y="2028470"/>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t>3.1</a:t>
            </a:r>
            <a:r>
              <a:rPr lang="en-DE" sz="3200" dirty="0"/>
              <a:t> Filter the grassland and arable land areas.</a:t>
            </a:r>
          </a:p>
        </p:txBody>
      </p:sp>
      <p:pic>
        <p:nvPicPr>
          <p:cNvPr id="8" name="Hình ảnh 7">
            <a:extLst>
              <a:ext uri="{FF2B5EF4-FFF2-40B4-BE49-F238E27FC236}">
                <a16:creationId xmlns:a16="http://schemas.microsoft.com/office/drawing/2014/main" id="{6A8CE906-6DEC-9BA2-5A84-E7797C5BB23C}"/>
              </a:ext>
            </a:extLst>
          </p:cNvPr>
          <p:cNvPicPr>
            <a:picLocks noChangeAspect="1"/>
          </p:cNvPicPr>
          <p:nvPr/>
        </p:nvPicPr>
        <p:blipFill>
          <a:blip r:embed="rId3"/>
          <a:stretch>
            <a:fillRect/>
          </a:stretch>
        </p:blipFill>
        <p:spPr>
          <a:xfrm>
            <a:off x="2857500" y="2728735"/>
            <a:ext cx="6756699" cy="3344405"/>
          </a:xfrm>
          <a:prstGeom prst="rect">
            <a:avLst/>
          </a:prstGeom>
        </p:spPr>
      </p:pic>
      <p:sp>
        <p:nvSpPr>
          <p:cNvPr id="10" name="Hộp Văn bản 9">
            <a:extLst>
              <a:ext uri="{FF2B5EF4-FFF2-40B4-BE49-F238E27FC236}">
                <a16:creationId xmlns:a16="http://schemas.microsoft.com/office/drawing/2014/main" id="{BB66C99C-1D5D-339B-D1FC-F8CF316DB872}"/>
              </a:ext>
            </a:extLst>
          </p:cNvPr>
          <p:cNvSpPr txBox="1"/>
          <p:nvPr/>
        </p:nvSpPr>
        <p:spPr>
          <a:xfrm>
            <a:off x="4175760" y="6066728"/>
            <a:ext cx="6096000" cy="338554"/>
          </a:xfrm>
          <a:prstGeom prst="rect">
            <a:avLst/>
          </a:prstGeom>
          <a:noFill/>
        </p:spPr>
        <p:txBody>
          <a:bodyPr wrap="square">
            <a:spAutoFit/>
          </a:bodyPr>
          <a:lstStyle/>
          <a:p>
            <a:r>
              <a:rPr lang="en-US" sz="1600" dirty="0"/>
              <a:t>Figure1: </a:t>
            </a:r>
            <a:r>
              <a:rPr lang="en-DE" sz="1600" dirty="0"/>
              <a:t>the grassland and arable land areas</a:t>
            </a:r>
          </a:p>
        </p:txBody>
      </p:sp>
    </p:spTree>
    <p:extLst>
      <p:ext uri="{BB962C8B-B14F-4D97-AF65-F5344CB8AC3E}">
        <p14:creationId xmlns:p14="http://schemas.microsoft.com/office/powerpoint/2010/main" val="3706826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id="{EF30EC7E-5FF9-4A99-4AAF-6B26589FDD49}"/>
              </a:ext>
            </a:extLst>
          </p:cNvPr>
          <p:cNvSpPr txBox="1">
            <a:spLocks/>
          </p:cNvSpPr>
          <p:nvPr/>
        </p:nvSpPr>
        <p:spPr>
          <a:xfrm>
            <a:off x="323531" y="390170"/>
            <a:ext cx="9605329"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t>3.2</a:t>
            </a:r>
            <a:r>
              <a:rPr lang="en-DE" sz="3200" dirty="0"/>
              <a:t> Merge adjacent polygons into a single continuous area and remove the internal boundaries between them.</a:t>
            </a:r>
          </a:p>
        </p:txBody>
      </p:sp>
      <p:cxnSp>
        <p:nvCxnSpPr>
          <p:cNvPr id="11" name="Đường kết nối Mũi tên Thẳng 10">
            <a:extLst>
              <a:ext uri="{FF2B5EF4-FFF2-40B4-BE49-F238E27FC236}">
                <a16:creationId xmlns:a16="http://schemas.microsoft.com/office/drawing/2014/main" id="{A13EF079-FDE9-EC37-BC5D-45F92884EF18}"/>
              </a:ext>
            </a:extLst>
          </p:cNvPr>
          <p:cNvCxnSpPr>
            <a:cxnSpLocks/>
          </p:cNvCxnSpPr>
          <p:nvPr/>
        </p:nvCxnSpPr>
        <p:spPr>
          <a:xfrm>
            <a:off x="5974080" y="4221480"/>
            <a:ext cx="3352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4" name="Hình ảnh 13">
            <a:extLst>
              <a:ext uri="{FF2B5EF4-FFF2-40B4-BE49-F238E27FC236}">
                <a16:creationId xmlns:a16="http://schemas.microsoft.com/office/drawing/2014/main" id="{0D10DA8A-577E-FE12-2392-7690003DA904}"/>
              </a:ext>
            </a:extLst>
          </p:cNvPr>
          <p:cNvPicPr>
            <a:picLocks noChangeAspect="1"/>
          </p:cNvPicPr>
          <p:nvPr/>
        </p:nvPicPr>
        <p:blipFill>
          <a:blip r:embed="rId3"/>
          <a:stretch>
            <a:fillRect/>
          </a:stretch>
        </p:blipFill>
        <p:spPr>
          <a:xfrm>
            <a:off x="495301" y="2890063"/>
            <a:ext cx="5379720" cy="2662833"/>
          </a:xfrm>
          <a:prstGeom prst="rect">
            <a:avLst/>
          </a:prstGeom>
        </p:spPr>
      </p:pic>
      <p:pic>
        <p:nvPicPr>
          <p:cNvPr id="16" name="Hình ảnh 15">
            <a:extLst>
              <a:ext uri="{FF2B5EF4-FFF2-40B4-BE49-F238E27FC236}">
                <a16:creationId xmlns:a16="http://schemas.microsoft.com/office/drawing/2014/main" id="{A27D5263-2E0E-5312-9071-4BADD7B58D36}"/>
              </a:ext>
            </a:extLst>
          </p:cNvPr>
          <p:cNvPicPr>
            <a:picLocks noChangeAspect="1"/>
          </p:cNvPicPr>
          <p:nvPr/>
        </p:nvPicPr>
        <p:blipFill>
          <a:blip r:embed="rId4"/>
          <a:stretch>
            <a:fillRect/>
          </a:stretch>
        </p:blipFill>
        <p:spPr>
          <a:xfrm>
            <a:off x="6583680" y="2890063"/>
            <a:ext cx="5345467" cy="2662829"/>
          </a:xfrm>
          <a:prstGeom prst="rect">
            <a:avLst/>
          </a:prstGeom>
        </p:spPr>
      </p:pic>
      <p:sp>
        <p:nvSpPr>
          <p:cNvPr id="18" name="Hộp Văn bản 17">
            <a:extLst>
              <a:ext uri="{FF2B5EF4-FFF2-40B4-BE49-F238E27FC236}">
                <a16:creationId xmlns:a16="http://schemas.microsoft.com/office/drawing/2014/main" id="{8D391B6E-0607-CF78-B9B0-EA1A415A545D}"/>
              </a:ext>
            </a:extLst>
          </p:cNvPr>
          <p:cNvSpPr txBox="1"/>
          <p:nvPr/>
        </p:nvSpPr>
        <p:spPr>
          <a:xfrm>
            <a:off x="1043940" y="5693348"/>
            <a:ext cx="6096000" cy="276999"/>
          </a:xfrm>
          <a:prstGeom prst="rect">
            <a:avLst/>
          </a:prstGeom>
          <a:noFill/>
        </p:spPr>
        <p:txBody>
          <a:bodyPr wrap="square">
            <a:spAutoFit/>
          </a:bodyPr>
          <a:lstStyle/>
          <a:p>
            <a:r>
              <a:rPr lang="en-US" sz="1200" dirty="0"/>
              <a:t>Figure1: </a:t>
            </a:r>
            <a:r>
              <a:rPr lang="en-DE" sz="1200" dirty="0"/>
              <a:t>the grassland and arable land areas</a:t>
            </a:r>
          </a:p>
        </p:txBody>
      </p:sp>
      <p:sp>
        <p:nvSpPr>
          <p:cNvPr id="20" name="Hộp Văn bản 19">
            <a:extLst>
              <a:ext uri="{FF2B5EF4-FFF2-40B4-BE49-F238E27FC236}">
                <a16:creationId xmlns:a16="http://schemas.microsoft.com/office/drawing/2014/main" id="{DF6A8521-662D-6CE4-C44C-7DBD0980D2C8}"/>
              </a:ext>
            </a:extLst>
          </p:cNvPr>
          <p:cNvSpPr txBox="1"/>
          <p:nvPr/>
        </p:nvSpPr>
        <p:spPr>
          <a:xfrm>
            <a:off x="6377940" y="5693348"/>
            <a:ext cx="6096000" cy="276999"/>
          </a:xfrm>
          <a:prstGeom prst="rect">
            <a:avLst/>
          </a:prstGeom>
          <a:noFill/>
        </p:spPr>
        <p:txBody>
          <a:bodyPr wrap="square">
            <a:spAutoFit/>
          </a:bodyPr>
          <a:lstStyle/>
          <a:p>
            <a:r>
              <a:rPr lang="en-US" sz="1200" dirty="0"/>
              <a:t>Figure 2: </a:t>
            </a:r>
            <a:r>
              <a:rPr lang="en-DE" sz="1200" dirty="0"/>
              <a:t>the grassland and arable land areas</a:t>
            </a:r>
            <a:r>
              <a:rPr lang="en-US" sz="1200" dirty="0"/>
              <a:t> after remove boundary</a:t>
            </a:r>
            <a:endParaRPr lang="en-DE" sz="1200" dirty="0"/>
          </a:p>
        </p:txBody>
      </p:sp>
    </p:spTree>
    <p:extLst>
      <p:ext uri="{BB962C8B-B14F-4D97-AF65-F5344CB8AC3E}">
        <p14:creationId xmlns:p14="http://schemas.microsoft.com/office/powerpoint/2010/main" val="3326219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6EA53-A586-3B99-6885-69B01AA2DF26}"/>
            </a:ext>
          </a:extLst>
        </p:cNvPr>
        <p:cNvGrpSpPr/>
        <p:nvPr/>
      </p:nvGrpSpPr>
      <p:grpSpPr>
        <a:xfrm>
          <a:off x="0" y="0"/>
          <a:ext cx="0" cy="0"/>
          <a:chOff x="0" y="0"/>
          <a:chExt cx="0" cy="0"/>
        </a:xfrm>
      </p:grpSpPr>
      <p:pic>
        <p:nvPicPr>
          <p:cNvPr id="3" name="Hình ảnh 2">
            <a:extLst>
              <a:ext uri="{FF2B5EF4-FFF2-40B4-BE49-F238E27FC236}">
                <a16:creationId xmlns:a16="http://schemas.microsoft.com/office/drawing/2014/main" id="{B5CA7B54-BBB2-0C2D-FF90-4A43D262C172}"/>
              </a:ext>
            </a:extLst>
          </p:cNvPr>
          <p:cNvPicPr>
            <a:picLocks noChangeAspect="1"/>
          </p:cNvPicPr>
          <p:nvPr/>
        </p:nvPicPr>
        <p:blipFill>
          <a:blip r:embed="rId3"/>
          <a:stretch>
            <a:fillRect/>
          </a:stretch>
        </p:blipFill>
        <p:spPr>
          <a:xfrm>
            <a:off x="335280" y="2232454"/>
            <a:ext cx="4221480" cy="2089776"/>
          </a:xfrm>
          <a:prstGeom prst="rect">
            <a:avLst/>
          </a:prstGeom>
        </p:spPr>
      </p:pic>
      <p:sp>
        <p:nvSpPr>
          <p:cNvPr id="5" name="Tiêu đề 1">
            <a:extLst>
              <a:ext uri="{FF2B5EF4-FFF2-40B4-BE49-F238E27FC236}">
                <a16:creationId xmlns:a16="http://schemas.microsoft.com/office/drawing/2014/main" id="{791BC8E9-6259-A605-3F6C-052DFB9ED20A}"/>
              </a:ext>
            </a:extLst>
          </p:cNvPr>
          <p:cNvSpPr txBox="1">
            <a:spLocks/>
          </p:cNvSpPr>
          <p:nvPr/>
        </p:nvSpPr>
        <p:spPr>
          <a:xfrm>
            <a:off x="323531" y="390170"/>
            <a:ext cx="9605329"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t>3.3</a:t>
            </a:r>
            <a:r>
              <a:rPr lang="en-DE" sz="3200" dirty="0"/>
              <a:t> Remove all parts of the </a:t>
            </a:r>
            <a:r>
              <a:rPr lang="en-DE" sz="3200" b="1" dirty="0"/>
              <a:t>Ackerland/</a:t>
            </a:r>
            <a:r>
              <a:rPr lang="en-DE" sz="3200" b="1" dirty="0" err="1"/>
              <a:t>Grünland</a:t>
            </a:r>
            <a:r>
              <a:rPr lang="en-DE" sz="3200" dirty="0"/>
              <a:t> areas that lie within the </a:t>
            </a:r>
            <a:r>
              <a:rPr lang="en-DE" sz="3200" b="1" dirty="0"/>
              <a:t>restricted zones</a:t>
            </a:r>
            <a:r>
              <a:rPr lang="en-DE" sz="3200" dirty="0"/>
              <a:t>.</a:t>
            </a:r>
          </a:p>
          <a:p>
            <a:endParaRPr lang="en-DE" sz="3200" dirty="0"/>
          </a:p>
        </p:txBody>
      </p:sp>
      <p:pic>
        <p:nvPicPr>
          <p:cNvPr id="7" name="Hình ảnh 6">
            <a:extLst>
              <a:ext uri="{FF2B5EF4-FFF2-40B4-BE49-F238E27FC236}">
                <a16:creationId xmlns:a16="http://schemas.microsoft.com/office/drawing/2014/main" id="{1F4430D9-9B3C-DD4F-DDE4-63B590F8A485}"/>
              </a:ext>
            </a:extLst>
          </p:cNvPr>
          <p:cNvPicPr>
            <a:picLocks noChangeAspect="1"/>
          </p:cNvPicPr>
          <p:nvPr/>
        </p:nvPicPr>
        <p:blipFill>
          <a:blip r:embed="rId4"/>
          <a:stretch>
            <a:fillRect/>
          </a:stretch>
        </p:blipFill>
        <p:spPr>
          <a:xfrm>
            <a:off x="7025640" y="2232454"/>
            <a:ext cx="4235608" cy="2089776"/>
          </a:xfrm>
          <a:prstGeom prst="rect">
            <a:avLst/>
          </a:prstGeom>
        </p:spPr>
      </p:pic>
      <p:sp>
        <p:nvSpPr>
          <p:cNvPr id="8" name="Hộp Văn bản 7">
            <a:extLst>
              <a:ext uri="{FF2B5EF4-FFF2-40B4-BE49-F238E27FC236}">
                <a16:creationId xmlns:a16="http://schemas.microsoft.com/office/drawing/2014/main" id="{03620AB7-4D66-AC2C-E74E-BD38671584F1}"/>
              </a:ext>
            </a:extLst>
          </p:cNvPr>
          <p:cNvSpPr txBox="1"/>
          <p:nvPr/>
        </p:nvSpPr>
        <p:spPr>
          <a:xfrm>
            <a:off x="5629136" y="2994660"/>
            <a:ext cx="522900" cy="769441"/>
          </a:xfrm>
          <a:prstGeom prst="rect">
            <a:avLst/>
          </a:prstGeom>
          <a:noFill/>
        </p:spPr>
        <p:txBody>
          <a:bodyPr wrap="none" rtlCol="0">
            <a:spAutoFit/>
          </a:bodyPr>
          <a:lstStyle/>
          <a:p>
            <a:r>
              <a:rPr lang="en-US" sz="4400" b="1" dirty="0">
                <a:solidFill>
                  <a:schemeClr val="bg1"/>
                </a:solidFill>
              </a:rPr>
              <a:t>+</a:t>
            </a:r>
            <a:endParaRPr lang="en-DE" sz="4400" b="1" dirty="0">
              <a:solidFill>
                <a:schemeClr val="bg1"/>
              </a:solidFill>
            </a:endParaRPr>
          </a:p>
        </p:txBody>
      </p:sp>
      <p:cxnSp>
        <p:nvCxnSpPr>
          <p:cNvPr id="9" name="Đường kết nối Mũi tên Thẳng 8">
            <a:extLst>
              <a:ext uri="{FF2B5EF4-FFF2-40B4-BE49-F238E27FC236}">
                <a16:creationId xmlns:a16="http://schemas.microsoft.com/office/drawing/2014/main" id="{C62885B3-A9DA-21DE-7C72-87EBE2BF7244}"/>
              </a:ext>
            </a:extLst>
          </p:cNvPr>
          <p:cNvCxnSpPr>
            <a:cxnSpLocks/>
          </p:cNvCxnSpPr>
          <p:nvPr/>
        </p:nvCxnSpPr>
        <p:spPr>
          <a:xfrm>
            <a:off x="5890586" y="3764101"/>
            <a:ext cx="0" cy="685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2" name="Hình ảnh 11">
            <a:extLst>
              <a:ext uri="{FF2B5EF4-FFF2-40B4-BE49-F238E27FC236}">
                <a16:creationId xmlns:a16="http://schemas.microsoft.com/office/drawing/2014/main" id="{42E84B2E-A381-F485-0BD2-EF91212B5D0E}"/>
              </a:ext>
            </a:extLst>
          </p:cNvPr>
          <p:cNvPicPr>
            <a:picLocks noChangeAspect="1"/>
          </p:cNvPicPr>
          <p:nvPr/>
        </p:nvPicPr>
        <p:blipFill>
          <a:blip r:embed="rId5"/>
          <a:stretch>
            <a:fillRect/>
          </a:stretch>
        </p:blipFill>
        <p:spPr>
          <a:xfrm>
            <a:off x="3741746" y="4594860"/>
            <a:ext cx="3710614" cy="1847454"/>
          </a:xfrm>
          <a:prstGeom prst="rect">
            <a:avLst/>
          </a:prstGeom>
        </p:spPr>
      </p:pic>
      <p:sp>
        <p:nvSpPr>
          <p:cNvPr id="14" name="Hộp Văn bản 13">
            <a:extLst>
              <a:ext uri="{FF2B5EF4-FFF2-40B4-BE49-F238E27FC236}">
                <a16:creationId xmlns:a16="http://schemas.microsoft.com/office/drawing/2014/main" id="{B27ED28F-E22D-093C-38F3-8ABDEA7D1D46}"/>
              </a:ext>
            </a:extLst>
          </p:cNvPr>
          <p:cNvSpPr txBox="1"/>
          <p:nvPr/>
        </p:nvSpPr>
        <p:spPr>
          <a:xfrm>
            <a:off x="6507480" y="4328689"/>
            <a:ext cx="6096000" cy="276999"/>
          </a:xfrm>
          <a:prstGeom prst="rect">
            <a:avLst/>
          </a:prstGeom>
          <a:noFill/>
        </p:spPr>
        <p:txBody>
          <a:bodyPr wrap="square">
            <a:spAutoFit/>
          </a:bodyPr>
          <a:lstStyle/>
          <a:p>
            <a:r>
              <a:rPr lang="en-US" sz="1200"/>
              <a:t>Figure 2: </a:t>
            </a:r>
            <a:r>
              <a:rPr lang="en-DE" sz="1200"/>
              <a:t>the grassland and arable land areas</a:t>
            </a:r>
            <a:r>
              <a:rPr lang="en-US" sz="1200"/>
              <a:t> after remove boundary</a:t>
            </a:r>
            <a:endParaRPr lang="en-DE" sz="1200" dirty="0"/>
          </a:p>
        </p:txBody>
      </p:sp>
      <p:sp>
        <p:nvSpPr>
          <p:cNvPr id="16" name="Hộp Văn bản 15">
            <a:extLst>
              <a:ext uri="{FF2B5EF4-FFF2-40B4-BE49-F238E27FC236}">
                <a16:creationId xmlns:a16="http://schemas.microsoft.com/office/drawing/2014/main" id="{AB207D41-FD99-B9F6-ABA6-9387C4E9D078}"/>
              </a:ext>
            </a:extLst>
          </p:cNvPr>
          <p:cNvSpPr txBox="1"/>
          <p:nvPr/>
        </p:nvSpPr>
        <p:spPr>
          <a:xfrm>
            <a:off x="742787" y="4467188"/>
            <a:ext cx="2587804" cy="830997"/>
          </a:xfrm>
          <a:prstGeom prst="rect">
            <a:avLst/>
          </a:prstGeom>
          <a:noFill/>
        </p:spPr>
        <p:txBody>
          <a:bodyPr wrap="square">
            <a:spAutoFit/>
          </a:bodyPr>
          <a:lstStyle/>
          <a:p>
            <a:r>
              <a:rPr lang="en-US" sz="1200" dirty="0"/>
              <a:t>Figure 3: </a:t>
            </a:r>
            <a:r>
              <a:rPr lang="en-DE" sz="1200" dirty="0"/>
              <a:t>The land areas that meet the criteria and are located at a sufficient distance from roads and rivers.</a:t>
            </a:r>
          </a:p>
        </p:txBody>
      </p:sp>
      <p:sp>
        <p:nvSpPr>
          <p:cNvPr id="18" name="Hộp Văn bản 17">
            <a:extLst>
              <a:ext uri="{FF2B5EF4-FFF2-40B4-BE49-F238E27FC236}">
                <a16:creationId xmlns:a16="http://schemas.microsoft.com/office/drawing/2014/main" id="{0B2C219D-8CEC-D196-F61D-CDC2AEA8F7F7}"/>
              </a:ext>
            </a:extLst>
          </p:cNvPr>
          <p:cNvSpPr txBox="1"/>
          <p:nvPr/>
        </p:nvSpPr>
        <p:spPr>
          <a:xfrm>
            <a:off x="2388706" y="6442314"/>
            <a:ext cx="7783993" cy="246221"/>
          </a:xfrm>
          <a:prstGeom prst="rect">
            <a:avLst/>
          </a:prstGeom>
          <a:noFill/>
        </p:spPr>
        <p:txBody>
          <a:bodyPr wrap="square">
            <a:spAutoFit/>
          </a:bodyPr>
          <a:lstStyle/>
          <a:p>
            <a:r>
              <a:rPr lang="en-US" sz="1000" dirty="0"/>
              <a:t>Figure 4: </a:t>
            </a:r>
            <a:r>
              <a:rPr lang="en-US" sz="1000" dirty="0" err="1"/>
              <a:t>Günland</a:t>
            </a:r>
            <a:r>
              <a:rPr lang="en-US" sz="1000" dirty="0"/>
              <a:t> and Ackerland </a:t>
            </a:r>
            <a:r>
              <a:rPr lang="en-DE" sz="1000" dirty="0"/>
              <a:t>that meet the criteria and are located at a sufficient distance from roads and rivers.</a:t>
            </a:r>
          </a:p>
        </p:txBody>
      </p:sp>
    </p:spTree>
    <p:extLst>
      <p:ext uri="{BB962C8B-B14F-4D97-AF65-F5344CB8AC3E}">
        <p14:creationId xmlns:p14="http://schemas.microsoft.com/office/powerpoint/2010/main" val="3879753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84C8B-3013-FA7E-AD43-3A079FB3711F}"/>
            </a:ext>
          </a:extLst>
        </p:cNvPr>
        <p:cNvGrpSpPr/>
        <p:nvPr/>
      </p:nvGrpSpPr>
      <p:grpSpPr>
        <a:xfrm>
          <a:off x="0" y="0"/>
          <a:ext cx="0" cy="0"/>
          <a:chOff x="0" y="0"/>
          <a:chExt cx="0" cy="0"/>
        </a:xfrm>
      </p:grpSpPr>
      <p:sp>
        <p:nvSpPr>
          <p:cNvPr id="3" name="Tiêu đề 1">
            <a:extLst>
              <a:ext uri="{FF2B5EF4-FFF2-40B4-BE49-F238E27FC236}">
                <a16:creationId xmlns:a16="http://schemas.microsoft.com/office/drawing/2014/main" id="{D27D8714-0C7F-778C-2213-F5885B5EB3CF}"/>
              </a:ext>
            </a:extLst>
          </p:cNvPr>
          <p:cNvSpPr txBox="1">
            <a:spLocks/>
          </p:cNvSpPr>
          <p:nvPr/>
        </p:nvSpPr>
        <p:spPr>
          <a:xfrm>
            <a:off x="323531" y="390170"/>
            <a:ext cx="9605329"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t>3.3</a:t>
            </a:r>
            <a:r>
              <a:rPr lang="en-DE" sz="3200" dirty="0"/>
              <a:t> Filter the areas with an area greater than </a:t>
            </a:r>
            <a:r>
              <a:rPr lang="en-DE" sz="3200" b="1" dirty="0"/>
              <a:t>18 ha</a:t>
            </a:r>
            <a:r>
              <a:rPr lang="en-DE" sz="3200" dirty="0"/>
              <a:t>.</a:t>
            </a:r>
          </a:p>
        </p:txBody>
      </p:sp>
      <p:pic>
        <p:nvPicPr>
          <p:cNvPr id="5" name="Hình ảnh 4">
            <a:extLst>
              <a:ext uri="{FF2B5EF4-FFF2-40B4-BE49-F238E27FC236}">
                <a16:creationId xmlns:a16="http://schemas.microsoft.com/office/drawing/2014/main" id="{F8E99B94-14A9-E2D0-FDDB-8A42E194E992}"/>
              </a:ext>
            </a:extLst>
          </p:cNvPr>
          <p:cNvPicPr>
            <a:picLocks noChangeAspect="1"/>
          </p:cNvPicPr>
          <p:nvPr/>
        </p:nvPicPr>
        <p:blipFill>
          <a:blip r:embed="rId3"/>
          <a:stretch>
            <a:fillRect/>
          </a:stretch>
        </p:blipFill>
        <p:spPr>
          <a:xfrm>
            <a:off x="220981" y="1987550"/>
            <a:ext cx="4610100" cy="2882900"/>
          </a:xfrm>
          <a:prstGeom prst="rect">
            <a:avLst/>
          </a:prstGeom>
        </p:spPr>
      </p:pic>
      <p:cxnSp>
        <p:nvCxnSpPr>
          <p:cNvPr id="6" name="Đường kết nối Mũi tên Thẳng 5">
            <a:extLst>
              <a:ext uri="{FF2B5EF4-FFF2-40B4-BE49-F238E27FC236}">
                <a16:creationId xmlns:a16="http://schemas.microsoft.com/office/drawing/2014/main" id="{1E7724A8-5A12-CD4F-8FFC-2BEE764A5A7D}"/>
              </a:ext>
            </a:extLst>
          </p:cNvPr>
          <p:cNvCxnSpPr>
            <a:cxnSpLocks/>
          </p:cNvCxnSpPr>
          <p:nvPr/>
        </p:nvCxnSpPr>
        <p:spPr>
          <a:xfrm>
            <a:off x="5654040" y="3642360"/>
            <a:ext cx="3352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7" name="Hình ảnh 6">
            <a:extLst>
              <a:ext uri="{FF2B5EF4-FFF2-40B4-BE49-F238E27FC236}">
                <a16:creationId xmlns:a16="http://schemas.microsoft.com/office/drawing/2014/main" id="{B5E55780-7C1B-B1E5-8D4B-FE64CE1BD17F}"/>
              </a:ext>
            </a:extLst>
          </p:cNvPr>
          <p:cNvPicPr>
            <a:picLocks noChangeAspect="1"/>
          </p:cNvPicPr>
          <p:nvPr/>
        </p:nvPicPr>
        <p:blipFill>
          <a:blip r:embed="rId4"/>
          <a:stretch>
            <a:fillRect/>
          </a:stretch>
        </p:blipFill>
        <p:spPr>
          <a:xfrm>
            <a:off x="6239510" y="1987550"/>
            <a:ext cx="5731510" cy="2882900"/>
          </a:xfrm>
          <a:prstGeom prst="rect">
            <a:avLst/>
          </a:prstGeom>
        </p:spPr>
      </p:pic>
      <p:sp>
        <p:nvSpPr>
          <p:cNvPr id="9" name="Hộp Văn bản 8">
            <a:extLst>
              <a:ext uri="{FF2B5EF4-FFF2-40B4-BE49-F238E27FC236}">
                <a16:creationId xmlns:a16="http://schemas.microsoft.com/office/drawing/2014/main" id="{F3764F20-C2BA-4C0C-2342-0A3E4F533011}"/>
              </a:ext>
            </a:extLst>
          </p:cNvPr>
          <p:cNvSpPr txBox="1"/>
          <p:nvPr/>
        </p:nvSpPr>
        <p:spPr>
          <a:xfrm>
            <a:off x="323531" y="4961543"/>
            <a:ext cx="4507550" cy="276999"/>
          </a:xfrm>
          <a:prstGeom prst="rect">
            <a:avLst/>
          </a:prstGeom>
          <a:noFill/>
        </p:spPr>
        <p:txBody>
          <a:bodyPr wrap="square">
            <a:spAutoFit/>
          </a:bodyPr>
          <a:lstStyle/>
          <a:p>
            <a:r>
              <a:rPr lang="en-US" sz="1200" dirty="0"/>
              <a:t>Figure 5: </a:t>
            </a:r>
            <a:r>
              <a:rPr lang="en-DE" sz="1200" dirty="0"/>
              <a:t>Suitable</a:t>
            </a:r>
            <a:r>
              <a:rPr lang="en-US" sz="1200" dirty="0"/>
              <a:t> land for</a:t>
            </a:r>
            <a:r>
              <a:rPr lang="en-DE" sz="1200" dirty="0"/>
              <a:t> Wind Farm Areas</a:t>
            </a:r>
          </a:p>
        </p:txBody>
      </p:sp>
      <p:sp>
        <p:nvSpPr>
          <p:cNvPr id="11" name="Hộp Văn bản 10">
            <a:extLst>
              <a:ext uri="{FF2B5EF4-FFF2-40B4-BE49-F238E27FC236}">
                <a16:creationId xmlns:a16="http://schemas.microsoft.com/office/drawing/2014/main" id="{E8C18C0B-3B98-DF9F-5E81-797AE1D4B074}"/>
              </a:ext>
            </a:extLst>
          </p:cNvPr>
          <p:cNvSpPr txBox="1"/>
          <p:nvPr/>
        </p:nvSpPr>
        <p:spPr>
          <a:xfrm>
            <a:off x="7257731" y="4961542"/>
            <a:ext cx="4507550" cy="276999"/>
          </a:xfrm>
          <a:prstGeom prst="rect">
            <a:avLst/>
          </a:prstGeom>
          <a:noFill/>
        </p:spPr>
        <p:txBody>
          <a:bodyPr wrap="square">
            <a:spAutoFit/>
          </a:bodyPr>
          <a:lstStyle/>
          <a:p>
            <a:r>
              <a:rPr lang="en-US" sz="1200" dirty="0"/>
              <a:t>Figure 6:final Result</a:t>
            </a:r>
            <a:endParaRPr lang="en-DE" sz="1200" dirty="0"/>
          </a:p>
        </p:txBody>
      </p:sp>
    </p:spTree>
    <p:extLst>
      <p:ext uri="{BB962C8B-B14F-4D97-AF65-F5344CB8AC3E}">
        <p14:creationId xmlns:p14="http://schemas.microsoft.com/office/powerpoint/2010/main" val="5808270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618</TotalTime>
  <Words>479</Words>
  <Application>Microsoft Office PowerPoint</Application>
  <PresentationFormat>Màn hình rộng</PresentationFormat>
  <Paragraphs>27</Paragraphs>
  <Slides>5</Slides>
  <Notes>4</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5</vt:i4>
      </vt:variant>
    </vt:vector>
  </HeadingPairs>
  <TitlesOfParts>
    <vt:vector size="11" baseType="lpstr">
      <vt:lpstr>Aptos</vt:lpstr>
      <vt:lpstr>Arial</vt:lpstr>
      <vt:lpstr>Century Gothic</vt:lpstr>
      <vt:lpstr>Times New Roman</vt:lpstr>
      <vt:lpstr>Wingdings 3</vt:lpstr>
      <vt:lpstr>Ion</vt:lpstr>
      <vt:lpstr>Bản trình bày PowerPoint</vt:lpstr>
      <vt:lpstr>3. Identification of Suitable Wind Farm Areas</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Chi Tai Le</dc:creator>
  <cp:lastModifiedBy>Minh Chi Tai Le</cp:lastModifiedBy>
  <cp:revision>7</cp:revision>
  <dcterms:created xsi:type="dcterms:W3CDTF">2026-08-25T14:16:47Z</dcterms:created>
  <dcterms:modified xsi:type="dcterms:W3CDTF">2026-08-28T22:15:34Z</dcterms:modified>
</cp:coreProperties>
</file>