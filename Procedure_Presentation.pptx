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9609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for the Analysis and Modelling of Spatial </a:t>
            </a:r>
            <a:r>
              <a:rPr lang="en-US" sz="1100" kern="0" spc="10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6596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 Farm Suitability</a:t>
            </a:r>
            <a:endParaRPr lang="en-US" sz="40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of Hanover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4114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  ·  Georeferencing  ·  Digitization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892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7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Nadia Farsiani</a:t>
            </a:r>
            <a:endParaRPr lang="en-US" sz="1600" dirty="0"/>
          </a:p>
        </p:txBody>
      </p:sp>
      <p:pic>
        <p:nvPicPr>
          <p:cNvPr id="7" name="Image 0" descr="/home/claude/gis/media/d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615072"/>
            <a:ext cx="5212080" cy="3262096"/>
          </a:xfrm>
          <a:prstGeom prst="rect">
            <a:avLst/>
          </a:prstGeom>
          <a:effectLst>
            <a:outerShdw blurRad="114300" dist="38100" dir="5400000" algn="bl" rotWithShape="0">
              <a:srgbClr val="1B1B1B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6537960" y="49686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Landscape Model (Map 1) — the final deliverable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task, and my part in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area of about </a:t>
            </a: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km² west of Hanover</a:t>
            </a:r>
            <a:r>
              <a:rPr lang="en-US" sz="16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suitable areas for wind turbines are to be identified from a Digital Landscape Model (DLM). My stage prepares the data the rest of the analysis is built 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1F5E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513332" y="3108960"/>
            <a:ext cx="768096" cy="768096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 txBox="1"/>
          <p:nvPr/>
        </p:nvSpPr>
        <p:spPr>
          <a:xfrm>
            <a:off x="1513332" y="3108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0873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&amp; CRS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project; 7 layers; EPSG:31467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64992" y="2788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1F5E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329684" y="3108960"/>
            <a:ext cx="768096" cy="768096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 txBox="1"/>
          <p:nvPr/>
        </p:nvSpPr>
        <p:spPr>
          <a:xfrm>
            <a:off x="4329684" y="3108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40873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Georeference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45720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Aerial photo → map coordinates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81344" y="2788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1F5E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146036" y="3108960"/>
            <a:ext cx="768096" cy="768096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 txBox="1"/>
          <p:nvPr/>
        </p:nvSpPr>
        <p:spPr>
          <a:xfrm>
            <a:off x="7146036" y="3108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318504" y="40873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Digitize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45720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Leine oxbow arms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97696" y="2788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1F5E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9962388" y="3108960"/>
            <a:ext cx="768096" cy="768096"/>
          </a:xfrm>
          <a:prstGeom prst="ellipse">
            <a:avLst/>
          </a:prstGeom>
          <a:solidFill>
            <a:srgbClr val="C2762A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 txBox="1"/>
          <p:nvPr/>
        </p:nvSpPr>
        <p:spPr>
          <a:xfrm>
            <a:off x="9962388" y="3108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9134856" y="40873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DLM map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180576" y="45720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&amp; export Map 1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603504" cy="603504"/>
          </a:xfrm>
          <a:prstGeom prst="ellipse">
            <a:avLst/>
          </a:prstGeom>
          <a:solidFill>
            <a:srgbClr val="C2762A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 txBox="1"/>
          <p:nvPr/>
        </p:nvSpPr>
        <p:spPr>
          <a:xfrm>
            <a:off x="548640" y="4754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57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7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9494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setup and coordinate system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257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 new QGIS project and loaded all seven shapefiles: study-area frame, roads, railways, power lines, water bodies, land use and places.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the coordinate system: every layer is in EPSG:31467 (Gauss-Krüger zone 3) — a projected system measured in metres.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adopted this CRS from the data, so no reprojection was needed.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distances (15–650 m) and areas are therefore measured in true metres directly.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257800"/>
            <a:ext cx="5257800" cy="1024128"/>
          </a:xfrm>
          <a:prstGeom prst="roundRect">
            <a:avLst>
              <a:gd name="adj" fmla="val 8036"/>
            </a:avLst>
          </a:prstGeom>
          <a:solidFill>
            <a:srgbClr val="F1F5EC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 txBox="1"/>
          <p:nvPr/>
        </p:nvSpPr>
        <p:spPr>
          <a:xfrm>
            <a:off x="548640" y="5358384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EPSG:31467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1616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coordinate system  ·  unit = metre</a:t>
            </a:r>
            <a:endParaRPr lang="en-US" sz="1050" dirty="0"/>
          </a:p>
        </p:txBody>
      </p:sp>
      <p:pic>
        <p:nvPicPr>
          <p:cNvPr id="10" name="Image 0" descr="/home/claude/gis/media/s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87918"/>
            <a:ext cx="5532120" cy="2996565"/>
          </a:xfrm>
          <a:prstGeom prst="rect">
            <a:avLst/>
          </a:prstGeom>
          <a:effectLst>
            <a:outerShdw blurRad="114300" dist="38100" dir="5400000" algn="bl" rotWithShape="0">
              <a:srgbClr val="1B1B1B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603504" cy="603504"/>
          </a:xfrm>
          <a:prstGeom prst="ellipse">
            <a:avLst/>
          </a:prstGeom>
          <a:solidFill>
            <a:srgbClr val="C2762A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 txBox="1"/>
          <p:nvPr/>
        </p:nvSpPr>
        <p:spPr>
          <a:xfrm>
            <a:off x="548640" y="4754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57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7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9494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the data and its attributes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the attribute table of each layer to find the fields the later analysis depends on.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class is stored in the field typ (Kreisstraße, Bundestraße, Landesstraße/Staatsstraße, Bundesautobahn).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use, water and railways are likewise classified in a typ field.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the settlement types are held in the land-use layer — Ortslagen contains only place names.</a:t>
            </a:r>
            <a:endParaRPr lang="en-US" sz="1500" dirty="0"/>
          </a:p>
        </p:txBody>
      </p:sp>
      <p:pic>
        <p:nvPicPr>
          <p:cNvPr id="7" name="Image 0" descr="/home/claude/gis/media/s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87918"/>
            <a:ext cx="5532120" cy="2996565"/>
          </a:xfrm>
          <a:prstGeom prst="rect">
            <a:avLst/>
          </a:prstGeom>
          <a:effectLst>
            <a:outerShdw blurRad="114300" dist="38100" dir="5400000" algn="bl" rotWithShape="0">
              <a:srgbClr val="1B1B1B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603504" cy="603504"/>
          </a:xfrm>
          <a:prstGeom prst="ellipse">
            <a:avLst/>
          </a:prstGeom>
          <a:solidFill>
            <a:srgbClr val="C2762A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 txBox="1"/>
          <p:nvPr/>
        </p:nvSpPr>
        <p:spPr>
          <a:xfrm>
            <a:off x="548640" y="4754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57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7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9494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Georeferencing the aerial photograph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257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supplied aerial photograph had no spatial reference.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ground control points by matching features in the photo (road junctions, water edges) to the vector layers.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Transformation: Polynomial 1 (affine), nearest-neighbour resampling, target EPSG:31467.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points placed; 1 outlier disabled, leaving 9 used for the fit.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257800"/>
            <a:ext cx="5257800" cy="1024128"/>
          </a:xfrm>
          <a:prstGeom prst="roundRect">
            <a:avLst>
              <a:gd name="adj" fmla="val 8036"/>
            </a:avLst>
          </a:prstGeom>
          <a:solidFill>
            <a:srgbClr val="F1F5EC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 txBox="1"/>
          <p:nvPr/>
        </p:nvSpPr>
        <p:spPr>
          <a:xfrm>
            <a:off x="548640" y="5358384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 px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1616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error  ≈  20–25 m on the ground</a:t>
            </a:r>
            <a:endParaRPr lang="en-US" sz="1050" dirty="0"/>
          </a:p>
        </p:txBody>
      </p:sp>
      <p:pic>
        <p:nvPicPr>
          <p:cNvPr id="10" name="Image 0" descr="/home/claude/gis/media/s_geor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87918"/>
            <a:ext cx="5532120" cy="2996565"/>
          </a:xfrm>
          <a:prstGeom prst="rect">
            <a:avLst/>
          </a:prstGeom>
          <a:effectLst>
            <a:outerShdw blurRad="114300" dist="38100" dir="5400000" algn="bl" rotWithShape="0">
              <a:srgbClr val="1B1B1B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603504" cy="603504"/>
          </a:xfrm>
          <a:prstGeom prst="ellipse">
            <a:avLst/>
          </a:prstGeom>
          <a:solidFill>
            <a:srgbClr val="C2762A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 txBox="1"/>
          <p:nvPr/>
        </p:nvSpPr>
        <p:spPr>
          <a:xfrm>
            <a:off x="548640" y="4754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57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7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9494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Digitizing the oxbow arms of the Leine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cut-off meander loops of the Leine are not in the water layer, so I traced them as new polygons. Result: </a:t>
            </a: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polygons in Altwasser.gpkg</a:t>
            </a: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(field typ = 'Altwasser').</a:t>
            </a:r>
            <a:endParaRPr lang="en-US" sz="1500" dirty="0"/>
          </a:p>
        </p:txBody>
      </p:sp>
      <p:pic>
        <p:nvPicPr>
          <p:cNvPr id="7" name="Image 0" descr="/home/claude/gis/media/oxbow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56" y="2240280"/>
            <a:ext cx="4899689" cy="3749040"/>
          </a:xfrm>
          <a:prstGeom prst="rect">
            <a:avLst/>
          </a:prstGeom>
          <a:effectLst>
            <a:outerShdw blurRad="114300" dist="38100" dir="5400000" algn="bl" rotWithShape="0">
              <a:srgbClr val="1B1B1B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864856" y="6062472"/>
            <a:ext cx="4899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Aerial photograph — the oxbow arms are visible</a:t>
            </a:r>
            <a:endParaRPr lang="en-US" sz="1050" dirty="0"/>
          </a:p>
        </p:txBody>
      </p:sp>
      <p:pic>
        <p:nvPicPr>
          <p:cNvPr id="9" name="Image 1" descr="/home/claude/gis/media/oxbow_digitiz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335772"/>
            <a:ext cx="5349240" cy="3558055"/>
          </a:xfrm>
          <a:prstGeom prst="rect">
            <a:avLst/>
          </a:prstGeom>
          <a:effectLst>
            <a:outerShdw blurRad="114300" dist="38100" dir="5400000" algn="bl" rotWithShape="0">
              <a:srgbClr val="1B1B1B">
                <a:alpha val="30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309360" y="59669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E7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Digitized result — 7 polygons over the aerial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603504" cy="603504"/>
          </a:xfrm>
          <a:prstGeom prst="ellipse">
            <a:avLst/>
          </a:prstGeom>
          <a:solidFill>
            <a:srgbClr val="C2762A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 txBox="1"/>
          <p:nvPr/>
        </p:nvSpPr>
        <p:spPr>
          <a:xfrm>
            <a:off x="548640" y="4754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457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7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9494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3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Producing the Digital Landscape Model map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892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all data layers, the georeferenced aerial and the digitized oxbows in the QGIS print layout.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Styled the road network by class (the typ field).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the four required map elements: title, legend, scale bar and north arrow.</a:t>
            </a:r>
            <a:endParaRPr lang="en-US" sz="15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the finished layout as DLM.pdf.</a:t>
            </a:r>
            <a:endParaRPr lang="en-US" sz="1500" dirty="0"/>
          </a:p>
        </p:txBody>
      </p:sp>
      <p:pic>
        <p:nvPicPr>
          <p:cNvPr id="7" name="Image 0" descr="/home/claude/gis/media/d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043338"/>
            <a:ext cx="6035040" cy="3777164"/>
          </a:xfrm>
          <a:prstGeom prst="rect">
            <a:avLst/>
          </a:prstGeom>
          <a:effectLst>
            <a:outerShdw blurRad="114300" dist="38100" dir="5400000" algn="bl" rotWithShape="0">
              <a:srgbClr val="1B1B1B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outputs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2F4A2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27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871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5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prepared</a:t>
            </a:r>
            <a:endParaRPr lang="en-US" sz="125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125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EPSG:31467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64992" y="155448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2F4A2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 txBox="1"/>
          <p:nvPr/>
        </p:nvSpPr>
        <p:spPr>
          <a:xfrm>
            <a:off x="3364992" y="17556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27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 px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24871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5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georeferencing</a:t>
            </a:r>
            <a:endParaRPr lang="en-US" sz="125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125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error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81344" y="155448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2F4A2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 txBox="1"/>
          <p:nvPr/>
        </p:nvSpPr>
        <p:spPr>
          <a:xfrm>
            <a:off x="6181344" y="17556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27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24871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5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oxbow polygons</a:t>
            </a:r>
            <a:endParaRPr lang="en-US" sz="125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125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97696" y="155448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2F4A2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 txBox="1"/>
          <p:nvPr/>
        </p:nvSpPr>
        <p:spPr>
          <a:xfrm>
            <a:off x="8997696" y="17556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27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1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24871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5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DLM map</a:t>
            </a:r>
            <a:endParaRPr lang="en-US" sz="125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1250" dirty="0">
                <a:solidFill>
                  <a:srgbClr val="D8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produced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final.qgz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411480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QGIS project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Luftbild_georef.tif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457200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georeferenced aerial photograph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Luftbild.points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749040" y="502920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georeferencing control points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4864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Altwasser.gpkg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548640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 digitized oxbow polygons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943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DLM.pdf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749040" y="594360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exported Digital Landscape Model map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411480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files in one folder · relative paths · coordinate system EPSG:31467 throughout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606</Words>
  <Application>Microsoft Office PowerPoint</Application>
  <PresentationFormat>Breitbild</PresentationFormat>
  <Paragraphs>92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Nadia Farsiani</cp:lastModifiedBy>
  <cp:revision>2</cp:revision>
  <dcterms:created xsi:type="dcterms:W3CDTF">2026-08-28T11:29:51Z</dcterms:created>
  <dcterms:modified xsi:type="dcterms:W3CDTF">2026-08-29T12:31:05Z</dcterms:modified>
</cp:coreProperties>
</file>