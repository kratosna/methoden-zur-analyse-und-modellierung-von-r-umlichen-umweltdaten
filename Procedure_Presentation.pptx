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Folie mittels Klicken verschieben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7B0659-435C-4427-AADE-9408F9403AED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93274A9-76AE-4FFD-88C0-B7C10473420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1718ED4-D53E-40C6-B405-8A3BA58E9A8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403400A-3027-44BE-8602-7DB110972B3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DA8ACED-8F3E-41C4-B6CF-4859AFF34E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977355F-B401-4AB0-82DC-CBC48917C4B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61D0AB0-DA77-4861-A2B5-15AF8F1FC8C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3F40BC5-546F-4CCF-A851-C1DED0EF93E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-44640" rIns="0" bIns="-4464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0D145AE-6CA0-49E1-BAAC-67BA51929F6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344D0B-F649-4A68-952E-37C6CDFC42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B0E2DF-3820-4BC8-B3CC-F336F970B4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0C72DE-2782-4C5F-997A-AE3641C3F6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2AAB2B-7443-4427-8773-4BDE8B4274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86DD52-6750-474A-9B70-C07F45BDDA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83FC93-AA46-4609-971D-6C46C8D721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7EA8AA-DC31-499A-ADA3-877CD8F8A8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2C8B47-FD01-48C1-8A44-7CB31CBD9C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7C645F-05BA-42FF-BB82-07A7A93E60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3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40080" y="54864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99" strike="noStrike">
                <a:solidFill>
                  <a:srgbClr val="97BC62"/>
                </a:solidFill>
                <a:effectLst/>
                <a:uFillTx/>
                <a:latin typeface="Calibri"/>
                <a:ea typeface="Calibri"/>
              </a:rPr>
              <a:t>Methods for the Analysis and Modelling of Spatial Environmental Data</a:t>
            </a:r>
            <a:endParaRPr lang="de-DE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40080" y="1965960"/>
            <a:ext cx="56685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Wind Farm Suitability</a:t>
            </a:r>
            <a:endParaRPr lang="de-DE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Analysis</a:t>
            </a:r>
            <a:endParaRPr lang="de-DE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58440" y="361188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97BC62"/>
                </a:solidFill>
                <a:effectLst/>
                <a:uFillTx/>
                <a:latin typeface="Calibri"/>
                <a:ea typeface="Calibri"/>
              </a:rPr>
              <a:t>West of Hanover</a:t>
            </a:r>
            <a:endParaRPr lang="de-DE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58440" y="4114800"/>
            <a:ext cx="5668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Data Preparation  ·  Georeferencing  ·  Digitization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58440" y="48920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C2762A"/>
                </a:solidFill>
                <a:effectLst/>
                <a:uFillTx/>
                <a:latin typeface="Calibri"/>
                <a:ea typeface="Calibri"/>
              </a:rPr>
              <a:t>Nadia Farsiani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/home/claude/gis/media/dlm.png"/>
          <p:cNvPicPr/>
          <p:nvPr/>
        </p:nvPicPr>
        <p:blipFill>
          <a:blip r:embed="rId1"/>
          <a:stretch/>
        </p:blipFill>
        <p:spPr>
          <a:xfrm>
            <a:off x="6537960" y="1614960"/>
            <a:ext cx="5211360" cy="3261240"/>
          </a:xfrm>
          <a:prstGeom prst="rect">
            <a:avLst/>
          </a:prstGeom>
          <a:noFill/>
          <a:ln w="0">
            <a:noFill/>
          </a:ln>
          <a:effectLst>
            <a:outerShdw blurRad="114480" dir="5400000" dist="38160" rotWithShape="0">
              <a:srgbClr val="1B1B1B">
                <a:alpha val="30000"/>
              </a:srgbClr>
            </a:outerShdw>
          </a:effectLst>
        </p:spPr>
      </p:pic>
      <p:sp>
        <p:nvSpPr>
          <p:cNvPr id="20" name="Text 5"/>
          <p:cNvSpPr/>
          <p:nvPr/>
        </p:nvSpPr>
        <p:spPr>
          <a:xfrm>
            <a:off x="6537960" y="4968720"/>
            <a:ext cx="5211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The Digital Landscape Model (Map 1) — the final deliverable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50292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The task, and my part in it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1371600"/>
            <a:ext cx="11063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In an area of about </a:t>
            </a:r>
            <a:r>
              <a:rPr lang="en-US" sz="16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200 km² west of Hanover</a:t>
            </a:r>
            <a:r>
              <a:rPr lang="en-US" sz="16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, suitable areas for wind turbines are to be identified from a Digital Landscape Model (DLM). My stage prepares the data the rest of the analysis is built on.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548640" y="2788920"/>
            <a:ext cx="2696760" cy="2925360"/>
          </a:xfrm>
          <a:prstGeom prst="roundRect">
            <a:avLst>
              <a:gd name="adj" fmla="val 3390"/>
            </a:avLst>
          </a:prstGeom>
          <a:solidFill>
            <a:srgbClr val="F1F5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1513440" y="3108960"/>
            <a:ext cx="767520" cy="76752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4"/>
          <p:cNvSpPr/>
          <p:nvPr/>
        </p:nvSpPr>
        <p:spPr>
          <a:xfrm>
            <a:off x="1513440" y="310896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685800" y="408744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Setup &amp; CRS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731520" y="457200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New project; 7 layers; EPSG:31467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3364920" y="2788920"/>
            <a:ext cx="2696760" cy="2925360"/>
          </a:xfrm>
          <a:prstGeom prst="roundRect">
            <a:avLst>
              <a:gd name="adj" fmla="val 3390"/>
            </a:avLst>
          </a:prstGeom>
          <a:solidFill>
            <a:srgbClr val="F1F5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329720" y="3108960"/>
            <a:ext cx="767520" cy="76752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9"/>
          <p:cNvSpPr/>
          <p:nvPr/>
        </p:nvSpPr>
        <p:spPr>
          <a:xfrm>
            <a:off x="4329720" y="310896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3502080" y="408744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Georeference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3547800" y="457200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Aerial photo → map coordinates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6181200" y="2788920"/>
            <a:ext cx="2696760" cy="2925360"/>
          </a:xfrm>
          <a:prstGeom prst="roundRect">
            <a:avLst>
              <a:gd name="adj" fmla="val 3390"/>
            </a:avLst>
          </a:prstGeom>
          <a:solidFill>
            <a:srgbClr val="F1F5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7146000" y="3108960"/>
            <a:ext cx="767520" cy="76752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7146000" y="310896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6318360" y="408744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Digitize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6364080" y="457200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Trace the Leine oxbow arms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8997840" y="2788920"/>
            <a:ext cx="2696760" cy="2925360"/>
          </a:xfrm>
          <a:prstGeom prst="roundRect">
            <a:avLst>
              <a:gd name="adj" fmla="val 3390"/>
            </a:avLst>
          </a:prstGeom>
          <a:solidFill>
            <a:srgbClr val="F1F5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9962280" y="3108960"/>
            <a:ext cx="767520" cy="767520"/>
          </a:xfrm>
          <a:prstGeom prst="ellipse">
            <a:avLst/>
          </a:prstGeom>
          <a:solidFill>
            <a:srgbClr val="C27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9962280" y="310896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9135000" y="408744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DLM map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9180720" y="457200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Assemble &amp; export Map 1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548640" y="475560"/>
            <a:ext cx="602640" cy="602640"/>
          </a:xfrm>
          <a:prstGeom prst="ellipse">
            <a:avLst/>
          </a:prstGeom>
          <a:solidFill>
            <a:srgbClr val="C27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48640" y="475560"/>
            <a:ext cx="6026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1298520" y="457200"/>
            <a:ext cx="5485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2762A"/>
                </a:solidFill>
                <a:effectLst/>
                <a:uFillTx/>
                <a:latin typeface="Calibri"/>
                <a:ea typeface="Calibri"/>
              </a:rPr>
              <a:t>STEP 1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1298520" y="694800"/>
            <a:ext cx="10332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Project setup and coordinate system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548640" y="1600200"/>
            <a:ext cx="52570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Created a new QGIS project and loaded all seven shapefiles: study-area frame, roads, railways, power lines, water bodies, land use and places.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Checked the coordinate system: every layer is in EPSG:31467 (Gauss-Krüger zone 3) — a projected system measured in metres.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The project adopted this CRS from the data, so no reprojection was needed.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All distances (15–650 m) and areas are therefore measured in true metres directly.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548640" y="5257800"/>
            <a:ext cx="5257080" cy="1023480"/>
          </a:xfrm>
          <a:prstGeom prst="roundRect">
            <a:avLst>
              <a:gd name="adj" fmla="val 8036"/>
            </a:avLst>
          </a:prstGeom>
          <a:solidFill>
            <a:srgbClr val="F1F5EC"/>
          </a:solidFill>
          <a:ln w="126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6"/>
          <p:cNvSpPr/>
          <p:nvPr/>
        </p:nvSpPr>
        <p:spPr>
          <a:xfrm>
            <a:off x="548640" y="5358240"/>
            <a:ext cx="52570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5F2D"/>
                </a:solidFill>
                <a:effectLst/>
                <a:uFillTx/>
                <a:latin typeface="Cambria"/>
                <a:ea typeface="Cambria"/>
              </a:rPr>
              <a:t>EPSG:31467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640080" y="5916240"/>
            <a:ext cx="5074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projected coordinate system  ·  unit = metre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/home/claude/gis/media/s_setup.png"/>
          <p:cNvPicPr/>
          <p:nvPr/>
        </p:nvPicPr>
        <p:blipFill>
          <a:blip r:embed="rId1"/>
          <a:stretch/>
        </p:blipFill>
        <p:spPr>
          <a:xfrm>
            <a:off x="6172200" y="2387880"/>
            <a:ext cx="5531400" cy="2995920"/>
          </a:xfrm>
          <a:prstGeom prst="rect">
            <a:avLst/>
          </a:prstGeom>
          <a:noFill/>
          <a:ln w="0">
            <a:noFill/>
          </a:ln>
          <a:effectLst>
            <a:outerShdw blurRad="114480" dir="5400000" dist="38160" rotWithShape="0">
              <a:srgbClr val="1B1B1B">
                <a:alpha val="3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548640" y="475560"/>
            <a:ext cx="602640" cy="602640"/>
          </a:xfrm>
          <a:prstGeom prst="ellipse">
            <a:avLst/>
          </a:prstGeom>
          <a:solidFill>
            <a:srgbClr val="C27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475560"/>
            <a:ext cx="6026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298520" y="457200"/>
            <a:ext cx="5485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2762A"/>
                </a:solidFill>
                <a:effectLst/>
                <a:uFillTx/>
                <a:latin typeface="Calibri"/>
                <a:ea typeface="Calibri"/>
              </a:rPr>
              <a:t>STEP 2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298520" y="694800"/>
            <a:ext cx="10332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Checking the data and its attributes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48640" y="1600200"/>
            <a:ext cx="525708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Opened the attribute table of each layer to find the fields the later analysis depends on.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Road class is stored in the field typ (Kreisstraße, Bundestraße, Landesstraße/Staatsstraße, Bundesautobahn).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Land use, water and railways are likewise classified in a typ field.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Key finding: the settlement types are held in the land-use layer — Ortslagen contains only place names.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/home/claude/gis/media/s_attr.png"/>
          <p:cNvPicPr/>
          <p:nvPr/>
        </p:nvPicPr>
        <p:blipFill>
          <a:blip r:embed="rId1"/>
          <a:stretch/>
        </p:blipFill>
        <p:spPr>
          <a:xfrm>
            <a:off x="6172200" y="2387880"/>
            <a:ext cx="5531400" cy="2995920"/>
          </a:xfrm>
          <a:prstGeom prst="rect">
            <a:avLst/>
          </a:prstGeom>
          <a:noFill/>
          <a:ln w="0">
            <a:noFill/>
          </a:ln>
          <a:effectLst>
            <a:outerShdw blurRad="114480" dir="5400000" dist="38160" rotWithShape="0">
              <a:srgbClr val="1B1B1B">
                <a:alpha val="3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548640" y="475560"/>
            <a:ext cx="602640" cy="602640"/>
          </a:xfrm>
          <a:prstGeom prst="ellipse">
            <a:avLst/>
          </a:prstGeom>
          <a:solidFill>
            <a:srgbClr val="C27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475560"/>
            <a:ext cx="6026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298520" y="457200"/>
            <a:ext cx="5485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2762A"/>
                </a:solidFill>
                <a:effectLst/>
                <a:uFillTx/>
                <a:latin typeface="Calibri"/>
                <a:ea typeface="Calibri"/>
              </a:rPr>
              <a:t>STEP 3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1298520" y="694800"/>
            <a:ext cx="10332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Georeferencing the aerial photograph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548640" y="1600200"/>
            <a:ext cx="525708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The supplied aerial photograph had no spatial reference.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Placed ground control points by matching features in the photo (road junctions, water edges) to the vector layers.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Transformation: Polynomial 1 (affine), nearest-neighbour resampling, target EPSG:31467.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10 points placed; 1 outlier disabled, leaving 9 used for the fit.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548640" y="5257800"/>
            <a:ext cx="5257080" cy="1023480"/>
          </a:xfrm>
          <a:prstGeom prst="roundRect">
            <a:avLst>
              <a:gd name="adj" fmla="val 8036"/>
            </a:avLst>
          </a:prstGeom>
          <a:solidFill>
            <a:srgbClr val="F1F5EC"/>
          </a:solidFill>
          <a:ln w="126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 6"/>
          <p:cNvSpPr/>
          <p:nvPr/>
        </p:nvSpPr>
        <p:spPr>
          <a:xfrm>
            <a:off x="548640" y="5358240"/>
            <a:ext cx="52570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5F2D"/>
                </a:solidFill>
                <a:effectLst/>
                <a:uFillTx/>
                <a:latin typeface="Cambria"/>
                <a:ea typeface="Cambria"/>
              </a:rPr>
              <a:t>5.1 px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640080" y="5916240"/>
            <a:ext cx="5074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mean error  ≈  20–25 m on the ground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/home/claude/gis/media/s_georef.png"/>
          <p:cNvPicPr/>
          <p:nvPr/>
        </p:nvPicPr>
        <p:blipFill>
          <a:blip r:embed="rId1"/>
          <a:stretch/>
        </p:blipFill>
        <p:spPr>
          <a:xfrm>
            <a:off x="6172200" y="2387880"/>
            <a:ext cx="5531400" cy="2995920"/>
          </a:xfrm>
          <a:prstGeom prst="rect">
            <a:avLst/>
          </a:prstGeom>
          <a:noFill/>
          <a:ln w="0">
            <a:noFill/>
          </a:ln>
          <a:effectLst>
            <a:outerShdw blurRad="114480" dir="5400000" dist="38160" rotWithShape="0">
              <a:srgbClr val="1B1B1B">
                <a:alpha val="3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548640" y="475560"/>
            <a:ext cx="602640" cy="602640"/>
          </a:xfrm>
          <a:prstGeom prst="ellipse">
            <a:avLst/>
          </a:prstGeom>
          <a:solidFill>
            <a:srgbClr val="C27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475560"/>
            <a:ext cx="6026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1298520" y="457200"/>
            <a:ext cx="5485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2762A"/>
                </a:solidFill>
                <a:effectLst/>
                <a:uFillTx/>
                <a:latin typeface="Calibri"/>
                <a:ea typeface="Calibri"/>
              </a:rPr>
              <a:t>STEP 4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1298520" y="694800"/>
            <a:ext cx="10332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Digitizing the oxbow arms of the Leine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48640" y="1481400"/>
            <a:ext cx="1115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The cut-off meander loops of the Leine are not in the water layer, so I traced them as new polygons. Result: </a:t>
            </a:r>
            <a:r>
              <a:rPr lang="en-US" sz="15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7 polygons in Altwasser.gpkg</a:t>
            </a: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 (field typ = 'Altwasser').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0" descr="/home/claude/gis/media/oxbow_clean.png"/>
          <p:cNvPicPr/>
          <p:nvPr/>
        </p:nvPicPr>
        <p:blipFill>
          <a:blip r:embed="rId1"/>
          <a:stretch/>
        </p:blipFill>
        <p:spPr>
          <a:xfrm>
            <a:off x="864720" y="2240280"/>
            <a:ext cx="4898880" cy="3748320"/>
          </a:xfrm>
          <a:prstGeom prst="rect">
            <a:avLst/>
          </a:prstGeom>
          <a:noFill/>
          <a:ln w="0">
            <a:noFill/>
          </a:ln>
          <a:effectLst>
            <a:outerShdw blurRad="114480" dir="5400000" dist="38160" rotWithShape="0">
              <a:srgbClr val="1B1B1B">
                <a:alpha val="30000"/>
              </a:srgbClr>
            </a:outerShdw>
          </a:effectLst>
        </p:spPr>
      </p:pic>
      <p:sp>
        <p:nvSpPr>
          <p:cNvPr id="73" name="Text 5"/>
          <p:cNvSpPr/>
          <p:nvPr/>
        </p:nvSpPr>
        <p:spPr>
          <a:xfrm>
            <a:off x="864720" y="6062400"/>
            <a:ext cx="489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Aerial photograph — the oxbow arms are visible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" descr="/home/claude/gis/media/oxbow_digitized.png"/>
          <p:cNvPicPr/>
          <p:nvPr/>
        </p:nvPicPr>
        <p:blipFill>
          <a:blip r:embed="rId2"/>
          <a:stretch/>
        </p:blipFill>
        <p:spPr>
          <a:xfrm>
            <a:off x="6309360" y="2335680"/>
            <a:ext cx="5348520" cy="3557160"/>
          </a:xfrm>
          <a:prstGeom prst="rect">
            <a:avLst/>
          </a:prstGeom>
          <a:noFill/>
          <a:ln w="0">
            <a:noFill/>
          </a:ln>
          <a:effectLst>
            <a:outerShdw blurRad="114480" dir="5400000" dist="38160" rotWithShape="0">
              <a:srgbClr val="1B1B1B">
                <a:alpha val="30000"/>
              </a:srgbClr>
            </a:outerShdw>
          </a:effectLst>
        </p:spPr>
      </p:pic>
      <p:sp>
        <p:nvSpPr>
          <p:cNvPr id="75" name="Text 6"/>
          <p:cNvSpPr/>
          <p:nvPr/>
        </p:nvSpPr>
        <p:spPr>
          <a:xfrm>
            <a:off x="6309360" y="5967000"/>
            <a:ext cx="5348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E7A64"/>
                </a:solidFill>
                <a:effectLst/>
                <a:uFillTx/>
                <a:latin typeface="Calibri"/>
                <a:ea typeface="Calibri"/>
              </a:rPr>
              <a:t>Digitized result — 7 polygons over the aerial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548640" y="475560"/>
            <a:ext cx="602640" cy="602640"/>
          </a:xfrm>
          <a:prstGeom prst="ellipse">
            <a:avLst/>
          </a:prstGeom>
          <a:solidFill>
            <a:srgbClr val="C27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48640" y="475560"/>
            <a:ext cx="6026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1298520" y="457200"/>
            <a:ext cx="5485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2762A"/>
                </a:solidFill>
                <a:effectLst/>
                <a:uFillTx/>
                <a:latin typeface="Calibri"/>
                <a:ea typeface="Calibri"/>
              </a:rPr>
              <a:t>STEP 5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1298520" y="694800"/>
            <a:ext cx="10332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2371F"/>
                </a:solidFill>
                <a:effectLst/>
                <a:uFillTx/>
                <a:latin typeface="Cambria"/>
                <a:ea typeface="Cambria"/>
              </a:rPr>
              <a:t>Producing the Digital Landscape Model map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548640" y="1600200"/>
            <a:ext cx="489132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Assembled all data layers, the georeferenced aerial and the digitized oxbows in the QGIS print layout.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Styled the road network by class (the typ field).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Added the four required map elements: title, legend, scale bar and north arrow.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4000"/>
              </a:lnSpc>
              <a:spcAft>
                <a:spcPts val="1100"/>
              </a:spcAft>
              <a:buClr>
                <a:srgbClr val="2A3324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3324"/>
                </a:solidFill>
                <a:effectLst/>
                <a:uFillTx/>
                <a:latin typeface="Calibri"/>
                <a:ea typeface="Calibri"/>
              </a:rPr>
              <a:t>Exported the finished layout as DLM.pdf.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/home/claude/gis/media/dlm.png"/>
          <p:cNvPicPr/>
          <p:nvPr/>
        </p:nvPicPr>
        <p:blipFill>
          <a:blip r:embed="rId1"/>
          <a:stretch/>
        </p:blipFill>
        <p:spPr>
          <a:xfrm>
            <a:off x="5669280" y="2043360"/>
            <a:ext cx="6034320" cy="3776400"/>
          </a:xfrm>
          <a:prstGeom prst="rect">
            <a:avLst/>
          </a:prstGeom>
          <a:noFill/>
          <a:ln w="0">
            <a:noFill/>
          </a:ln>
          <a:effectLst>
            <a:outerShdw blurRad="114480" dir="5400000" dist="38160" rotWithShape="0">
              <a:srgbClr val="1B1B1B">
                <a:alpha val="3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3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48640" y="50292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Results &amp; outputs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548640" y="1554480"/>
            <a:ext cx="2696760" cy="1690920"/>
          </a:xfrm>
          <a:prstGeom prst="roundRect">
            <a:avLst>
              <a:gd name="adj" fmla="val 5405"/>
            </a:avLst>
          </a:prstGeom>
          <a:solidFill>
            <a:srgbClr val="2F4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2"/>
          <p:cNvSpPr/>
          <p:nvPr/>
        </p:nvSpPr>
        <p:spPr>
          <a:xfrm>
            <a:off x="548640" y="1755720"/>
            <a:ext cx="2696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C2762A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de-DE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685800" y="2487240"/>
            <a:ext cx="2422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layers prepared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in EPSG:31467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3364920" y="1554480"/>
            <a:ext cx="2696760" cy="1690920"/>
          </a:xfrm>
          <a:prstGeom prst="roundRect">
            <a:avLst>
              <a:gd name="adj" fmla="val 5405"/>
            </a:avLst>
          </a:prstGeom>
          <a:solidFill>
            <a:srgbClr val="2F4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5"/>
          <p:cNvSpPr/>
          <p:nvPr/>
        </p:nvSpPr>
        <p:spPr>
          <a:xfrm>
            <a:off x="3364920" y="1755720"/>
            <a:ext cx="2696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C2762A"/>
                </a:solidFill>
                <a:effectLst/>
                <a:uFillTx/>
                <a:latin typeface="Cambria"/>
                <a:ea typeface="Cambria"/>
              </a:rPr>
              <a:t>5.1 px</a:t>
            </a:r>
            <a:endParaRPr lang="de-DE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3502080" y="2487240"/>
            <a:ext cx="2422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georeferencing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mean error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181200" y="1554480"/>
            <a:ext cx="2696760" cy="1690920"/>
          </a:xfrm>
          <a:prstGeom prst="roundRect">
            <a:avLst>
              <a:gd name="adj" fmla="val 5405"/>
            </a:avLst>
          </a:prstGeom>
          <a:solidFill>
            <a:srgbClr val="2F4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8"/>
          <p:cNvSpPr/>
          <p:nvPr/>
        </p:nvSpPr>
        <p:spPr>
          <a:xfrm>
            <a:off x="6181200" y="1755720"/>
            <a:ext cx="2696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C2762A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de-DE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6318360" y="2487240"/>
            <a:ext cx="2422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oxbow polygons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digitized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8997840" y="1554480"/>
            <a:ext cx="2696760" cy="1690920"/>
          </a:xfrm>
          <a:prstGeom prst="roundRect">
            <a:avLst>
              <a:gd name="adj" fmla="val 5405"/>
            </a:avLst>
          </a:prstGeom>
          <a:solidFill>
            <a:srgbClr val="2F4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8997840" y="1755720"/>
            <a:ext cx="2696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C2762A"/>
                </a:solidFill>
                <a:effectLst/>
                <a:uFillTx/>
                <a:latin typeface="Cambria"/>
                <a:ea typeface="Cambria"/>
              </a:rPr>
              <a:t>Map 1</a:t>
            </a:r>
            <a:endParaRPr lang="de-DE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9135000" y="2487240"/>
            <a:ext cx="2422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DLM map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8E4CC"/>
                </a:solidFill>
                <a:effectLst/>
                <a:uFillTx/>
                <a:latin typeface="Calibri"/>
                <a:ea typeface="Calibri"/>
              </a:rPr>
              <a:t>produced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548640" y="37033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97BC62"/>
                </a:solidFill>
                <a:effectLst/>
                <a:uFillTx/>
                <a:latin typeface="Calibri"/>
                <a:ea typeface="Calibri"/>
              </a:rPr>
              <a:t>Files produced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548640" y="411480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final.qgz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3749040" y="4114800"/>
            <a:ext cx="594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D3BC"/>
                </a:solidFill>
                <a:effectLst/>
                <a:uFillTx/>
                <a:latin typeface="Calibri"/>
                <a:ea typeface="Calibri"/>
              </a:rPr>
              <a:t>the complete QGIS project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548640" y="457200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Luftbild_georef.tif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3749040" y="4572000"/>
            <a:ext cx="594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D3BC"/>
                </a:solidFill>
                <a:effectLst/>
                <a:uFillTx/>
                <a:latin typeface="Calibri"/>
                <a:ea typeface="Calibri"/>
              </a:rPr>
              <a:t>the georeferenced aerial photograph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548640" y="502920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Luftbild.points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3749040" y="5029200"/>
            <a:ext cx="594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D3BC"/>
                </a:solidFill>
                <a:effectLst/>
                <a:uFillTx/>
                <a:latin typeface="Calibri"/>
                <a:ea typeface="Calibri"/>
              </a:rPr>
              <a:t>the georeferencing control points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548640" y="548640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Altwasser.gpkg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3749040" y="5486400"/>
            <a:ext cx="594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D3BC"/>
                </a:solidFill>
                <a:effectLst/>
                <a:uFillTx/>
                <a:latin typeface="Calibri"/>
                <a:ea typeface="Calibri"/>
              </a:rPr>
              <a:t>the 7 digitized oxbow polygons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548640" y="594360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DLM.pdf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3749040" y="5943600"/>
            <a:ext cx="594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D3BC"/>
                </a:solidFill>
                <a:effectLst/>
                <a:uFillTx/>
                <a:latin typeface="Calibri"/>
                <a:ea typeface="Calibri"/>
              </a:rPr>
              <a:t>the exported Digital Landscape Model map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6400800" y="4114800"/>
            <a:ext cx="530280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7BC62"/>
                </a:solidFill>
                <a:effectLst/>
                <a:uFillTx/>
                <a:latin typeface="Calibri"/>
                <a:ea typeface="Calibri"/>
              </a:rPr>
              <a:t>All files in one folder · relative paths · coordinate system EPSG:31467 throughout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3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52"/>
          <p:cNvSpPr/>
          <p:nvPr/>
        </p:nvSpPr>
        <p:spPr>
          <a:xfrm>
            <a:off x="502920" y="457200"/>
            <a:ext cx="7771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BF8A"/>
                </a:solidFill>
                <a:effectLst/>
                <a:uFillTx/>
                <a:latin typeface="Calibri"/>
                <a:ea typeface="Calibri"/>
              </a:rPr>
              <a:t>Methods for the Analysis and Modelling of Spatial Environmental Data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3"/>
          <p:cNvSpPr/>
          <p:nvPr/>
        </p:nvSpPr>
        <p:spPr>
          <a:xfrm>
            <a:off x="457200" y="1965960"/>
            <a:ext cx="7863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Buffer Analysis and</a:t>
            </a:r>
            <a:endParaRPr lang="de-DE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Exclusion Areas</a:t>
            </a:r>
            <a:endParaRPr lang="de-DE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4"/>
          <p:cNvSpPr/>
          <p:nvPr/>
        </p:nvSpPr>
        <p:spPr>
          <a:xfrm>
            <a:off x="502920" y="379476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8FBF8A"/>
                </a:solidFill>
                <a:effectLst/>
                <a:uFillTx/>
                <a:latin typeface="Calibri"/>
                <a:ea typeface="Calibri"/>
              </a:rPr>
              <a:t>West of Hanover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5"/>
          <p:cNvSpPr/>
          <p:nvPr/>
        </p:nvSpPr>
        <p:spPr>
          <a:xfrm>
            <a:off x="502920" y="42246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B8"/>
                </a:solidFill>
                <a:effectLst/>
                <a:uFillTx/>
                <a:latin typeface="Calibri"/>
                <a:ea typeface="Calibri"/>
              </a:rPr>
              <a:t>Safety Buffers  ·  Settlement Classification  ·  Total Exclusion Area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6"/>
          <p:cNvSpPr/>
          <p:nvPr/>
        </p:nvSpPr>
        <p:spPr>
          <a:xfrm>
            <a:off x="502920" y="59893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1652E"/>
                </a:solidFill>
                <a:effectLst/>
                <a:uFillTx/>
                <a:latin typeface="Calibri"/>
                <a:ea typeface="Calibri"/>
              </a:rPr>
              <a:t>Khaled Alhamoud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6308640" y="1938600"/>
            <a:ext cx="5422320" cy="2934360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600">
            <a:solidFill>
              <a:srgbClr val="DADFD2"/>
            </a:solidFill>
            <a:round/>
          </a:ln>
          <a:effectLst>
            <a:outerShdw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7"/>
          <p:cNvSpPr/>
          <p:nvPr/>
        </p:nvSpPr>
        <p:spPr>
          <a:xfrm>
            <a:off x="7818120" y="449892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8" descr="buffers_map.png"/>
          <p:cNvPicPr/>
          <p:nvPr/>
        </p:nvPicPr>
        <p:blipFill>
          <a:blip r:embed="rId1"/>
          <a:stretch/>
        </p:blipFill>
        <p:spPr>
          <a:xfrm>
            <a:off x="6397200" y="2011320"/>
            <a:ext cx="5333760" cy="280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28"/>
          <p:cNvSpPr/>
          <p:nvPr/>
        </p:nvSpPr>
        <p:spPr>
          <a:xfrm>
            <a:off x="548640" y="45720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The task, and my part in it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0"/>
          <p:cNvSpPr/>
          <p:nvPr/>
        </p:nvSpPr>
        <p:spPr>
          <a:xfrm>
            <a:off x="548640" y="105156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Person 1 handed over the prepared DLM: seven layers, the georeferenced aerial photo, and the digitized oxbow arms. My stage turns every distance rule in the assignment into an actual exclusion layer — the mask Person 3 will subtract farmland from.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8"/>
          <p:cNvSpPr/>
          <p:nvPr/>
        </p:nvSpPr>
        <p:spPr>
          <a:xfrm>
            <a:off x="548640" y="2057400"/>
            <a:ext cx="1992600" cy="1508040"/>
          </a:xfrm>
          <a:prstGeom prst="roundRect">
            <a:avLst>
              <a:gd name="adj" fmla="val 3636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9"/>
          <p:cNvSpPr/>
          <p:nvPr/>
        </p:nvSpPr>
        <p:spPr>
          <a:xfrm>
            <a:off x="713160" y="2240280"/>
            <a:ext cx="383400" cy="38340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1"/>
          <p:cNvSpPr/>
          <p:nvPr/>
        </p:nvSpPr>
        <p:spPr>
          <a:xfrm>
            <a:off x="713160" y="2240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3"/>
          <p:cNvSpPr/>
          <p:nvPr/>
        </p:nvSpPr>
        <p:spPr>
          <a:xfrm>
            <a:off x="713160" y="2715840"/>
            <a:ext cx="1663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Check the data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4"/>
          <p:cNvSpPr/>
          <p:nvPr/>
        </p:nvSpPr>
        <p:spPr>
          <a:xfrm>
            <a:off x="713160" y="3136320"/>
            <a:ext cx="1663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one field, typ — and two compound values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0"/>
          <p:cNvSpPr/>
          <p:nvPr/>
        </p:nvSpPr>
        <p:spPr>
          <a:xfrm>
            <a:off x="2683800" y="2057400"/>
            <a:ext cx="1992600" cy="1508040"/>
          </a:xfrm>
          <a:prstGeom prst="roundRect">
            <a:avLst>
              <a:gd name="adj" fmla="val 3636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1"/>
          <p:cNvSpPr/>
          <p:nvPr/>
        </p:nvSpPr>
        <p:spPr>
          <a:xfrm>
            <a:off x="2848320" y="2240280"/>
            <a:ext cx="383400" cy="38340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3"/>
          <p:cNvSpPr/>
          <p:nvPr/>
        </p:nvSpPr>
        <p:spPr>
          <a:xfrm>
            <a:off x="2848320" y="2240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4"/>
          <p:cNvSpPr/>
          <p:nvPr/>
        </p:nvSpPr>
        <p:spPr>
          <a:xfrm>
            <a:off x="2848320" y="2715840"/>
            <a:ext cx="1663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Build 11 buffers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5"/>
          <p:cNvSpPr/>
          <p:nvPr/>
        </p:nvSpPr>
        <p:spPr>
          <a:xfrm>
            <a:off x="2848320" y="3136320"/>
            <a:ext cx="1663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11 distance rules → 11 layers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52"/>
          <p:cNvSpPr/>
          <p:nvPr/>
        </p:nvSpPr>
        <p:spPr>
          <a:xfrm>
            <a:off x="4818960" y="2057400"/>
            <a:ext cx="1992600" cy="1508040"/>
          </a:xfrm>
          <a:prstGeom prst="roundRect">
            <a:avLst>
              <a:gd name="adj" fmla="val 3636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53"/>
          <p:cNvSpPr/>
          <p:nvPr/>
        </p:nvSpPr>
        <p:spPr>
          <a:xfrm>
            <a:off x="4983480" y="2240280"/>
            <a:ext cx="383400" cy="38340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2"/>
          <p:cNvSpPr/>
          <p:nvPr/>
        </p:nvSpPr>
        <p:spPr>
          <a:xfrm>
            <a:off x="4983480" y="2240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3"/>
          <p:cNvSpPr/>
          <p:nvPr/>
        </p:nvSpPr>
        <p:spPr>
          <a:xfrm>
            <a:off x="4983480" y="2715840"/>
            <a:ext cx="1663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Split settlements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4"/>
          <p:cNvSpPr/>
          <p:nvPr/>
        </p:nvSpPr>
        <p:spPr>
          <a:xfrm>
            <a:off x="4983480" y="3136320"/>
            <a:ext cx="1663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spatial join solves a missing attribute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4"/>
          <p:cNvSpPr/>
          <p:nvPr/>
        </p:nvSpPr>
        <p:spPr>
          <a:xfrm>
            <a:off x="6954120" y="2057400"/>
            <a:ext cx="1992600" cy="1508040"/>
          </a:xfrm>
          <a:prstGeom prst="roundRect">
            <a:avLst>
              <a:gd name="adj" fmla="val 3636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5"/>
          <p:cNvSpPr/>
          <p:nvPr/>
        </p:nvSpPr>
        <p:spPr>
          <a:xfrm>
            <a:off x="7118640" y="2240280"/>
            <a:ext cx="383400" cy="38340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5"/>
          <p:cNvSpPr/>
          <p:nvPr/>
        </p:nvSpPr>
        <p:spPr>
          <a:xfrm>
            <a:off x="7118640" y="2240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6"/>
          <p:cNvSpPr/>
          <p:nvPr/>
        </p:nvSpPr>
        <p:spPr>
          <a:xfrm>
            <a:off x="7118640" y="2715840"/>
            <a:ext cx="1663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Combine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7"/>
          <p:cNvSpPr/>
          <p:nvPr/>
        </p:nvSpPr>
        <p:spPr>
          <a:xfrm>
            <a:off x="7118640" y="3136320"/>
            <a:ext cx="1663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Merge → Fix → Dissolve → Clip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6"/>
          <p:cNvSpPr/>
          <p:nvPr/>
        </p:nvSpPr>
        <p:spPr>
          <a:xfrm>
            <a:off x="9089280" y="2057400"/>
            <a:ext cx="1992600" cy="1508040"/>
          </a:xfrm>
          <a:prstGeom prst="roundRect">
            <a:avLst>
              <a:gd name="adj" fmla="val 3636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7"/>
          <p:cNvSpPr/>
          <p:nvPr/>
        </p:nvSpPr>
        <p:spPr>
          <a:xfrm>
            <a:off x="9253800" y="2240280"/>
            <a:ext cx="383400" cy="38340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8"/>
          <p:cNvSpPr/>
          <p:nvPr/>
        </p:nvSpPr>
        <p:spPr>
          <a:xfrm>
            <a:off x="9253800" y="2240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29"/>
          <p:cNvSpPr/>
          <p:nvPr/>
        </p:nvSpPr>
        <p:spPr>
          <a:xfrm>
            <a:off x="9253800" y="2715840"/>
            <a:ext cx="1663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Check &amp; hand over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0"/>
          <p:cNvSpPr/>
          <p:nvPr/>
        </p:nvSpPr>
        <p:spPr>
          <a:xfrm>
            <a:off x="9253800" y="3136320"/>
            <a:ext cx="1663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Total_Exclusion_Area → Person 3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8"/>
          <p:cNvSpPr/>
          <p:nvPr/>
        </p:nvSpPr>
        <p:spPr>
          <a:xfrm>
            <a:off x="475560" y="3904560"/>
            <a:ext cx="6454800" cy="2568600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DADFD2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7" descr="buffers_map.png"/>
          <p:cNvPicPr/>
          <p:nvPr/>
        </p:nvPicPr>
        <p:blipFill>
          <a:blip r:embed="rId1"/>
          <a:stretch/>
        </p:blipFill>
        <p:spPr>
          <a:xfrm>
            <a:off x="548640" y="3977640"/>
            <a:ext cx="6308640" cy="242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31"/>
          <p:cNvSpPr/>
          <p:nvPr/>
        </p:nvSpPr>
        <p:spPr>
          <a:xfrm>
            <a:off x="548640" y="6455520"/>
            <a:ext cx="6308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All eleven safety buffers, merged and colour-coded by class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9"/>
          <p:cNvSpPr/>
          <p:nvPr/>
        </p:nvSpPr>
        <p:spPr>
          <a:xfrm>
            <a:off x="7178040" y="3977640"/>
            <a:ext cx="4434120" cy="1133280"/>
          </a:xfrm>
          <a:prstGeom prst="roundRect">
            <a:avLst>
              <a:gd name="adj" fmla="val 6452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2"/>
          <p:cNvSpPr/>
          <p:nvPr/>
        </p:nvSpPr>
        <p:spPr>
          <a:xfrm>
            <a:off x="7178040" y="4087440"/>
            <a:ext cx="443412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96.4%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3"/>
          <p:cNvSpPr/>
          <p:nvPr/>
        </p:nvSpPr>
        <p:spPr>
          <a:xfrm>
            <a:off x="7178040" y="4727520"/>
            <a:ext cx="4434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of the study area ends up excluded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60"/>
          <p:cNvSpPr/>
          <p:nvPr/>
        </p:nvSpPr>
        <p:spPr>
          <a:xfrm>
            <a:off x="7178040" y="5266800"/>
            <a:ext cx="4434120" cy="1133280"/>
          </a:xfrm>
          <a:prstGeom prst="roundRect">
            <a:avLst>
              <a:gd name="adj" fmla="val 6452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4"/>
          <p:cNvSpPr/>
          <p:nvPr/>
        </p:nvSpPr>
        <p:spPr>
          <a:xfrm>
            <a:off x="7178040" y="5376600"/>
            <a:ext cx="443412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11 → 1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5"/>
          <p:cNvSpPr/>
          <p:nvPr/>
        </p:nvSpPr>
        <p:spPr>
          <a:xfrm>
            <a:off x="7178040" y="6016680"/>
            <a:ext cx="4434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buffers dissolved into one clean mask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1"/>
          <p:cNvSpPr/>
          <p:nvPr/>
        </p:nvSpPr>
        <p:spPr>
          <a:xfrm>
            <a:off x="457200" y="411480"/>
            <a:ext cx="566280" cy="56628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2"/>
          <p:cNvSpPr/>
          <p:nvPr/>
        </p:nvSpPr>
        <p:spPr>
          <a:xfrm>
            <a:off x="457200" y="41148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5"/>
          <p:cNvSpPr/>
          <p:nvPr/>
        </p:nvSpPr>
        <p:spPr>
          <a:xfrm>
            <a:off x="1188720" y="43884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1652E"/>
                </a:solidFill>
                <a:effectLst/>
                <a:uFillTx/>
                <a:latin typeface="Calibri"/>
                <a:ea typeface="Calibri"/>
              </a:rPr>
              <a:t>STEP 1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6"/>
          <p:cNvSpPr/>
          <p:nvPr/>
        </p:nvSpPr>
        <p:spPr>
          <a:xfrm>
            <a:off x="1170360" y="65844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Checking the data first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7"/>
          <p:cNvSpPr/>
          <p:nvPr/>
        </p:nvSpPr>
        <p:spPr>
          <a:xfrm>
            <a:off x="548640" y="1371600"/>
            <a:ext cx="667440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Every class I need — road type, land use, water, rail — lives in a single field: typ. Nothing is split across separate attributes.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Landnutzung.shp holds 2,919 polygons across 20 unique typ values. Ortslagen.shp, by contrast, carries only place names — no settlement-type field at all.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Key finding: some values are compound strings. The semicolon in 'Wald; Forst' and the comma in 'Landesstraße, Staatsstraße' are part of the value itself, not a separator between two classes.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That means every selection has to match the string verbatim — no LIKE wildcards, no splitting on punctuation, or the filter silently returns nothing.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7498080" y="1463040"/>
            <a:ext cx="4114080" cy="1736640"/>
          </a:xfrm>
          <a:prstGeom prst="roundRect">
            <a:avLst>
              <a:gd name="adj" fmla="val 4211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8"/>
          <p:cNvSpPr/>
          <p:nvPr/>
        </p:nvSpPr>
        <p:spPr>
          <a:xfrm>
            <a:off x="7498080" y="1572840"/>
            <a:ext cx="41140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typ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9"/>
          <p:cNvSpPr/>
          <p:nvPr/>
        </p:nvSpPr>
        <p:spPr>
          <a:xfrm>
            <a:off x="7498080" y="281628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the one field every selection is built 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0"/>
          <p:cNvSpPr/>
          <p:nvPr/>
        </p:nvSpPr>
        <p:spPr>
          <a:xfrm>
            <a:off x="7498080" y="3429000"/>
            <a:ext cx="4114080" cy="1965240"/>
          </a:xfrm>
          <a:prstGeom prst="roundRect">
            <a:avLst>
              <a:gd name="adj" fmla="val 3256"/>
            </a:avLst>
          </a:prstGeom>
          <a:solidFill>
            <a:srgbClr val="2C3F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7699320" y="3611880"/>
            <a:ext cx="371160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Select strings verbatim — no LIKE, no splitting.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5"/>
          <p:cNvSpPr/>
          <p:nvPr/>
        </p:nvSpPr>
        <p:spPr>
          <a:xfrm>
            <a:off x="457200" y="411480"/>
            <a:ext cx="566280" cy="56628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1"/>
          <p:cNvSpPr/>
          <p:nvPr/>
        </p:nvSpPr>
        <p:spPr>
          <a:xfrm>
            <a:off x="457200" y="41148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2"/>
          <p:cNvSpPr/>
          <p:nvPr/>
        </p:nvSpPr>
        <p:spPr>
          <a:xfrm>
            <a:off x="1188720" y="43884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1652E"/>
                </a:solidFill>
                <a:effectLst/>
                <a:uFillTx/>
                <a:latin typeface="Calibri"/>
                <a:ea typeface="Calibri"/>
              </a:rPr>
              <a:t>STEP 2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3"/>
          <p:cNvSpPr/>
          <p:nvPr/>
        </p:nvSpPr>
        <p:spPr>
          <a:xfrm>
            <a:off x="1170360" y="65844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Building the eleven safety buffers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4"/>
          <p:cNvSpPr/>
          <p:nvPr/>
        </p:nvSpPr>
        <p:spPr>
          <a:xfrm>
            <a:off x="548640" y="1371600"/>
            <a:ext cx="630864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Straßennetz.shp keeps every road class in one field (typ) — I only buffered the three categories the assignment names (Kreis-, Bundes-/Landes-, Bundesautobahn) and left Gemeindestraße and Weg untouched.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Distances range from 15 m for district roads up to 650 m for settlements — set with the Buffer tool, "dissolve result" switched on so same-class buffers merge automatically.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Same settings on every run for consistency: 16 segments per quarter-circle, round caps and joins.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Forest and oxbow arms (protected biotopes) both get a 200 m buffer; overhead power lines get 195 m — three times the 65 m rotor diameter.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9"/>
          <p:cNvSpPr/>
          <p:nvPr/>
        </p:nvSpPr>
        <p:spPr>
          <a:xfrm>
            <a:off x="6805080" y="1344240"/>
            <a:ext cx="4880160" cy="3599640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600">
            <a:solidFill>
              <a:srgbClr val="DADFD2"/>
            </a:solidFill>
            <a:round/>
          </a:ln>
          <a:effectLst>
            <a:outerShdw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4" descr="buffers_map.png"/>
          <p:cNvPicPr/>
          <p:nvPr/>
        </p:nvPicPr>
        <p:blipFill>
          <a:blip r:embed="rId1"/>
          <a:stretch/>
        </p:blipFill>
        <p:spPr>
          <a:xfrm>
            <a:off x="6902280" y="1417320"/>
            <a:ext cx="4709880" cy="334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75"/>
          <p:cNvSpPr/>
          <p:nvPr/>
        </p:nvSpPr>
        <p:spPr>
          <a:xfrm>
            <a:off x="7178040" y="509400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All 11 buffers before merging 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1"/>
          <p:cNvSpPr/>
          <p:nvPr/>
        </p:nvSpPr>
        <p:spPr>
          <a:xfrm>
            <a:off x="548640" y="5760720"/>
            <a:ext cx="10880640" cy="776520"/>
          </a:xfrm>
          <a:prstGeom prst="roundRect">
            <a:avLst>
              <a:gd name="adj" fmla="val 9412"/>
            </a:avLst>
          </a:prstGeom>
          <a:solidFill>
            <a:srgbClr val="F2F5EC"/>
          </a:solidFill>
          <a:ln w="126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6"/>
          <p:cNvSpPr/>
          <p:nvPr/>
        </p:nvSpPr>
        <p:spPr>
          <a:xfrm>
            <a:off x="548640" y="5870520"/>
            <a:ext cx="10880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11 buffers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7"/>
          <p:cNvSpPr/>
          <p:nvPr/>
        </p:nvSpPr>
        <p:spPr>
          <a:xfrm>
            <a:off x="548640" y="615384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one per constraint class, 15 m to 650 m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26"/>
          <p:cNvSpPr/>
          <p:nvPr/>
        </p:nvSpPr>
        <p:spPr>
          <a:xfrm>
            <a:off x="1188720" y="43884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1652E"/>
                </a:solidFill>
                <a:effectLst/>
                <a:uFillTx/>
                <a:latin typeface="Calibri"/>
                <a:ea typeface="Calibri"/>
              </a:rPr>
              <a:t>STEP 2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7"/>
          <p:cNvSpPr/>
          <p:nvPr/>
        </p:nvSpPr>
        <p:spPr>
          <a:xfrm>
            <a:off x="1108440" y="83556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Building the eleven safety buffers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1878480" y="1495080"/>
            <a:ext cx="7079400" cy="4335480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600">
            <a:solidFill>
              <a:srgbClr val="DADFD2"/>
            </a:solidFill>
            <a:round/>
          </a:ln>
          <a:effectLst>
            <a:outerShdw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9"/>
          <p:cNvSpPr/>
          <p:nvPr/>
        </p:nvSpPr>
        <p:spPr>
          <a:xfrm>
            <a:off x="3394800" y="583884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All 11 buffers merged, before Total_Exclusion_Area is built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"/>
          <p:cNvPicPr/>
          <p:nvPr/>
        </p:nvPicPr>
        <p:blipFill>
          <a:blip r:embed="rId1"/>
          <a:stretch/>
        </p:blipFill>
        <p:spPr>
          <a:xfrm>
            <a:off x="2061720" y="1645920"/>
            <a:ext cx="6666120" cy="394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32"/>
          <p:cNvSpPr/>
          <p:nvPr/>
        </p:nvSpPr>
        <p:spPr>
          <a:xfrm>
            <a:off x="457200" y="411480"/>
            <a:ext cx="566280" cy="56628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8"/>
          <p:cNvSpPr/>
          <p:nvPr/>
        </p:nvSpPr>
        <p:spPr>
          <a:xfrm>
            <a:off x="457200" y="41148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9"/>
          <p:cNvSpPr/>
          <p:nvPr/>
        </p:nvSpPr>
        <p:spPr>
          <a:xfrm>
            <a:off x="1188720" y="43884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1652E"/>
                </a:solidFill>
                <a:effectLst/>
                <a:uFillTx/>
                <a:latin typeface="Calibri"/>
                <a:ea typeface="Calibri"/>
              </a:rPr>
              <a:t>STEP 3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0"/>
          <p:cNvSpPr/>
          <p:nvPr/>
        </p:nvSpPr>
        <p:spPr>
          <a:xfrm>
            <a:off x="1170360" y="65844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The settlement classification problem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1"/>
          <p:cNvSpPr/>
          <p:nvPr/>
        </p:nvSpPr>
        <p:spPr>
          <a:xfrm>
            <a:off x="548640" y="1371600"/>
            <a:ext cx="649152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The assignment splits settlements into two classes with different distances: settlements 'assigned to a local location' (650 m) and individual houses or splinters that are not (450 m).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Landnutzung.shp doesn't carry that distinction — every settlement patch is just typ = 'Siedlungsflaeche', with nothing to tell the two apart.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Solved it spatially instead of by attribute: any Siedlungsflaeche polygon touching a named village in Ortslagen counts as assigned (650 m); anything that doesn't touch one is a splinter (450 m).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3A3A3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Result: 1,640 of 1,771 settlement polygons (≈3,231 ha) sit inside a named village; 131 (≈118 ha) stand on their own.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3"/>
          <p:cNvSpPr/>
          <p:nvPr/>
        </p:nvSpPr>
        <p:spPr>
          <a:xfrm>
            <a:off x="7360920" y="1417320"/>
            <a:ext cx="4251240" cy="1416600"/>
          </a:xfrm>
          <a:prstGeom prst="roundRect">
            <a:avLst>
              <a:gd name="adj" fmla="val 5161"/>
            </a:avLst>
          </a:prstGeom>
          <a:solidFill>
            <a:srgbClr val="F2F5EC"/>
          </a:solidFill>
          <a:ln w="126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2"/>
          <p:cNvSpPr/>
          <p:nvPr/>
        </p:nvSpPr>
        <p:spPr>
          <a:xfrm>
            <a:off x="7360920" y="1527120"/>
            <a:ext cx="4251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1,640 / 131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3"/>
          <p:cNvSpPr/>
          <p:nvPr/>
        </p:nvSpPr>
        <p:spPr>
          <a:xfrm>
            <a:off x="7360920" y="2450520"/>
            <a:ext cx="4251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settlement patches: assigned vs. splinter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4"/>
          <p:cNvSpPr/>
          <p:nvPr/>
        </p:nvSpPr>
        <p:spPr>
          <a:xfrm>
            <a:off x="7360920" y="2999160"/>
            <a:ext cx="4251240" cy="1416600"/>
          </a:xfrm>
          <a:prstGeom prst="roundRect">
            <a:avLst>
              <a:gd name="adj" fmla="val 5161"/>
            </a:avLst>
          </a:prstGeom>
          <a:solidFill>
            <a:srgbClr val="F2F5EC"/>
          </a:solidFill>
          <a:ln w="126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4"/>
          <p:cNvSpPr/>
          <p:nvPr/>
        </p:nvSpPr>
        <p:spPr>
          <a:xfrm>
            <a:off x="7360920" y="3108960"/>
            <a:ext cx="4251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650 / 450 m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5"/>
          <p:cNvSpPr/>
          <p:nvPr/>
        </p:nvSpPr>
        <p:spPr>
          <a:xfrm>
            <a:off x="7360920" y="4032360"/>
            <a:ext cx="4251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buffer distance for each class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5"/>
          <p:cNvSpPr/>
          <p:nvPr/>
        </p:nvSpPr>
        <p:spPr>
          <a:xfrm>
            <a:off x="7360920" y="4572000"/>
            <a:ext cx="4251240" cy="1370880"/>
          </a:xfrm>
          <a:prstGeom prst="roundRect">
            <a:avLst>
              <a:gd name="adj" fmla="val 4000"/>
            </a:avLst>
          </a:prstGeom>
          <a:solidFill>
            <a:srgbClr val="2C3F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6"/>
          <p:cNvSpPr/>
          <p:nvPr/>
        </p:nvSpPr>
        <p:spPr>
          <a:xfrm>
            <a:off x="7543800" y="4709160"/>
            <a:ext cx="3885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No attribute solved this — a spatial join with Ortslagen did.</a:t>
            </a:r>
            <a:endParaRPr lang="de-DE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36"/>
          <p:cNvSpPr/>
          <p:nvPr/>
        </p:nvSpPr>
        <p:spPr>
          <a:xfrm>
            <a:off x="457200" y="411480"/>
            <a:ext cx="566280" cy="56628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7"/>
          <p:cNvSpPr/>
          <p:nvPr/>
        </p:nvSpPr>
        <p:spPr>
          <a:xfrm>
            <a:off x="457200" y="41148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8"/>
          <p:cNvSpPr/>
          <p:nvPr/>
        </p:nvSpPr>
        <p:spPr>
          <a:xfrm>
            <a:off x="1188720" y="43884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1652E"/>
                </a:solidFill>
                <a:effectLst/>
                <a:uFillTx/>
                <a:latin typeface="Calibri"/>
                <a:ea typeface="Calibri"/>
              </a:rPr>
              <a:t>STEP 4 OF 5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89"/>
          <p:cNvSpPr/>
          <p:nvPr/>
        </p:nvSpPr>
        <p:spPr>
          <a:xfrm>
            <a:off x="1170360" y="65844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Merging everything into one exclusion layer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7"/>
          <p:cNvSpPr/>
          <p:nvPr/>
        </p:nvSpPr>
        <p:spPr>
          <a:xfrm>
            <a:off x="548640" y="1417320"/>
            <a:ext cx="383400" cy="383400"/>
          </a:xfrm>
          <a:prstGeom prst="roundRect">
            <a:avLst>
              <a:gd name="adj" fmla="val 14286"/>
            </a:avLst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0"/>
          <p:cNvSpPr/>
          <p:nvPr/>
        </p:nvSpPr>
        <p:spPr>
          <a:xfrm>
            <a:off x="548640" y="1417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1"/>
          <p:cNvSpPr/>
          <p:nvPr/>
        </p:nvSpPr>
        <p:spPr>
          <a:xfrm>
            <a:off x="1097280" y="13899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Merge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2"/>
          <p:cNvSpPr/>
          <p:nvPr/>
        </p:nvSpPr>
        <p:spPr>
          <a:xfrm>
            <a:off x="3063240" y="1371600"/>
            <a:ext cx="3702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all 11 buffer layers combined into a single layer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8"/>
          <p:cNvSpPr/>
          <p:nvPr/>
        </p:nvSpPr>
        <p:spPr>
          <a:xfrm>
            <a:off x="548640" y="2441520"/>
            <a:ext cx="383400" cy="383400"/>
          </a:xfrm>
          <a:prstGeom prst="roundRect">
            <a:avLst>
              <a:gd name="adj" fmla="val 14286"/>
            </a:avLst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3"/>
          <p:cNvSpPr/>
          <p:nvPr/>
        </p:nvSpPr>
        <p:spPr>
          <a:xfrm>
            <a:off x="548640" y="24415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4"/>
          <p:cNvSpPr/>
          <p:nvPr/>
        </p:nvSpPr>
        <p:spPr>
          <a:xfrm>
            <a:off x="1097280" y="24141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Fix geometries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95"/>
          <p:cNvSpPr/>
          <p:nvPr/>
        </p:nvSpPr>
        <p:spPr>
          <a:xfrm>
            <a:off x="3063240" y="2395800"/>
            <a:ext cx="3702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cleaned up before dissolving, not after — repairing first keeps the topology clean going into the dissolve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9"/>
          <p:cNvSpPr/>
          <p:nvPr/>
        </p:nvSpPr>
        <p:spPr>
          <a:xfrm>
            <a:off x="548640" y="3465720"/>
            <a:ext cx="383400" cy="383400"/>
          </a:xfrm>
          <a:prstGeom prst="roundRect">
            <a:avLst>
              <a:gd name="adj" fmla="val 14286"/>
            </a:avLst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6"/>
          <p:cNvSpPr/>
          <p:nvPr/>
        </p:nvSpPr>
        <p:spPr>
          <a:xfrm>
            <a:off x="548640" y="34657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7"/>
          <p:cNvSpPr/>
          <p:nvPr/>
        </p:nvSpPr>
        <p:spPr>
          <a:xfrm>
            <a:off x="1097280" y="343800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Dissolve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98"/>
          <p:cNvSpPr/>
          <p:nvPr/>
        </p:nvSpPr>
        <p:spPr>
          <a:xfrm>
            <a:off x="3063240" y="3420000"/>
            <a:ext cx="3702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no grouping field, so every touching buffer melts into one shape with no leftover internal lines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0"/>
          <p:cNvSpPr/>
          <p:nvPr/>
        </p:nvSpPr>
        <p:spPr>
          <a:xfrm>
            <a:off x="548640" y="4489560"/>
            <a:ext cx="383400" cy="383400"/>
          </a:xfrm>
          <a:prstGeom prst="roundRect">
            <a:avLst>
              <a:gd name="adj" fmla="val 14286"/>
            </a:avLst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99"/>
          <p:cNvSpPr/>
          <p:nvPr/>
        </p:nvSpPr>
        <p:spPr>
          <a:xfrm>
            <a:off x="548640" y="4489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00"/>
          <p:cNvSpPr/>
          <p:nvPr/>
        </p:nvSpPr>
        <p:spPr>
          <a:xfrm>
            <a:off x="1097280" y="446220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Clip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01"/>
          <p:cNvSpPr/>
          <p:nvPr/>
        </p:nvSpPr>
        <p:spPr>
          <a:xfrm>
            <a:off x="3063240" y="4443840"/>
            <a:ext cx="3702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cut to the Frame boundary, so buffers sticking out past the study area don't count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1"/>
          <p:cNvSpPr/>
          <p:nvPr/>
        </p:nvSpPr>
        <p:spPr>
          <a:xfrm>
            <a:off x="7104960" y="1344240"/>
            <a:ext cx="4580280" cy="3208680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12600">
            <a:solidFill>
              <a:srgbClr val="DADFD2"/>
            </a:solidFill>
            <a:round/>
          </a:ln>
          <a:effectLst>
            <a:outerShdw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5" descr="exclusion_map.png"/>
          <p:cNvPicPr/>
          <p:nvPr/>
        </p:nvPicPr>
        <p:blipFill>
          <a:blip r:embed="rId1"/>
          <a:stretch/>
        </p:blipFill>
        <p:spPr>
          <a:xfrm>
            <a:off x="7178040" y="1417320"/>
            <a:ext cx="4434120" cy="306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102"/>
          <p:cNvSpPr/>
          <p:nvPr/>
        </p:nvSpPr>
        <p:spPr>
          <a:xfrm>
            <a:off x="7178040" y="455364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Total_Exclusion_Area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2"/>
          <p:cNvSpPr/>
          <p:nvPr/>
        </p:nvSpPr>
        <p:spPr>
          <a:xfrm>
            <a:off x="548640" y="5440680"/>
            <a:ext cx="7709040" cy="1050840"/>
          </a:xfrm>
          <a:prstGeom prst="roundRect">
            <a:avLst>
              <a:gd name="adj" fmla="val 6957"/>
            </a:avLst>
          </a:prstGeom>
          <a:solidFill>
            <a:srgbClr val="F2F5EC"/>
          </a:solidFill>
          <a:ln w="126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3"/>
          <p:cNvSpPr/>
          <p:nvPr/>
        </p:nvSpPr>
        <p:spPr>
          <a:xfrm>
            <a:off x="548640" y="5613120"/>
            <a:ext cx="7495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One feature-a single MultiPolygon object 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4"/>
          <p:cNvSpPr/>
          <p:nvPr/>
        </p:nvSpPr>
        <p:spPr>
          <a:xfrm>
            <a:off x="548640" y="6108120"/>
            <a:ext cx="6034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3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105"/>
          <p:cNvSpPr/>
          <p:nvPr/>
        </p:nvSpPr>
        <p:spPr>
          <a:xfrm>
            <a:off x="548640" y="50292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Results &amp; outputs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6"/>
          <p:cNvSpPr/>
          <p:nvPr/>
        </p:nvSpPr>
        <p:spPr>
          <a:xfrm>
            <a:off x="548640" y="1143000"/>
            <a:ext cx="10880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9D3B8"/>
                </a:solidFill>
                <a:effectLst/>
                <a:uFillTx/>
                <a:latin typeface="Calibri"/>
                <a:ea typeface="Calibri"/>
              </a:rPr>
              <a:t>Being precise here mattered: the assignment's own '~200 km²' is a rough figure. The Frame boundary actually measures 181.78 km² — and that's the number the final percentage is built on.</a:t>
            </a:r>
            <a:endParaRPr lang="de-D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3"/>
          <p:cNvSpPr/>
          <p:nvPr/>
        </p:nvSpPr>
        <p:spPr>
          <a:xfrm>
            <a:off x="548640" y="1965960"/>
            <a:ext cx="2513880" cy="1599480"/>
          </a:xfrm>
          <a:prstGeom prst="roundRect">
            <a:avLst>
              <a:gd name="adj" fmla="val 4000"/>
            </a:avLst>
          </a:prstGeom>
          <a:solidFill>
            <a:srgbClr val="2C4229"/>
          </a:solidFill>
          <a:ln w="12600">
            <a:solidFill>
              <a:srgbClr val="3E5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7"/>
          <p:cNvSpPr/>
          <p:nvPr/>
        </p:nvSpPr>
        <p:spPr>
          <a:xfrm>
            <a:off x="548640" y="21304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C1652E"/>
                </a:solidFill>
                <a:effectLst/>
                <a:uFillTx/>
                <a:latin typeface="Cambria"/>
                <a:ea typeface="Cambria"/>
              </a:rPr>
              <a:t>181.78 km²</a:t>
            </a:r>
            <a:endParaRPr lang="de-DE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8"/>
          <p:cNvSpPr/>
          <p:nvPr/>
        </p:nvSpPr>
        <p:spPr>
          <a:xfrm>
            <a:off x="685800" y="2834640"/>
            <a:ext cx="2239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study area (Frame),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measured, not estimated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4"/>
          <p:cNvSpPr/>
          <p:nvPr/>
        </p:nvSpPr>
        <p:spPr>
          <a:xfrm>
            <a:off x="3264480" y="1965960"/>
            <a:ext cx="2513880" cy="1599480"/>
          </a:xfrm>
          <a:prstGeom prst="roundRect">
            <a:avLst>
              <a:gd name="adj" fmla="val 4000"/>
            </a:avLst>
          </a:prstGeom>
          <a:solidFill>
            <a:srgbClr val="2C4229"/>
          </a:solidFill>
          <a:ln w="12600">
            <a:solidFill>
              <a:srgbClr val="3E5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9"/>
          <p:cNvSpPr/>
          <p:nvPr/>
        </p:nvSpPr>
        <p:spPr>
          <a:xfrm>
            <a:off x="3264480" y="21304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C1652E"/>
                </a:solidFill>
                <a:effectLst/>
                <a:uFillTx/>
                <a:latin typeface="Cambria"/>
                <a:ea typeface="Cambria"/>
              </a:rPr>
              <a:t>96.4%</a:t>
            </a:r>
            <a:endParaRPr lang="de-DE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0"/>
          <p:cNvSpPr/>
          <p:nvPr/>
        </p:nvSpPr>
        <p:spPr>
          <a:xfrm>
            <a:off x="3401640" y="2834640"/>
            <a:ext cx="2239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of the area excluded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once every buffer applies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5"/>
          <p:cNvSpPr/>
          <p:nvPr/>
        </p:nvSpPr>
        <p:spPr>
          <a:xfrm>
            <a:off x="5980320" y="1965960"/>
            <a:ext cx="2513880" cy="1599480"/>
          </a:xfrm>
          <a:prstGeom prst="roundRect">
            <a:avLst>
              <a:gd name="adj" fmla="val 4000"/>
            </a:avLst>
          </a:prstGeom>
          <a:solidFill>
            <a:srgbClr val="2C4229"/>
          </a:solidFill>
          <a:ln w="12600">
            <a:solidFill>
              <a:srgbClr val="3E5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1"/>
          <p:cNvSpPr/>
          <p:nvPr/>
        </p:nvSpPr>
        <p:spPr>
          <a:xfrm>
            <a:off x="5980320" y="21304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C1652E"/>
                </a:solidFill>
                <a:effectLst/>
                <a:uFillTx/>
                <a:latin typeface="Cambria"/>
                <a:ea typeface="Cambria"/>
              </a:rPr>
              <a:t>658 ha</a:t>
            </a:r>
            <a:endParaRPr lang="de-DE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2"/>
          <p:cNvSpPr/>
          <p:nvPr/>
        </p:nvSpPr>
        <p:spPr>
          <a:xfrm>
            <a:off x="6117480" y="2834640"/>
            <a:ext cx="2239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left over — scattered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candidate patches for Person 3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6"/>
          <p:cNvSpPr/>
          <p:nvPr/>
        </p:nvSpPr>
        <p:spPr>
          <a:xfrm>
            <a:off x="8695800" y="1965960"/>
            <a:ext cx="2513880" cy="1599480"/>
          </a:xfrm>
          <a:prstGeom prst="roundRect">
            <a:avLst>
              <a:gd name="adj" fmla="val 4000"/>
            </a:avLst>
          </a:prstGeom>
          <a:solidFill>
            <a:srgbClr val="2C4229"/>
          </a:solidFill>
          <a:ln w="12600">
            <a:solidFill>
              <a:srgbClr val="3E5A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13"/>
          <p:cNvSpPr/>
          <p:nvPr/>
        </p:nvSpPr>
        <p:spPr>
          <a:xfrm>
            <a:off x="8695800" y="2130480"/>
            <a:ext cx="2513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C1652E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de-DE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4"/>
          <p:cNvSpPr/>
          <p:nvPr/>
        </p:nvSpPr>
        <p:spPr>
          <a:xfrm>
            <a:off x="8832960" y="2834640"/>
            <a:ext cx="2239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final exclusion feature,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4D5"/>
                </a:solidFill>
                <a:effectLst/>
                <a:uFillTx/>
                <a:latin typeface="Calibri"/>
                <a:ea typeface="Calibri"/>
              </a:rPr>
              <a:t>clipped to the Frame</a:t>
            </a:r>
            <a:endParaRPr lang="de-D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15"/>
          <p:cNvSpPr/>
          <p:nvPr/>
        </p:nvSpPr>
        <p:spPr>
          <a:xfrm>
            <a:off x="548640" y="3886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97BC62"/>
                </a:solidFill>
                <a:effectLst/>
                <a:uFillTx/>
                <a:latin typeface="Calibri"/>
                <a:ea typeface="Calibri"/>
              </a:rPr>
              <a:t>Files produced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16"/>
          <p:cNvSpPr/>
          <p:nvPr/>
        </p:nvSpPr>
        <p:spPr>
          <a:xfrm>
            <a:off x="548640" y="4316040"/>
            <a:ext cx="7863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Total_Exclusion_Area.gpkg  </a:t>
            </a:r>
            <a:r>
              <a:rPr lang="en-US" sz="1250" b="0" u="none" strike="noStrike">
                <a:solidFill>
                  <a:srgbClr val="AEBFA6"/>
                </a:solidFill>
                <a:effectLst/>
                <a:uFillTx/>
                <a:latin typeface="Calibri"/>
                <a:ea typeface="Calibri"/>
              </a:rPr>
              <a:t>— final exclusion layer — main deliverable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17"/>
          <p:cNvSpPr/>
          <p:nvPr/>
        </p:nvSpPr>
        <p:spPr>
          <a:xfrm>
            <a:off x="548640" y="4681800"/>
            <a:ext cx="7863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Buffer.gpkg  </a:t>
            </a:r>
            <a:r>
              <a:rPr lang="en-US" sz="1250" b="0" u="none" strike="noStrike">
                <a:solidFill>
                  <a:srgbClr val="AEBFA6"/>
                </a:solidFill>
                <a:effectLst/>
                <a:uFillTx/>
                <a:latin typeface="Calibri"/>
                <a:ea typeface="Calibri"/>
              </a:rPr>
              <a:t>— all 11 buffers + merged/dissolved intermediates, kept for traceability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8"/>
          <p:cNvSpPr/>
          <p:nvPr/>
        </p:nvSpPr>
        <p:spPr>
          <a:xfrm>
            <a:off x="548640" y="5047560"/>
            <a:ext cx="7863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Altwasser.gpkg / Luftbild_georef.tif  </a:t>
            </a:r>
            <a:r>
              <a:rPr lang="en-US" sz="1250" b="0" u="none" strike="noStrike">
                <a:solidFill>
                  <a:srgbClr val="AEBFA6"/>
                </a:solidFill>
                <a:effectLst/>
                <a:uFillTx/>
                <a:latin typeface="Calibri"/>
                <a:ea typeface="Calibri"/>
              </a:rPr>
              <a:t>— carried over from Person 1</a:t>
            </a:r>
            <a:endParaRPr lang="de-DE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6"/>
          <p:cNvSpPr/>
          <p:nvPr/>
        </p:nvSpPr>
        <p:spPr>
          <a:xfrm>
            <a:off x="11045880" y="305280"/>
            <a:ext cx="566280" cy="566280"/>
          </a:xfrm>
          <a:prstGeom prst="ellipse">
            <a:avLst/>
          </a:prstGeom>
          <a:solidFill>
            <a:srgbClr val="C165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5"/>
          <p:cNvSpPr/>
          <p:nvPr/>
        </p:nvSpPr>
        <p:spPr>
          <a:xfrm>
            <a:off x="11045880" y="30528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767880" y="363240"/>
            <a:ext cx="1109880" cy="23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1" u="none" spc="201" strike="noStrike">
                <a:solidFill>
                  <a:srgbClr val="C1652E"/>
                </a:solidFill>
                <a:effectLst/>
                <a:uFillTx/>
                <a:latin typeface="Calibri"/>
                <a:ea typeface="Calibri"/>
              </a:rPr>
              <a:t>STEP 5 OF 5</a:t>
            </a:r>
            <a:endParaRPr lang="de-DE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41"/>
          <p:cNvSpPr/>
          <p:nvPr/>
        </p:nvSpPr>
        <p:spPr>
          <a:xfrm>
            <a:off x="548640" y="45720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Key expressions &amp; formulas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2"/>
          <p:cNvSpPr/>
          <p:nvPr/>
        </p:nvSpPr>
        <p:spPr>
          <a:xfrm>
            <a:off x="548640" y="9601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Copy-ready, and verified against the data before use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1"/>
          <p:cNvSpPr/>
          <p:nvPr/>
        </p:nvSpPr>
        <p:spPr>
          <a:xfrm>
            <a:off x="548640" y="1417320"/>
            <a:ext cx="6262920" cy="2148120"/>
          </a:xfrm>
          <a:prstGeom prst="roundRect">
            <a:avLst>
              <a:gd name="adj" fmla="val 2553"/>
            </a:avLst>
          </a:prstGeom>
          <a:solidFill>
            <a:srgbClr val="F5F5F0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6"/>
          <p:cNvSpPr/>
          <p:nvPr/>
        </p:nvSpPr>
        <p:spPr>
          <a:xfrm>
            <a:off x="713160" y="1508760"/>
            <a:ext cx="5933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1 · Selection expressions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7"/>
          <p:cNvSpPr/>
          <p:nvPr/>
        </p:nvSpPr>
        <p:spPr>
          <a:xfrm>
            <a:off x="713160" y="1801440"/>
            <a:ext cx="59338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"typ" = 'Kreisstraße'                                    → 15 m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"typ" IN ('Bundestraße','Landesstraße, Staatsstraße')    → 20 m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"typ" = 'Bundesautobahn'                                 → 40 m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"typ" = 'Wald; Forst'                                    → 200 m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"typ" IN ('Indus.-Gew.-Fl.','Fl. fkt. Praeg.')           → 650 m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"typ" = 'Siedlungsflaeche'                              → extract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2"/>
          <p:cNvSpPr/>
          <p:nvPr/>
        </p:nvSpPr>
        <p:spPr>
          <a:xfrm>
            <a:off x="6995160" y="1417320"/>
            <a:ext cx="4617000" cy="1279440"/>
          </a:xfrm>
          <a:prstGeom prst="roundRect">
            <a:avLst>
              <a:gd name="adj" fmla="val 4286"/>
            </a:avLst>
          </a:prstGeom>
          <a:solidFill>
            <a:srgbClr val="F5F5F0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8"/>
          <p:cNvSpPr/>
          <p:nvPr/>
        </p:nvSpPr>
        <p:spPr>
          <a:xfrm>
            <a:off x="7159680" y="1508760"/>
            <a:ext cx="428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2 · Spatial split (Extract by location)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9"/>
          <p:cNvSpPr/>
          <p:nvPr/>
        </p:nvSpPr>
        <p:spPr>
          <a:xfrm>
            <a:off x="7159680" y="1801440"/>
            <a:ext cx="42879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Siedlungsflaeche ∩ Ortslagen   (intersects) → 650 m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Siedlungsflaeche \ Ortslagen   (disjoint)   → 450 m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3"/>
          <p:cNvSpPr/>
          <p:nvPr/>
        </p:nvSpPr>
        <p:spPr>
          <a:xfrm>
            <a:off x="6995160" y="2880360"/>
            <a:ext cx="4617000" cy="1416600"/>
          </a:xfrm>
          <a:prstGeom prst="roundRect">
            <a:avLst>
              <a:gd name="adj" fmla="val 3871"/>
            </a:avLst>
          </a:prstGeom>
          <a:solidFill>
            <a:srgbClr val="F5F5F0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0"/>
          <p:cNvSpPr/>
          <p:nvPr/>
        </p:nvSpPr>
        <p:spPr>
          <a:xfrm>
            <a:off x="7159680" y="2971800"/>
            <a:ext cx="428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3 · Area &amp; exclusion rate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51"/>
          <p:cNvSpPr/>
          <p:nvPr/>
        </p:nvSpPr>
        <p:spPr>
          <a:xfrm>
            <a:off x="7159680" y="3264480"/>
            <a:ext cx="42879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A_ha = $area / 10000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P_ex = (17,519.48 / 18,177.8) × 100 ≈ 96.4%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4"/>
          <p:cNvSpPr/>
          <p:nvPr/>
        </p:nvSpPr>
        <p:spPr>
          <a:xfrm>
            <a:off x="548640" y="3749040"/>
            <a:ext cx="6262920" cy="1690920"/>
          </a:xfrm>
          <a:prstGeom prst="roundRect">
            <a:avLst>
              <a:gd name="adj" fmla="val 3243"/>
            </a:avLst>
          </a:prstGeom>
          <a:solidFill>
            <a:srgbClr val="F5F5F0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58"/>
          <p:cNvSpPr/>
          <p:nvPr/>
        </p:nvSpPr>
        <p:spPr>
          <a:xfrm>
            <a:off x="713160" y="3840480"/>
            <a:ext cx="5933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3F2B"/>
                </a:solidFill>
                <a:effectLst/>
                <a:uFillTx/>
                <a:latin typeface="Calibri"/>
                <a:ea typeface="Calibri"/>
              </a:rPr>
              <a:t>4 · Tested, then removed — no effect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9"/>
          <p:cNvSpPr/>
          <p:nvPr/>
        </p:nvSpPr>
        <p:spPr>
          <a:xfrm>
            <a:off x="713160" y="4133160"/>
            <a:ext cx="5933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$area &lt; 10,000,000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→ largest forest polygon: 261.8 ha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→ largest settlement polygon: 22.0 ha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B2B2B"/>
                </a:solidFill>
                <a:effectLst/>
                <a:uFillTx/>
                <a:latin typeface="Consolas"/>
                <a:ea typeface="Consolas"/>
              </a:rPr>
              <a:t>→ both far below the threshold, so the filter excluded nothing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5"/>
          <p:cNvSpPr/>
          <p:nvPr/>
        </p:nvSpPr>
        <p:spPr>
          <a:xfrm>
            <a:off x="548640" y="5623560"/>
            <a:ext cx="11063520" cy="913680"/>
          </a:xfrm>
          <a:prstGeom prst="roundRect">
            <a:avLst>
              <a:gd name="adj" fmla="val 8000"/>
            </a:avLst>
          </a:prstGeom>
          <a:solidFill>
            <a:srgbClr val="F2F5EC"/>
          </a:solidFill>
          <a:ln w="12700">
            <a:solidFill>
              <a:srgbClr val="C9D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0"/>
          <p:cNvSpPr/>
          <p:nvPr/>
        </p:nvSpPr>
        <p:spPr>
          <a:xfrm>
            <a:off x="548640" y="573336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C3F2B"/>
                </a:solidFill>
                <a:effectLst/>
                <a:uFillTx/>
                <a:latin typeface="Cambria"/>
                <a:ea typeface="Cambria"/>
              </a:rPr>
              <a:t>Verbatim strings only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1"/>
          <p:cNvSpPr/>
          <p:nvPr/>
        </p:nvSpPr>
        <p:spPr>
          <a:xfrm>
            <a:off x="548640" y="6153840"/>
            <a:ext cx="11063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B57"/>
                </a:solidFill>
                <a:effectLst/>
                <a:uFillTx/>
                <a:latin typeface="Calibri"/>
                <a:ea typeface="Calibri"/>
              </a:rPr>
              <a:t>no LIKE, no wildcards, no splitting on ';' or ','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Application>LibreOffice/26.2.5.2$Windows_X86_64 LibreOffice_project/cd7284b4cbbfeb507e630c1aac019f4157393acb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2026-08-28T11:29:51Z</dcterms:created>
  <dc:creator>PptxGenJS</dc:creator>
  <dc:description/>
  <dc:language>de-DE</dc:language>
  <cp:lastModifiedBy/>
  <dcterms:modified xsi:type="dcterms:W3CDTF">2026-08-30T20:33:12Z</dcterms:modified>
  <cp:revision>32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Breitbild</vt:lpwstr>
  </property>
  <property fmtid="{D5CDD505-2E9C-101B-9397-08002B2CF9AE}" pid="4" name="Slides">
    <vt:r8>8</vt:r8>
  </property>
</Properties>
</file>